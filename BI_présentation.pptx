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5" r:id="rId9"/>
    <p:sldId id="263" r:id="rId10"/>
    <p:sldId id="266" r:id="rId11"/>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85752" autoAdjust="0"/>
  </p:normalViewPr>
  <p:slideViewPr>
    <p:cSldViewPr snapToGrid="0">
      <p:cViewPr varScale="1">
        <p:scale>
          <a:sx n="70" d="100"/>
          <a:sy n="70" d="100"/>
        </p:scale>
        <p:origin x="1166" y="62"/>
      </p:cViewPr>
      <p:guideLst/>
    </p:cSldViewPr>
  </p:slideViewPr>
  <p:notesTextViewPr>
    <p:cViewPr>
      <p:scale>
        <a:sx n="150" d="100"/>
        <a:sy n="150" d="100"/>
      </p:scale>
      <p:origin x="0" y="0"/>
    </p:cViewPr>
  </p:notesTextViewPr>
  <p:notesViewPr>
    <p:cSldViewPr snapToGrid="0">
      <p:cViewPr>
        <p:scale>
          <a:sx n="66" d="100"/>
          <a:sy n="66" d="100"/>
        </p:scale>
        <p:origin x="3134"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t>Bonjour à </a:t>
            </a:r>
            <a:r>
              <a:rPr lang="en-US" sz="1200" kern="1200" dirty="0" err="1"/>
              <a:t>tous</a:t>
            </a:r>
            <a:r>
              <a:rPr lang="en-US" sz="1200" kern="1200" dirty="0"/>
              <a:t>.</a:t>
            </a:r>
          </a:p>
          <a:p>
            <a:r>
              <a:rPr lang="fr-FR" sz="1200" kern="1200" dirty="0"/>
              <a:t>nous allons vous présenter notre projet de Business Intelligence réalisé sur la base AdventureWorks2019.</a:t>
            </a:r>
          </a:p>
          <a:p>
            <a:r>
              <a:rPr lang="fr-FR" sz="1200" kern="1200" dirty="0"/>
              <a:t>nous allons montrer comment nous sommes passés des données transactionnelles vers un système décisionnel complet.</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kern="1200" dirty="0"/>
              <a:t>Voici le plan de notre soutenance.</a:t>
            </a:r>
          </a:p>
          <a:p>
            <a:r>
              <a:rPr lang="fr-FR" sz="1200" kern="1200" dirty="0"/>
              <a:t>nous allons commencer par le contexte, puis voir la source, le Data Warehouse, l'ETL, le cube SSAS, Power BI et enfin les résultats.</a:t>
            </a:r>
          </a:p>
          <a:p>
            <a:pPr algn="l">
              <a:defRPr sz="1050" b="0">
                <a:solidFill>
                  <a:srgbClr val="DCE7F0"/>
                </a:solidFill>
                <a:latin typeface="Aptos"/>
                <a:ea typeface="Aptos"/>
                <a:cs typeface="Aptos"/>
              </a:defRPr>
            </a:pPr>
            <a:r>
              <a:rPr lang="fr-FR" sz="1200" dirty="0"/>
              <a:t>Exemple :</a:t>
            </a:r>
          </a:p>
          <a:p>
            <a:pPr algn="l">
              <a:defRPr sz="1050" b="0">
                <a:solidFill>
                  <a:srgbClr val="DCE7F0"/>
                </a:solidFill>
                <a:latin typeface="Aptos"/>
                <a:ea typeface="Aptos"/>
                <a:cs typeface="Aptos"/>
              </a:defRPr>
            </a:pPr>
            <a:r>
              <a:rPr lang="fr-FR" sz="1200" dirty="0"/>
              <a:t>« nous avons  choisi un schéma en étoile pour simplifier l'analyse, puis je l’ alimenté via SSIS."</a:t>
            </a:r>
          </a:p>
          <a:p>
            <a:endParaRPr lang="fr-FR" sz="1200" kern="12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kern="1200" dirty="0"/>
              <a:t>Le problème de départ est simple.</a:t>
            </a:r>
          </a:p>
          <a:p>
            <a:r>
              <a:rPr lang="fr-FR" sz="1200" kern="1200" dirty="0"/>
              <a:t>La base transactionnelle enregistre bien les opérations, mais elle n'est pas adaptée à une analyse rapide pour la prise de décision.</a:t>
            </a:r>
          </a:p>
          <a:p>
            <a:r>
              <a:rPr lang="fr-FR" sz="1200" kern="1200" dirty="0"/>
              <a:t>mon objectif était donc de construire une chaîne BI complète.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kern="1200" dirty="0"/>
              <a:t>Cette slide montre l'architecture globale du projet.</a:t>
            </a:r>
          </a:p>
          <a:p>
            <a:r>
              <a:rPr lang="fr-FR" sz="1200" kern="1200" dirty="0"/>
              <a:t>nous commençons de la base OLTP, puis nous faisons le chargement avec SSIS, ensuite nous stockons les données dans le Data Warehouse, puis nous construisons le cube SSAS, et enfin nous visualisons avec Power BI.</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kern="1200" dirty="0"/>
              <a:t>Ici, je présente le schéma en étoile.</a:t>
            </a:r>
          </a:p>
          <a:p>
            <a:r>
              <a:rPr lang="fr-FR" sz="1200" kern="1200" dirty="0"/>
              <a:t>La table centrale est </a:t>
            </a:r>
            <a:r>
              <a:rPr lang="fr-FR" sz="1200" kern="1200" dirty="0" err="1"/>
              <a:t>FactSales</a:t>
            </a:r>
            <a:r>
              <a:rPr lang="fr-FR" sz="1200" kern="1200" dirty="0"/>
              <a:t>, et elle est liée aux dimensions Date, Product, Customer et </a:t>
            </a:r>
            <a:r>
              <a:rPr lang="fr-FR" sz="1200" kern="1200" dirty="0" err="1"/>
              <a:t>Territory</a:t>
            </a:r>
            <a:r>
              <a:rPr lang="fr-FR" sz="1200" kern="1200" dirty="0"/>
              <a:t>.</a:t>
            </a:r>
          </a:p>
          <a:p>
            <a:r>
              <a:rPr lang="fr-FR" sz="1200" kern="1200" dirty="0"/>
              <a:t>Ce modèle simplifie l'analyse et améliore les performances.</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kern="1200" dirty="0"/>
              <a:t>Dans cette étape, j’automatise le chargement des données.</a:t>
            </a:r>
          </a:p>
          <a:p>
            <a:r>
              <a:rPr lang="fr-FR" sz="1200" kern="1200" dirty="0"/>
              <a:t>nous chargeons d'abord les dimensions, puis la table de faits.</a:t>
            </a:r>
          </a:p>
          <a:p>
            <a:r>
              <a:rPr lang="fr-FR" sz="1200" kern="1200" dirty="0"/>
              <a:t>Cela garantit un chargement cohérent et réutilisable.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b="0" dirty="0">
              <a:solidFill>
                <a:srgbClr val="DCE7F0"/>
              </a:solidFill>
              <a:latin typeface="Aptos"/>
              <a:ea typeface="Aptos"/>
              <a:cs typeface="Aptos"/>
            </a:endParaRP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kern="1200" dirty="0"/>
              <a:t>Après le chargement, nous construisons le cube OLAP avec SSAS.</a:t>
            </a:r>
          </a:p>
          <a:p>
            <a:r>
              <a:rPr lang="fr-FR" sz="1200" kern="1200" dirty="0"/>
              <a:t>Ensuite, nous utilisons Power BI pour présenter les résultats dans un </a:t>
            </a:r>
            <a:r>
              <a:rPr lang="fr-FR" sz="1200" kern="1200" dirty="0" err="1"/>
              <a:t>dashboard</a:t>
            </a:r>
            <a:r>
              <a:rPr lang="fr-FR" sz="1200" kern="1200" dirty="0"/>
              <a:t> interactif.</a:t>
            </a:r>
          </a:p>
          <a:p>
            <a:r>
              <a:rPr lang="fr-FR" sz="1200" kern="1200" dirty="0"/>
              <a:t>Le cube structure l'analyse, et Power BI la rend claire pour l'utilisateur.</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7792B6-F764-2A4A-4E58-164A5D3C4A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E6745D-7B51-601C-0DA9-014A9CB456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71E165-A8D0-B901-4E9C-46B2FC925E31}"/>
              </a:ext>
            </a:extLst>
          </p:cNvPr>
          <p:cNvSpPr>
            <a:spLocks noGrp="1"/>
          </p:cNvSpPr>
          <p:nvPr>
            <p:ph type="body" idx="1"/>
          </p:nvPr>
        </p:nvSpPr>
        <p:spPr/>
        <p:txBody>
          <a:bodyPr/>
          <a:lstStyle/>
          <a:p>
            <a:r>
              <a:rPr lang="fr-FR" sz="1200" kern="1200" dirty="0"/>
              <a:t>Après le chargement, nous construisons le cube OLAP avec SSAS.</a:t>
            </a:r>
          </a:p>
          <a:p>
            <a:r>
              <a:rPr lang="fr-FR" sz="1200" kern="1200" dirty="0"/>
              <a:t>Ensuite, nous utilisons Power BI pour présenter les résultats dans un </a:t>
            </a:r>
            <a:r>
              <a:rPr lang="fr-FR" sz="1200" kern="1200" dirty="0" err="1"/>
              <a:t>dashboard</a:t>
            </a:r>
            <a:r>
              <a:rPr lang="fr-FR" sz="1200" kern="1200" dirty="0"/>
              <a:t> interactif.</a:t>
            </a:r>
          </a:p>
          <a:p>
            <a:r>
              <a:rPr lang="fr-FR" sz="1200" kern="1200" dirty="0"/>
              <a:t>Le cube structure l'analyse, et Power BI la rend claire pour l'utilisateur.</a:t>
            </a:r>
          </a:p>
          <a:p>
            <a:endParaRPr dirty="0"/>
          </a:p>
        </p:txBody>
      </p:sp>
      <p:sp>
        <p:nvSpPr>
          <p:cNvPr id="4" name="Slide Number Placeholder 3">
            <a:extLst>
              <a:ext uri="{FF2B5EF4-FFF2-40B4-BE49-F238E27FC236}">
                <a16:creationId xmlns:a16="http://schemas.microsoft.com/office/drawing/2014/main" id="{AD92489C-8E4B-3FA6-298B-C0124111B8C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1636715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kern="1200" dirty="0"/>
              <a:t>Cette slide résume les résultats obtenus.</a:t>
            </a:r>
          </a:p>
          <a:p>
            <a:r>
              <a:rPr lang="fr-FR" sz="1200" kern="1200" dirty="0"/>
              <a:t>Les dimensions et la table de faits sont bien alimentées, ce qui prouve que le système fonctionne correctement.</a:t>
            </a:r>
          </a:p>
          <a:p>
            <a:r>
              <a:rPr lang="fr-FR" sz="1200" kern="1200" dirty="0"/>
              <a:t>J’ai donc une solution complète et exploitable.</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04F53-4A75-A34D-C8CE-3A5BA79DA7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14F83A-696B-F444-896B-694F43FDF1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2F034C-3E8F-82B7-BD42-7CD58390F634}"/>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48AB01C3-C938-EDEC-18FD-B857176DFD1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694304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bg>
      <p:bgRef idx="1001">
        <a:schemeClr val="bg1"/>
      </p:bgRef>
    </p:bg>
    <p:spTree>
      <p:nvGrpSpPr>
        <p:cNvPr id="1" name=""/>
        <p:cNvGrpSpPr/>
        <p:nvPr/>
      </p:nvGrpSpPr>
      <p:grpSpPr>
        <a:xfrm>
          <a:off x="0" y="0"/>
          <a:ext cx="0" cy="0"/>
          <a:chOff x="0" y="0"/>
          <a:chExt cx="0" cy="0"/>
        </a:xfrm>
      </p:grpSpPr>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hdr="0" ftr="0" dt="0"/>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96AC2C1E-5986-4EF4-AC6C-262F82F8271B}"/>
              </a:ext>
            </a:extLst>
          </p:cNvPr>
          <p:cNvSpPr>
            <a:spLocks noGrp="1"/>
          </p:cNvSpPr>
          <p:nvPr/>
        </p:nvSpPr>
        <p:spPr>
          <a:xfrm>
            <a:off x="0" y="0"/>
            <a:ext cx="12192000" cy="6858000"/>
          </a:xfrm>
          <a:prstGeom prst="rect">
            <a:avLst/>
          </a:prstGeom>
          <a:solidFill>
            <a:srgbClr val="F6F0E7"/>
          </a:solidFill>
          <a:ln w="0">
            <a:solidFill>
              <a:srgbClr val="000000">
                <a:alpha val="0"/>
              </a:srgbClr>
            </a:solidFill>
            <a:prstDash val="solid"/>
          </a:ln>
        </p:spPr>
        <p:txBody>
          <a:bodyPr/>
          <a:lstStyle/>
          <a:p>
            <a:endParaRPr lang="fr-TN"/>
          </a:p>
        </p:txBody>
      </p:sp>
      <p:sp>
        <p:nvSpPr>
          <p:cNvPr id="2" name="Rectangle 1">
            <a:extLst>
              <a:ext uri="{FF2B5EF4-FFF2-40B4-BE49-F238E27FC236}">
                <a16:creationId xmlns:a16="http://schemas.microsoft.com/office/drawing/2014/main" id="{ADE645FE-7ADF-4B8B-B4F0-D1B35675E7E1}"/>
              </a:ext>
            </a:extLst>
          </p:cNvPr>
          <p:cNvSpPr>
            <a:spLocks noGrp="1"/>
          </p:cNvSpPr>
          <p:nvPr/>
        </p:nvSpPr>
        <p:spPr>
          <a:xfrm>
            <a:off x="0" y="0"/>
            <a:ext cx="12192000" cy="247650"/>
          </a:xfrm>
          <a:prstGeom prst="rect">
            <a:avLst/>
          </a:prstGeom>
          <a:solidFill>
            <a:srgbClr val="0A1A2F"/>
          </a:solidFill>
          <a:ln w="0">
            <a:solidFill>
              <a:srgbClr val="000000">
                <a:alpha val="0"/>
              </a:srgbClr>
            </a:solidFill>
            <a:prstDash val="solid"/>
          </a:ln>
        </p:spPr>
        <p:txBody>
          <a:bodyPr/>
          <a:lstStyle/>
          <a:p>
            <a:endParaRPr lang="fr-TN"/>
          </a:p>
        </p:txBody>
      </p:sp>
      <p:sp>
        <p:nvSpPr>
          <p:cNvPr id="3" name="Rectangle 2">
            <a:extLst>
              <a:ext uri="{FF2B5EF4-FFF2-40B4-BE49-F238E27FC236}">
                <a16:creationId xmlns:a16="http://schemas.microsoft.com/office/drawing/2014/main" id="{707C4724-FF96-4EAE-881A-87EDD1FDE0EE}"/>
              </a:ext>
            </a:extLst>
          </p:cNvPr>
          <p:cNvSpPr>
            <a:spLocks noGrp="1"/>
          </p:cNvSpPr>
          <p:nvPr/>
        </p:nvSpPr>
        <p:spPr>
          <a:xfrm>
            <a:off x="0" y="247650"/>
            <a:ext cx="2095500" cy="57150"/>
          </a:xfrm>
          <a:prstGeom prst="rect">
            <a:avLst/>
          </a:prstGeom>
          <a:solidFill>
            <a:srgbClr val="0F8B8D"/>
          </a:solidFill>
          <a:ln w="0">
            <a:solidFill>
              <a:srgbClr val="000000">
                <a:alpha val="0"/>
              </a:srgbClr>
            </a:solidFill>
            <a:prstDash val="solid"/>
          </a:ln>
        </p:spPr>
        <p:txBody>
          <a:bodyPr/>
          <a:lstStyle/>
          <a:p>
            <a:endParaRPr lang="fr-TN"/>
          </a:p>
        </p:txBody>
      </p:sp>
      <p:sp>
        <p:nvSpPr>
          <p:cNvPr id="4" name="Rectangle 3">
            <a:extLst>
              <a:ext uri="{FF2B5EF4-FFF2-40B4-BE49-F238E27FC236}">
                <a16:creationId xmlns:a16="http://schemas.microsoft.com/office/drawing/2014/main" id="{B80ED6DB-354C-4361-A0C1-D01569575174}"/>
              </a:ext>
            </a:extLst>
          </p:cNvPr>
          <p:cNvSpPr>
            <a:spLocks noGrp="1"/>
          </p:cNvSpPr>
          <p:nvPr/>
        </p:nvSpPr>
        <p:spPr>
          <a:xfrm>
            <a:off x="723900" y="1085850"/>
            <a:ext cx="20955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0F8B8D"/>
                </a:solidFill>
                <a:latin typeface="Aptos"/>
                <a:ea typeface="Aptos"/>
                <a:cs typeface="Aptos"/>
              </a:defRPr>
            </a:pPr>
            <a:r>
              <a:rPr lang="fr-FR" sz="1500" b="1" dirty="0">
                <a:solidFill>
                  <a:srgbClr val="0F8B8D"/>
                </a:solidFill>
                <a:latin typeface="Aptos"/>
                <a:ea typeface="Aptos"/>
                <a:cs typeface="Aptos"/>
              </a:rPr>
              <a:t>Présentation</a:t>
            </a:r>
            <a:r>
              <a:rPr sz="1500" b="1" dirty="0">
                <a:solidFill>
                  <a:srgbClr val="0F8B8D"/>
                </a:solidFill>
                <a:latin typeface="Aptos"/>
                <a:ea typeface="Aptos"/>
                <a:cs typeface="Aptos"/>
              </a:rPr>
              <a:t> BI</a:t>
            </a:r>
          </a:p>
        </p:txBody>
      </p:sp>
      <p:sp>
        <p:nvSpPr>
          <p:cNvPr id="5" name="Rectangle 4">
            <a:extLst>
              <a:ext uri="{FF2B5EF4-FFF2-40B4-BE49-F238E27FC236}">
                <a16:creationId xmlns:a16="http://schemas.microsoft.com/office/drawing/2014/main" id="{5C96C6AE-1407-457F-B591-C68E09ADFB5B}"/>
              </a:ext>
            </a:extLst>
          </p:cNvPr>
          <p:cNvSpPr>
            <a:spLocks noGrp="1"/>
          </p:cNvSpPr>
          <p:nvPr/>
        </p:nvSpPr>
        <p:spPr>
          <a:xfrm>
            <a:off x="723900" y="1466850"/>
            <a:ext cx="533400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850" b="1">
                <a:solidFill>
                  <a:srgbClr val="12304C"/>
                </a:solidFill>
                <a:latin typeface="Aptos Display"/>
                <a:ea typeface="Aptos Display"/>
                <a:cs typeface="Aptos Display"/>
              </a:defRPr>
            </a:pPr>
            <a:r>
              <a:rPr sz="2850" b="1">
                <a:solidFill>
                  <a:srgbClr val="12304C"/>
                </a:solidFill>
                <a:latin typeface="Aptos Display"/>
                <a:ea typeface="Aptos Display"/>
                <a:cs typeface="Aptos Display"/>
              </a:rPr>
              <a:t>Projet AdventureWorks2019</a:t>
            </a:r>
          </a:p>
        </p:txBody>
      </p:sp>
      <p:sp>
        <p:nvSpPr>
          <p:cNvPr id="6" name="Rectangle 5">
            <a:extLst>
              <a:ext uri="{FF2B5EF4-FFF2-40B4-BE49-F238E27FC236}">
                <a16:creationId xmlns:a16="http://schemas.microsoft.com/office/drawing/2014/main" id="{179FAE8F-C9A3-4123-BA79-318160E043BD}"/>
              </a:ext>
            </a:extLst>
          </p:cNvPr>
          <p:cNvSpPr>
            <a:spLocks noGrp="1"/>
          </p:cNvSpPr>
          <p:nvPr/>
        </p:nvSpPr>
        <p:spPr>
          <a:xfrm>
            <a:off x="723900" y="2095500"/>
            <a:ext cx="49530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0">
                <a:solidFill>
                  <a:srgbClr val="5A6F7E"/>
                </a:solidFill>
                <a:latin typeface="Aptos"/>
                <a:ea typeface="Aptos"/>
                <a:cs typeface="Aptos"/>
              </a:defRPr>
            </a:pPr>
            <a:r>
              <a:rPr sz="1500" b="0" dirty="0">
                <a:solidFill>
                  <a:srgbClr val="5A6F7E"/>
                </a:solidFill>
                <a:latin typeface="Aptos"/>
                <a:ea typeface="Aptos"/>
                <a:cs typeface="Aptos"/>
              </a:rPr>
              <a:t>De la donnée </a:t>
            </a:r>
            <a:r>
              <a:rPr sz="1500" b="0" dirty="0" err="1">
                <a:solidFill>
                  <a:srgbClr val="5A6F7E"/>
                </a:solidFill>
                <a:latin typeface="Aptos"/>
                <a:ea typeface="Aptos"/>
                <a:cs typeface="Aptos"/>
              </a:rPr>
              <a:t>transactionnelle</a:t>
            </a:r>
            <a:r>
              <a:rPr sz="1500" b="0" dirty="0">
                <a:solidFill>
                  <a:srgbClr val="5A6F7E"/>
                </a:solidFill>
                <a:latin typeface="Aptos"/>
                <a:ea typeface="Aptos"/>
                <a:cs typeface="Aptos"/>
              </a:rPr>
              <a:t> à </a:t>
            </a:r>
            <a:r>
              <a:rPr sz="1500" b="0" dirty="0" err="1">
                <a:solidFill>
                  <a:srgbClr val="5A6F7E"/>
                </a:solidFill>
                <a:latin typeface="Aptos"/>
                <a:ea typeface="Aptos"/>
                <a:cs typeface="Aptos"/>
              </a:rPr>
              <a:t>l'aide</a:t>
            </a:r>
            <a:r>
              <a:rPr sz="1500" b="0" dirty="0">
                <a:solidFill>
                  <a:srgbClr val="5A6F7E"/>
                </a:solidFill>
                <a:latin typeface="Aptos"/>
                <a:ea typeface="Aptos"/>
                <a:cs typeface="Aptos"/>
              </a:rPr>
              <a:t> à la </a:t>
            </a:r>
            <a:r>
              <a:rPr sz="1500" b="0" dirty="0" err="1">
                <a:solidFill>
                  <a:srgbClr val="5A6F7E"/>
                </a:solidFill>
                <a:latin typeface="Aptos"/>
                <a:ea typeface="Aptos"/>
                <a:cs typeface="Aptos"/>
              </a:rPr>
              <a:t>décision</a:t>
            </a:r>
            <a:endParaRPr sz="1500" b="0" dirty="0">
              <a:solidFill>
                <a:srgbClr val="5A6F7E"/>
              </a:solidFill>
              <a:latin typeface="Aptos"/>
              <a:ea typeface="Aptos"/>
              <a:cs typeface="Aptos"/>
            </a:endParaRPr>
          </a:p>
        </p:txBody>
      </p:sp>
      <p:sp>
        <p:nvSpPr>
          <p:cNvPr id="7" name="Rectangle 6">
            <a:extLst>
              <a:ext uri="{FF2B5EF4-FFF2-40B4-BE49-F238E27FC236}">
                <a16:creationId xmlns:a16="http://schemas.microsoft.com/office/drawing/2014/main" id="{46CDE11A-D48F-44C9-8F30-0DADB1596FB5}"/>
              </a:ext>
            </a:extLst>
          </p:cNvPr>
          <p:cNvSpPr>
            <a:spLocks noGrp="1"/>
          </p:cNvSpPr>
          <p:nvPr/>
        </p:nvSpPr>
        <p:spPr>
          <a:xfrm>
            <a:off x="723900" y="3048000"/>
            <a:ext cx="6096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0A1A2F"/>
                </a:solidFill>
                <a:latin typeface="Aptos"/>
                <a:ea typeface="Aptos"/>
                <a:cs typeface="Aptos"/>
              </a:defRPr>
            </a:pPr>
            <a:r>
              <a:rPr sz="1350" b="1" dirty="0">
                <a:solidFill>
                  <a:srgbClr val="0A1A2F"/>
                </a:solidFill>
                <a:latin typeface="Aptos"/>
                <a:ea typeface="Aptos"/>
                <a:cs typeface="Aptos"/>
              </a:rPr>
              <a:t>OLTP -&gt; ETL SSIS -&gt; Data Warehouse -&gt; Cube SSAS -&gt; Power BI</a:t>
            </a:r>
          </a:p>
        </p:txBody>
      </p:sp>
      <p:sp>
        <p:nvSpPr>
          <p:cNvPr id="8" name="Rectangle 7">
            <a:extLst>
              <a:ext uri="{FF2B5EF4-FFF2-40B4-BE49-F238E27FC236}">
                <a16:creationId xmlns:a16="http://schemas.microsoft.com/office/drawing/2014/main" id="{D4049B5D-1AD1-40F6-B3E5-DDA99C8E9158}"/>
              </a:ext>
            </a:extLst>
          </p:cNvPr>
          <p:cNvSpPr>
            <a:spLocks noGrp="1"/>
          </p:cNvSpPr>
          <p:nvPr/>
        </p:nvSpPr>
        <p:spPr>
          <a:xfrm>
            <a:off x="723900" y="3562350"/>
            <a:ext cx="895350" cy="533400"/>
          </a:xfrm>
          <a:prstGeom prst="rect">
            <a:avLst/>
          </a:prstGeom>
          <a:solidFill>
            <a:srgbClr val="0A1A2F"/>
          </a:solidFill>
          <a:ln w="0">
            <a:solidFill>
              <a:srgbClr val="000000">
                <a:alpha val="0"/>
              </a:srgbClr>
            </a:solidFill>
            <a:prstDash val="solid"/>
          </a:ln>
        </p:spPr>
        <p:txBody>
          <a:bodyPr/>
          <a:lstStyle/>
          <a:p>
            <a:endParaRPr lang="fr-TN"/>
          </a:p>
        </p:txBody>
      </p:sp>
      <p:sp>
        <p:nvSpPr>
          <p:cNvPr id="9" name="Rectangle 8">
            <a:extLst>
              <a:ext uri="{FF2B5EF4-FFF2-40B4-BE49-F238E27FC236}">
                <a16:creationId xmlns:a16="http://schemas.microsoft.com/office/drawing/2014/main" id="{4A6803C6-FB72-4833-AB30-0FDE19D3BA15}"/>
              </a:ext>
            </a:extLst>
          </p:cNvPr>
          <p:cNvSpPr>
            <a:spLocks noGrp="1"/>
          </p:cNvSpPr>
          <p:nvPr/>
        </p:nvSpPr>
        <p:spPr>
          <a:xfrm>
            <a:off x="723900" y="3733800"/>
            <a:ext cx="8953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1">
                <a:solidFill>
                  <a:srgbClr val="FFFFFF"/>
                </a:solidFill>
                <a:latin typeface="Aptos"/>
                <a:ea typeface="Aptos"/>
                <a:cs typeface="Aptos"/>
              </a:defRPr>
            </a:pPr>
            <a:r>
              <a:rPr sz="1200" b="1">
                <a:solidFill>
                  <a:srgbClr val="FFFFFF"/>
                </a:solidFill>
                <a:latin typeface="Aptos"/>
                <a:ea typeface="Aptos"/>
                <a:cs typeface="Aptos"/>
              </a:rPr>
              <a:t>OLTP</a:t>
            </a:r>
          </a:p>
        </p:txBody>
      </p:sp>
      <p:sp>
        <p:nvSpPr>
          <p:cNvPr id="10" name="Rectangle 9">
            <a:extLst>
              <a:ext uri="{FF2B5EF4-FFF2-40B4-BE49-F238E27FC236}">
                <a16:creationId xmlns:a16="http://schemas.microsoft.com/office/drawing/2014/main" id="{BABC5280-F3C8-4DD5-AC64-5C47D41DACE5}"/>
              </a:ext>
            </a:extLst>
          </p:cNvPr>
          <p:cNvSpPr>
            <a:spLocks noGrp="1"/>
          </p:cNvSpPr>
          <p:nvPr/>
        </p:nvSpPr>
        <p:spPr>
          <a:xfrm>
            <a:off x="1790700" y="3562350"/>
            <a:ext cx="895350" cy="533400"/>
          </a:xfrm>
          <a:prstGeom prst="rect">
            <a:avLst/>
          </a:prstGeom>
          <a:solidFill>
            <a:srgbClr val="0F8B8D"/>
          </a:solidFill>
          <a:ln w="0">
            <a:solidFill>
              <a:srgbClr val="000000">
                <a:alpha val="0"/>
              </a:srgbClr>
            </a:solidFill>
            <a:prstDash val="solid"/>
          </a:ln>
        </p:spPr>
        <p:txBody>
          <a:bodyPr/>
          <a:lstStyle/>
          <a:p>
            <a:endParaRPr lang="fr-TN"/>
          </a:p>
        </p:txBody>
      </p:sp>
      <p:sp>
        <p:nvSpPr>
          <p:cNvPr id="11" name="Rectangle 10">
            <a:extLst>
              <a:ext uri="{FF2B5EF4-FFF2-40B4-BE49-F238E27FC236}">
                <a16:creationId xmlns:a16="http://schemas.microsoft.com/office/drawing/2014/main" id="{1F6A63E9-E6EF-453A-A783-C73A04A97ADA}"/>
              </a:ext>
            </a:extLst>
          </p:cNvPr>
          <p:cNvSpPr>
            <a:spLocks noGrp="1"/>
          </p:cNvSpPr>
          <p:nvPr/>
        </p:nvSpPr>
        <p:spPr>
          <a:xfrm>
            <a:off x="1790700" y="3733800"/>
            <a:ext cx="8953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1">
                <a:solidFill>
                  <a:srgbClr val="FFFFFF"/>
                </a:solidFill>
                <a:latin typeface="Aptos"/>
                <a:ea typeface="Aptos"/>
                <a:cs typeface="Aptos"/>
              </a:defRPr>
            </a:pPr>
            <a:r>
              <a:rPr sz="1200" b="1">
                <a:solidFill>
                  <a:srgbClr val="FFFFFF"/>
                </a:solidFill>
                <a:latin typeface="Aptos"/>
                <a:ea typeface="Aptos"/>
                <a:cs typeface="Aptos"/>
              </a:rPr>
              <a:t>SSIS</a:t>
            </a:r>
          </a:p>
        </p:txBody>
      </p:sp>
      <p:sp>
        <p:nvSpPr>
          <p:cNvPr id="12" name="Rectangle 11">
            <a:extLst>
              <a:ext uri="{FF2B5EF4-FFF2-40B4-BE49-F238E27FC236}">
                <a16:creationId xmlns:a16="http://schemas.microsoft.com/office/drawing/2014/main" id="{0D1DA832-B2FC-40CE-BFAC-035E91634EBE}"/>
              </a:ext>
            </a:extLst>
          </p:cNvPr>
          <p:cNvSpPr>
            <a:spLocks noGrp="1"/>
          </p:cNvSpPr>
          <p:nvPr/>
        </p:nvSpPr>
        <p:spPr>
          <a:xfrm>
            <a:off x="2857500" y="3562350"/>
            <a:ext cx="895350" cy="533400"/>
          </a:xfrm>
          <a:prstGeom prst="rect">
            <a:avLst/>
          </a:prstGeom>
          <a:solidFill>
            <a:srgbClr val="E07A5F"/>
          </a:solidFill>
          <a:ln w="0">
            <a:solidFill>
              <a:srgbClr val="000000">
                <a:alpha val="0"/>
              </a:srgbClr>
            </a:solidFill>
            <a:prstDash val="solid"/>
          </a:ln>
        </p:spPr>
        <p:txBody>
          <a:bodyPr/>
          <a:lstStyle/>
          <a:p>
            <a:endParaRPr lang="fr-TN"/>
          </a:p>
        </p:txBody>
      </p:sp>
      <p:sp>
        <p:nvSpPr>
          <p:cNvPr id="13" name="Rectangle 12">
            <a:extLst>
              <a:ext uri="{FF2B5EF4-FFF2-40B4-BE49-F238E27FC236}">
                <a16:creationId xmlns:a16="http://schemas.microsoft.com/office/drawing/2014/main" id="{37DD958E-161A-4B8C-B40D-23619E4C299B}"/>
              </a:ext>
            </a:extLst>
          </p:cNvPr>
          <p:cNvSpPr>
            <a:spLocks noGrp="1"/>
          </p:cNvSpPr>
          <p:nvPr/>
        </p:nvSpPr>
        <p:spPr>
          <a:xfrm>
            <a:off x="2857500" y="3733800"/>
            <a:ext cx="8953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1">
                <a:solidFill>
                  <a:srgbClr val="FFFFFF"/>
                </a:solidFill>
                <a:latin typeface="Aptos"/>
                <a:ea typeface="Aptos"/>
                <a:cs typeface="Aptos"/>
              </a:defRPr>
            </a:pPr>
            <a:r>
              <a:rPr sz="1200" b="1">
                <a:solidFill>
                  <a:srgbClr val="FFFFFF"/>
                </a:solidFill>
                <a:latin typeface="Aptos"/>
                <a:ea typeface="Aptos"/>
                <a:cs typeface="Aptos"/>
              </a:rPr>
              <a:t>DW</a:t>
            </a:r>
          </a:p>
        </p:txBody>
      </p:sp>
      <p:sp>
        <p:nvSpPr>
          <p:cNvPr id="14" name="Rectangle 13">
            <a:extLst>
              <a:ext uri="{FF2B5EF4-FFF2-40B4-BE49-F238E27FC236}">
                <a16:creationId xmlns:a16="http://schemas.microsoft.com/office/drawing/2014/main" id="{C5035695-27A6-4690-8941-A5F992996B89}"/>
              </a:ext>
            </a:extLst>
          </p:cNvPr>
          <p:cNvSpPr>
            <a:spLocks noGrp="1"/>
          </p:cNvSpPr>
          <p:nvPr/>
        </p:nvSpPr>
        <p:spPr>
          <a:xfrm>
            <a:off x="3924300" y="3562350"/>
            <a:ext cx="895350" cy="533400"/>
          </a:xfrm>
          <a:prstGeom prst="rect">
            <a:avLst/>
          </a:prstGeom>
          <a:solidFill>
            <a:srgbClr val="7A9E7E"/>
          </a:solidFill>
          <a:ln w="0">
            <a:solidFill>
              <a:srgbClr val="000000">
                <a:alpha val="0"/>
              </a:srgbClr>
            </a:solidFill>
            <a:prstDash val="solid"/>
          </a:ln>
        </p:spPr>
        <p:txBody>
          <a:bodyPr/>
          <a:lstStyle/>
          <a:p>
            <a:endParaRPr lang="fr-TN"/>
          </a:p>
        </p:txBody>
      </p:sp>
      <p:sp>
        <p:nvSpPr>
          <p:cNvPr id="15" name="Rectangle 14">
            <a:extLst>
              <a:ext uri="{FF2B5EF4-FFF2-40B4-BE49-F238E27FC236}">
                <a16:creationId xmlns:a16="http://schemas.microsoft.com/office/drawing/2014/main" id="{A795F066-D216-4232-B795-C9889180F68B}"/>
              </a:ext>
            </a:extLst>
          </p:cNvPr>
          <p:cNvSpPr>
            <a:spLocks noGrp="1"/>
          </p:cNvSpPr>
          <p:nvPr/>
        </p:nvSpPr>
        <p:spPr>
          <a:xfrm>
            <a:off x="3924300" y="3733800"/>
            <a:ext cx="8953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1">
                <a:solidFill>
                  <a:srgbClr val="FFFFFF"/>
                </a:solidFill>
                <a:latin typeface="Aptos"/>
                <a:ea typeface="Aptos"/>
                <a:cs typeface="Aptos"/>
              </a:defRPr>
            </a:pPr>
            <a:r>
              <a:rPr sz="1200" b="1">
                <a:solidFill>
                  <a:srgbClr val="FFFFFF"/>
                </a:solidFill>
                <a:latin typeface="Aptos"/>
                <a:ea typeface="Aptos"/>
                <a:cs typeface="Aptos"/>
              </a:rPr>
              <a:t>SSAS</a:t>
            </a:r>
          </a:p>
        </p:txBody>
      </p:sp>
      <p:sp>
        <p:nvSpPr>
          <p:cNvPr id="16" name="Rectangle 15">
            <a:extLst>
              <a:ext uri="{FF2B5EF4-FFF2-40B4-BE49-F238E27FC236}">
                <a16:creationId xmlns:a16="http://schemas.microsoft.com/office/drawing/2014/main" id="{E7BA56DA-8000-4A16-A30A-D198EAE4BBD4}"/>
              </a:ext>
            </a:extLst>
          </p:cNvPr>
          <p:cNvSpPr>
            <a:spLocks noGrp="1"/>
          </p:cNvSpPr>
          <p:nvPr/>
        </p:nvSpPr>
        <p:spPr>
          <a:xfrm>
            <a:off x="4991100" y="3562350"/>
            <a:ext cx="895350" cy="533400"/>
          </a:xfrm>
          <a:prstGeom prst="rect">
            <a:avLst/>
          </a:prstGeom>
          <a:solidFill>
            <a:srgbClr val="12304C"/>
          </a:solidFill>
          <a:ln w="0">
            <a:solidFill>
              <a:srgbClr val="000000">
                <a:alpha val="0"/>
              </a:srgbClr>
            </a:solidFill>
            <a:prstDash val="solid"/>
          </a:ln>
        </p:spPr>
        <p:txBody>
          <a:bodyPr/>
          <a:lstStyle/>
          <a:p>
            <a:endParaRPr lang="fr-TN"/>
          </a:p>
        </p:txBody>
      </p:sp>
      <p:sp>
        <p:nvSpPr>
          <p:cNvPr id="17" name="Rectangle 16">
            <a:extLst>
              <a:ext uri="{FF2B5EF4-FFF2-40B4-BE49-F238E27FC236}">
                <a16:creationId xmlns:a16="http://schemas.microsoft.com/office/drawing/2014/main" id="{55674F10-26A9-4128-8E52-53236D1A6BDD}"/>
              </a:ext>
            </a:extLst>
          </p:cNvPr>
          <p:cNvSpPr>
            <a:spLocks noGrp="1"/>
          </p:cNvSpPr>
          <p:nvPr/>
        </p:nvSpPr>
        <p:spPr>
          <a:xfrm>
            <a:off x="4991100" y="3733800"/>
            <a:ext cx="8953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1">
                <a:solidFill>
                  <a:srgbClr val="FFFFFF"/>
                </a:solidFill>
                <a:latin typeface="Aptos"/>
                <a:ea typeface="Aptos"/>
                <a:cs typeface="Aptos"/>
              </a:defRPr>
            </a:pPr>
            <a:r>
              <a:rPr sz="1200" b="1">
                <a:solidFill>
                  <a:srgbClr val="FFFFFF"/>
                </a:solidFill>
                <a:latin typeface="Aptos"/>
                <a:ea typeface="Aptos"/>
                <a:cs typeface="Aptos"/>
              </a:rPr>
              <a:t>Power BI</a:t>
            </a:r>
          </a:p>
        </p:txBody>
      </p:sp>
      <p:sp>
        <p:nvSpPr>
          <p:cNvPr id="18" name="Rectangle 17">
            <a:extLst>
              <a:ext uri="{FF2B5EF4-FFF2-40B4-BE49-F238E27FC236}">
                <a16:creationId xmlns:a16="http://schemas.microsoft.com/office/drawing/2014/main" id="{2D05D5FB-B587-4A79-9318-5E4CCF4D50B0}"/>
              </a:ext>
            </a:extLst>
          </p:cNvPr>
          <p:cNvSpPr>
            <a:spLocks noGrp="1"/>
          </p:cNvSpPr>
          <p:nvPr/>
        </p:nvSpPr>
        <p:spPr>
          <a:xfrm>
            <a:off x="7448550" y="990600"/>
            <a:ext cx="3752850" cy="4476750"/>
          </a:xfrm>
          <a:prstGeom prst="rect">
            <a:avLst/>
          </a:prstGeom>
          <a:solidFill>
            <a:srgbClr val="FFFFFF"/>
          </a:solidFill>
          <a:ln w="9525">
            <a:solidFill>
              <a:srgbClr val="D4C7B6"/>
            </a:solidFill>
            <a:prstDash val="solid"/>
          </a:ln>
        </p:spPr>
        <p:txBody>
          <a:bodyPr/>
          <a:lstStyle/>
          <a:p>
            <a:endParaRPr lang="fr-TN"/>
          </a:p>
        </p:txBody>
      </p:sp>
      <p:sp>
        <p:nvSpPr>
          <p:cNvPr id="21" name="Rectangle 20">
            <a:extLst>
              <a:ext uri="{FF2B5EF4-FFF2-40B4-BE49-F238E27FC236}">
                <a16:creationId xmlns:a16="http://schemas.microsoft.com/office/drawing/2014/main" id="{4614D0DB-6070-480D-B260-BC3BE067951E}"/>
              </a:ext>
            </a:extLst>
          </p:cNvPr>
          <p:cNvSpPr>
            <a:spLocks noGrp="1"/>
          </p:cNvSpPr>
          <p:nvPr/>
        </p:nvSpPr>
        <p:spPr>
          <a:xfrm>
            <a:off x="4133850" y="4400550"/>
            <a:ext cx="2095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E07A5F"/>
                </a:solidFill>
                <a:latin typeface="Aptos"/>
                <a:ea typeface="Aptos"/>
                <a:cs typeface="Aptos"/>
              </a:defRPr>
            </a:pPr>
            <a:endParaRPr sz="1275" b="1" dirty="0">
              <a:solidFill>
                <a:srgbClr val="E07A5F"/>
              </a:solidFill>
              <a:latin typeface="Aptos"/>
              <a:ea typeface="Aptos"/>
              <a:cs typeface="Aptos"/>
            </a:endParaRPr>
          </a:p>
        </p:txBody>
      </p:sp>
      <p:sp>
        <p:nvSpPr>
          <p:cNvPr id="24" name="Rectangle 23">
            <a:extLst>
              <a:ext uri="{FF2B5EF4-FFF2-40B4-BE49-F238E27FC236}">
                <a16:creationId xmlns:a16="http://schemas.microsoft.com/office/drawing/2014/main" id="{0F21E137-C568-4138-9225-E7259C5E41ED}"/>
              </a:ext>
            </a:extLst>
          </p:cNvPr>
          <p:cNvSpPr>
            <a:spLocks noGrp="1"/>
          </p:cNvSpPr>
          <p:nvPr/>
        </p:nvSpPr>
        <p:spPr>
          <a:xfrm>
            <a:off x="9258300" y="6515100"/>
            <a:ext cx="2286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0">
                <a:solidFill>
                  <a:srgbClr val="5A6F7E"/>
                </a:solidFill>
                <a:latin typeface="Aptos"/>
                <a:ea typeface="Aptos"/>
                <a:cs typeface="Aptos"/>
              </a:defRPr>
            </a:pPr>
            <a:r>
              <a:rPr sz="825" b="0">
                <a:solidFill>
                  <a:srgbClr val="5A6F7E"/>
                </a:solidFill>
                <a:latin typeface="Aptos"/>
                <a:ea typeface="Aptos"/>
                <a:cs typeface="Aptos"/>
              </a:rPr>
              <a:t>Projet BI AdventureWorks</a:t>
            </a:r>
          </a:p>
        </p:txBody>
      </p:sp>
      <p:sp>
        <p:nvSpPr>
          <p:cNvPr id="28" name="Rectangle 27">
            <a:extLst>
              <a:ext uri="{FF2B5EF4-FFF2-40B4-BE49-F238E27FC236}">
                <a16:creationId xmlns:a16="http://schemas.microsoft.com/office/drawing/2014/main" id="{59604210-3458-BC2B-26C8-B563EE815426}"/>
              </a:ext>
            </a:extLst>
          </p:cNvPr>
          <p:cNvSpPr>
            <a:spLocks noGrp="1"/>
          </p:cNvSpPr>
          <p:nvPr/>
        </p:nvSpPr>
        <p:spPr>
          <a:xfrm>
            <a:off x="7753350" y="2145753"/>
            <a:ext cx="1524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E07A5F"/>
                </a:solidFill>
                <a:latin typeface="Aptos"/>
                <a:ea typeface="Aptos"/>
                <a:cs typeface="Aptos"/>
              </a:defRPr>
            </a:pPr>
            <a:r>
              <a:rPr sz="1125" b="1" dirty="0">
                <a:solidFill>
                  <a:srgbClr val="E07A5F"/>
                </a:solidFill>
                <a:latin typeface="Aptos"/>
                <a:ea typeface="Aptos"/>
                <a:cs typeface="Aptos"/>
              </a:rPr>
              <a:t>Présenté par</a:t>
            </a:r>
          </a:p>
        </p:txBody>
      </p:sp>
      <p:sp>
        <p:nvSpPr>
          <p:cNvPr id="29" name="Rectangle 28">
            <a:extLst>
              <a:ext uri="{FF2B5EF4-FFF2-40B4-BE49-F238E27FC236}">
                <a16:creationId xmlns:a16="http://schemas.microsoft.com/office/drawing/2014/main" id="{C96FC3DB-ADE6-C2AF-47DA-67DDC3C6EAFE}"/>
              </a:ext>
            </a:extLst>
          </p:cNvPr>
          <p:cNvSpPr>
            <a:spLocks noGrp="1"/>
          </p:cNvSpPr>
          <p:nvPr/>
        </p:nvSpPr>
        <p:spPr>
          <a:xfrm>
            <a:off x="7753350" y="2412452"/>
            <a:ext cx="2381250" cy="6572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12304C"/>
                </a:solidFill>
                <a:latin typeface="Aptos"/>
                <a:ea typeface="Aptos"/>
                <a:cs typeface="Aptos"/>
              </a:defRPr>
            </a:pPr>
            <a:r>
              <a:rPr sz="1650" b="1" dirty="0">
                <a:solidFill>
                  <a:srgbClr val="12304C"/>
                </a:solidFill>
                <a:latin typeface="Aptos"/>
                <a:ea typeface="Aptos"/>
                <a:cs typeface="Aptos"/>
              </a:rPr>
              <a:t>Mohamed Aziz Essid</a:t>
            </a:r>
            <a:endParaRPr lang="fr-FR" sz="1650" b="1" dirty="0">
              <a:solidFill>
                <a:srgbClr val="12304C"/>
              </a:solidFill>
              <a:latin typeface="Aptos"/>
              <a:ea typeface="Aptos"/>
              <a:cs typeface="Aptos"/>
            </a:endParaRPr>
          </a:p>
          <a:p>
            <a:pPr algn="l">
              <a:defRPr sz="1650" b="1">
                <a:solidFill>
                  <a:srgbClr val="12304C"/>
                </a:solidFill>
                <a:latin typeface="Aptos"/>
                <a:ea typeface="Aptos"/>
                <a:cs typeface="Aptos"/>
              </a:defRPr>
            </a:pPr>
            <a:r>
              <a:rPr lang="en-US" sz="1650" b="1" dirty="0">
                <a:solidFill>
                  <a:srgbClr val="12304C"/>
                </a:solidFill>
                <a:latin typeface="Aptos"/>
                <a:ea typeface="Aptos"/>
                <a:cs typeface="Aptos"/>
              </a:rPr>
              <a:t>Khaled Cherif</a:t>
            </a:r>
            <a:endParaRPr sz="1650" b="1" dirty="0">
              <a:solidFill>
                <a:srgbClr val="12304C"/>
              </a:solidFill>
              <a:latin typeface="Aptos"/>
              <a:ea typeface="Aptos"/>
              <a:cs typeface="Aptos"/>
            </a:endParaRPr>
          </a:p>
        </p:txBody>
      </p:sp>
      <p:sp>
        <p:nvSpPr>
          <p:cNvPr id="30" name="Rectangle 29">
            <a:extLst>
              <a:ext uri="{FF2B5EF4-FFF2-40B4-BE49-F238E27FC236}">
                <a16:creationId xmlns:a16="http://schemas.microsoft.com/office/drawing/2014/main" id="{FBF55A81-9B79-2C0C-E748-BB4F3634DC6C}"/>
              </a:ext>
            </a:extLst>
          </p:cNvPr>
          <p:cNvSpPr>
            <a:spLocks noGrp="1"/>
          </p:cNvSpPr>
          <p:nvPr/>
        </p:nvSpPr>
        <p:spPr>
          <a:xfrm>
            <a:off x="7753350" y="1317078"/>
            <a:ext cx="1524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E07A5F"/>
                </a:solidFill>
                <a:latin typeface="Aptos"/>
                <a:ea typeface="Aptos"/>
                <a:cs typeface="Aptos"/>
              </a:defRPr>
            </a:pPr>
            <a:r>
              <a:rPr sz="1125" b="1" dirty="0" err="1">
                <a:solidFill>
                  <a:srgbClr val="E07A5F"/>
                </a:solidFill>
                <a:latin typeface="Aptos"/>
                <a:ea typeface="Aptos"/>
                <a:cs typeface="Aptos"/>
              </a:rPr>
              <a:t>Encadré</a:t>
            </a:r>
            <a:r>
              <a:rPr sz="1125" b="1" dirty="0">
                <a:solidFill>
                  <a:srgbClr val="E07A5F"/>
                </a:solidFill>
                <a:latin typeface="Aptos"/>
                <a:ea typeface="Aptos"/>
                <a:cs typeface="Aptos"/>
              </a:rPr>
              <a:t> par</a:t>
            </a:r>
          </a:p>
        </p:txBody>
      </p:sp>
      <p:sp>
        <p:nvSpPr>
          <p:cNvPr id="31" name="Rectangle 30">
            <a:extLst>
              <a:ext uri="{FF2B5EF4-FFF2-40B4-BE49-F238E27FC236}">
                <a16:creationId xmlns:a16="http://schemas.microsoft.com/office/drawing/2014/main" id="{26DEFAF0-4006-DEAA-4938-91FC9E0D2E89}"/>
              </a:ext>
            </a:extLst>
          </p:cNvPr>
          <p:cNvSpPr>
            <a:spLocks noGrp="1"/>
          </p:cNvSpPr>
          <p:nvPr/>
        </p:nvSpPr>
        <p:spPr>
          <a:xfrm>
            <a:off x="7753350" y="1583778"/>
            <a:ext cx="2381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12304C"/>
                </a:solidFill>
                <a:latin typeface="Aptos"/>
                <a:ea typeface="Aptos"/>
                <a:cs typeface="Aptos"/>
              </a:defRPr>
            </a:pPr>
            <a:r>
              <a:rPr sz="1500" b="1" dirty="0" err="1">
                <a:solidFill>
                  <a:srgbClr val="12304C"/>
                </a:solidFill>
                <a:latin typeface="Aptos"/>
                <a:ea typeface="Aptos"/>
                <a:cs typeface="Aptos"/>
              </a:rPr>
              <a:t>Mme</a:t>
            </a:r>
            <a:r>
              <a:rPr sz="1500" b="1" dirty="0">
                <a:solidFill>
                  <a:srgbClr val="12304C"/>
                </a:solidFill>
                <a:latin typeface="Aptos"/>
                <a:ea typeface="Aptos"/>
                <a:cs typeface="Aptos"/>
              </a:rPr>
              <a:t> Salma Dammak</a:t>
            </a:r>
          </a:p>
        </p:txBody>
      </p:sp>
      <p:sp>
        <p:nvSpPr>
          <p:cNvPr id="35" name="Rectangle 34">
            <a:extLst>
              <a:ext uri="{FF2B5EF4-FFF2-40B4-BE49-F238E27FC236}">
                <a16:creationId xmlns:a16="http://schemas.microsoft.com/office/drawing/2014/main" id="{37EEB4D9-9D3E-31AD-88ED-E7B5CB3D38C7}"/>
              </a:ext>
            </a:extLst>
          </p:cNvPr>
          <p:cNvSpPr>
            <a:spLocks noGrp="1"/>
          </p:cNvSpPr>
          <p:nvPr/>
        </p:nvSpPr>
        <p:spPr>
          <a:xfrm>
            <a:off x="7753350" y="3069678"/>
            <a:ext cx="1524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E07A5F"/>
                </a:solidFill>
                <a:latin typeface="Aptos"/>
                <a:ea typeface="Aptos"/>
                <a:cs typeface="Aptos"/>
              </a:defRPr>
            </a:pPr>
            <a:r>
              <a:rPr lang="fr-FR" sz="1125" b="1" dirty="0">
                <a:solidFill>
                  <a:srgbClr val="E07A5F"/>
                </a:solidFill>
                <a:latin typeface="Aptos"/>
                <a:ea typeface="Aptos"/>
                <a:cs typeface="Aptos"/>
              </a:rPr>
              <a:t>Module:</a:t>
            </a:r>
            <a:endParaRPr sz="1125" b="1" dirty="0">
              <a:solidFill>
                <a:srgbClr val="E07A5F"/>
              </a:solidFill>
              <a:latin typeface="Aptos"/>
              <a:ea typeface="Aptos"/>
              <a:cs typeface="Aptos"/>
            </a:endParaRPr>
          </a:p>
        </p:txBody>
      </p:sp>
      <p:sp>
        <p:nvSpPr>
          <p:cNvPr id="36" name="Rectangle 35">
            <a:extLst>
              <a:ext uri="{FF2B5EF4-FFF2-40B4-BE49-F238E27FC236}">
                <a16:creationId xmlns:a16="http://schemas.microsoft.com/office/drawing/2014/main" id="{B95AE65F-189C-3059-2DCC-55F5B871B160}"/>
              </a:ext>
            </a:extLst>
          </p:cNvPr>
          <p:cNvSpPr>
            <a:spLocks noGrp="1"/>
          </p:cNvSpPr>
          <p:nvPr/>
        </p:nvSpPr>
        <p:spPr>
          <a:xfrm>
            <a:off x="7734300" y="3359861"/>
            <a:ext cx="2381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12304C"/>
                </a:solidFill>
                <a:latin typeface="Aptos"/>
                <a:ea typeface="Aptos"/>
                <a:cs typeface="Aptos"/>
              </a:defRPr>
            </a:pPr>
            <a:r>
              <a:rPr lang="fr-FR" sz="1500" b="1" dirty="0" err="1">
                <a:solidFill>
                  <a:srgbClr val="12304C"/>
                </a:solidFill>
                <a:latin typeface="Aptos"/>
                <a:ea typeface="Aptos"/>
                <a:cs typeface="Aptos"/>
              </a:rPr>
              <a:t>Buisness</a:t>
            </a:r>
            <a:r>
              <a:rPr lang="fr-FR" sz="1500" b="1" dirty="0">
                <a:solidFill>
                  <a:srgbClr val="12304C"/>
                </a:solidFill>
                <a:latin typeface="Aptos"/>
                <a:ea typeface="Aptos"/>
                <a:cs typeface="Aptos"/>
              </a:rPr>
              <a:t> Intelligent</a:t>
            </a:r>
            <a:endParaRPr sz="1500" b="1" dirty="0">
              <a:solidFill>
                <a:srgbClr val="12304C"/>
              </a:solidFill>
              <a:latin typeface="Aptos"/>
              <a:ea typeface="Aptos"/>
              <a:cs typeface="Aptos"/>
            </a:endParaRPr>
          </a:p>
        </p:txBody>
      </p:sp>
      <p:sp>
        <p:nvSpPr>
          <p:cNvPr id="37" name="Rectangle 36">
            <a:extLst>
              <a:ext uri="{FF2B5EF4-FFF2-40B4-BE49-F238E27FC236}">
                <a16:creationId xmlns:a16="http://schemas.microsoft.com/office/drawing/2014/main" id="{8C8EE503-32E8-D08D-D642-30840DF7314E}"/>
              </a:ext>
            </a:extLst>
          </p:cNvPr>
          <p:cNvSpPr>
            <a:spLocks noGrp="1"/>
          </p:cNvSpPr>
          <p:nvPr/>
        </p:nvSpPr>
        <p:spPr>
          <a:xfrm>
            <a:off x="7753350" y="3949919"/>
            <a:ext cx="1524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E07A5F"/>
                </a:solidFill>
                <a:latin typeface="Aptos"/>
                <a:ea typeface="Aptos"/>
                <a:cs typeface="Aptos"/>
              </a:defRPr>
            </a:pPr>
            <a:r>
              <a:rPr lang="fr-FR" sz="1125" b="1" dirty="0">
                <a:solidFill>
                  <a:srgbClr val="E07A5F"/>
                </a:solidFill>
                <a:latin typeface="Aptos"/>
                <a:ea typeface="Aptos"/>
                <a:cs typeface="Aptos"/>
              </a:rPr>
              <a:t>Année Universitaire:</a:t>
            </a:r>
            <a:endParaRPr sz="1125" b="1" dirty="0">
              <a:solidFill>
                <a:srgbClr val="E07A5F"/>
              </a:solidFill>
              <a:latin typeface="Aptos"/>
              <a:ea typeface="Aptos"/>
              <a:cs typeface="Aptos"/>
            </a:endParaRPr>
          </a:p>
        </p:txBody>
      </p:sp>
      <p:sp>
        <p:nvSpPr>
          <p:cNvPr id="38" name="Rectangle 37">
            <a:extLst>
              <a:ext uri="{FF2B5EF4-FFF2-40B4-BE49-F238E27FC236}">
                <a16:creationId xmlns:a16="http://schemas.microsoft.com/office/drawing/2014/main" id="{8F01C70C-7110-1C4F-52A5-2916E0D7F939}"/>
              </a:ext>
            </a:extLst>
          </p:cNvPr>
          <p:cNvSpPr>
            <a:spLocks noGrp="1"/>
          </p:cNvSpPr>
          <p:nvPr/>
        </p:nvSpPr>
        <p:spPr>
          <a:xfrm>
            <a:off x="7734300" y="4240102"/>
            <a:ext cx="2381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12304C"/>
                </a:solidFill>
                <a:latin typeface="Aptos"/>
                <a:ea typeface="Aptos"/>
                <a:cs typeface="Aptos"/>
              </a:defRPr>
            </a:pPr>
            <a:r>
              <a:rPr lang="fr-FR" sz="1500" b="1" dirty="0">
                <a:solidFill>
                  <a:srgbClr val="12304C"/>
                </a:solidFill>
                <a:latin typeface="Aptos"/>
                <a:ea typeface="Aptos"/>
                <a:cs typeface="Aptos"/>
              </a:rPr>
              <a:t>2025 - 2026</a:t>
            </a:r>
            <a:endParaRPr sz="1500" b="1" dirty="0">
              <a:solidFill>
                <a:srgbClr val="12304C"/>
              </a:solidFill>
              <a:latin typeface="Aptos"/>
              <a:ea typeface="Aptos"/>
              <a:cs typeface="Aptos"/>
            </a:endParaRPr>
          </a:p>
        </p:txBody>
      </p:sp>
      <p:pic>
        <p:nvPicPr>
          <p:cNvPr id="40" name="Image 39">
            <a:extLst>
              <a:ext uri="{FF2B5EF4-FFF2-40B4-BE49-F238E27FC236}">
                <a16:creationId xmlns:a16="http://schemas.microsoft.com/office/drawing/2014/main" id="{06B481EB-F97D-2698-B2D2-0E5AB8B4F6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49407" y="3817061"/>
            <a:ext cx="2119312" cy="2119312"/>
          </a:xfrm>
          <a:prstGeom prst="rect">
            <a:avLst/>
          </a:prstGeom>
        </p:spPr>
      </p:pic>
    </p:spTree>
    <p:extLst>
      <p:ext uri="{BB962C8B-B14F-4D97-AF65-F5344CB8AC3E}">
        <p14:creationId xmlns:p14="http://schemas.microsoft.com/office/powerpoint/2010/main" val="21053664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6AC65AF1-0926-4FB1-BABA-46EB537374FD}"/>
              </a:ext>
            </a:extLst>
          </p:cNvPr>
          <p:cNvSpPr>
            <a:spLocks noGrp="1"/>
          </p:cNvSpPr>
          <p:nvPr/>
        </p:nvSpPr>
        <p:spPr>
          <a:xfrm>
            <a:off x="0" y="0"/>
            <a:ext cx="12192000" cy="6858000"/>
          </a:xfrm>
          <a:prstGeom prst="rect">
            <a:avLst/>
          </a:prstGeom>
          <a:solidFill>
            <a:srgbClr val="F6F0E7"/>
          </a:solidFill>
          <a:ln w="0">
            <a:solidFill>
              <a:srgbClr val="000000">
                <a:alpha val="0"/>
              </a:srgbClr>
            </a:solidFill>
            <a:prstDash val="solid"/>
          </a:ln>
        </p:spPr>
        <p:txBody>
          <a:bodyPr/>
          <a:lstStyle/>
          <a:p>
            <a:endParaRPr lang="fr-TN"/>
          </a:p>
        </p:txBody>
      </p:sp>
      <p:sp>
        <p:nvSpPr>
          <p:cNvPr id="2" name="Rectangle 1">
            <a:extLst>
              <a:ext uri="{FF2B5EF4-FFF2-40B4-BE49-F238E27FC236}">
                <a16:creationId xmlns:a16="http://schemas.microsoft.com/office/drawing/2014/main" id="{E877D65E-B100-43F1-8201-7A14E1C3E31B}"/>
              </a:ext>
            </a:extLst>
          </p:cNvPr>
          <p:cNvSpPr>
            <a:spLocks noGrp="1"/>
          </p:cNvSpPr>
          <p:nvPr/>
        </p:nvSpPr>
        <p:spPr>
          <a:xfrm>
            <a:off x="0" y="0"/>
            <a:ext cx="12192000" cy="247650"/>
          </a:xfrm>
          <a:prstGeom prst="rect">
            <a:avLst/>
          </a:prstGeom>
          <a:solidFill>
            <a:srgbClr val="0A1A2F"/>
          </a:solidFill>
          <a:ln w="0">
            <a:solidFill>
              <a:srgbClr val="000000">
                <a:alpha val="0"/>
              </a:srgbClr>
            </a:solidFill>
            <a:prstDash val="solid"/>
          </a:ln>
        </p:spPr>
        <p:txBody>
          <a:bodyPr/>
          <a:lstStyle/>
          <a:p>
            <a:endParaRPr lang="fr-TN"/>
          </a:p>
        </p:txBody>
      </p:sp>
      <p:sp>
        <p:nvSpPr>
          <p:cNvPr id="3" name="Rectangle 2">
            <a:extLst>
              <a:ext uri="{FF2B5EF4-FFF2-40B4-BE49-F238E27FC236}">
                <a16:creationId xmlns:a16="http://schemas.microsoft.com/office/drawing/2014/main" id="{BD7BA448-5E58-498D-8CD1-DF65FCA190CF}"/>
              </a:ext>
            </a:extLst>
          </p:cNvPr>
          <p:cNvSpPr>
            <a:spLocks noGrp="1"/>
          </p:cNvSpPr>
          <p:nvPr/>
        </p:nvSpPr>
        <p:spPr>
          <a:xfrm>
            <a:off x="0" y="247650"/>
            <a:ext cx="2095500" cy="57150"/>
          </a:xfrm>
          <a:prstGeom prst="rect">
            <a:avLst/>
          </a:prstGeom>
          <a:solidFill>
            <a:srgbClr val="E07A5F"/>
          </a:solidFill>
          <a:ln w="0">
            <a:solidFill>
              <a:srgbClr val="000000">
                <a:alpha val="0"/>
              </a:srgbClr>
            </a:solidFill>
            <a:prstDash val="solid"/>
          </a:ln>
        </p:spPr>
        <p:txBody>
          <a:bodyPr/>
          <a:lstStyle/>
          <a:p>
            <a:endParaRPr lang="fr-TN"/>
          </a:p>
        </p:txBody>
      </p:sp>
      <p:sp>
        <p:nvSpPr>
          <p:cNvPr id="4" name="Rectangle 3">
            <a:extLst>
              <a:ext uri="{FF2B5EF4-FFF2-40B4-BE49-F238E27FC236}">
                <a16:creationId xmlns:a16="http://schemas.microsoft.com/office/drawing/2014/main" id="{F1AB98F3-640A-46F5-9207-72104D02BB64}"/>
              </a:ext>
            </a:extLst>
          </p:cNvPr>
          <p:cNvSpPr>
            <a:spLocks noGrp="1"/>
          </p:cNvSpPr>
          <p:nvPr/>
        </p:nvSpPr>
        <p:spPr>
          <a:xfrm>
            <a:off x="704850" y="552450"/>
            <a:ext cx="2095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0F8B8D"/>
                </a:solidFill>
                <a:latin typeface="Aptos"/>
                <a:ea typeface="Aptos"/>
                <a:cs typeface="Aptos"/>
              </a:defRPr>
            </a:pPr>
            <a:r>
              <a:rPr sz="900" b="1">
                <a:solidFill>
                  <a:srgbClr val="0F8B8D"/>
                </a:solidFill>
                <a:latin typeface="Aptos"/>
                <a:ea typeface="Aptos"/>
                <a:cs typeface="Aptos"/>
              </a:rPr>
              <a:t>PLAN</a:t>
            </a:r>
          </a:p>
        </p:txBody>
      </p:sp>
      <p:sp>
        <p:nvSpPr>
          <p:cNvPr id="6" name="Rectangle 5">
            <a:extLst>
              <a:ext uri="{FF2B5EF4-FFF2-40B4-BE49-F238E27FC236}">
                <a16:creationId xmlns:a16="http://schemas.microsoft.com/office/drawing/2014/main" id="{D21EEE67-F7FB-474C-82C4-5E6DF8B32F70}"/>
              </a:ext>
            </a:extLst>
          </p:cNvPr>
          <p:cNvSpPr>
            <a:spLocks noGrp="1"/>
          </p:cNvSpPr>
          <p:nvPr/>
        </p:nvSpPr>
        <p:spPr>
          <a:xfrm>
            <a:off x="7277100" y="1367958"/>
            <a:ext cx="4210051" cy="586628"/>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5A6F7E"/>
                </a:solidFill>
                <a:latin typeface="Aptos"/>
                <a:ea typeface="Aptos"/>
                <a:cs typeface="Aptos"/>
              </a:defRPr>
            </a:pPr>
            <a:r>
              <a:rPr sz="1400" b="0" dirty="0" err="1">
                <a:solidFill>
                  <a:srgbClr val="5A6F7E"/>
                </a:solidFill>
                <a:latin typeface="Aptos"/>
                <a:ea typeface="Aptos"/>
                <a:cs typeface="Aptos"/>
              </a:rPr>
              <a:t>L'idée</a:t>
            </a:r>
            <a:r>
              <a:rPr sz="1400" b="0" dirty="0">
                <a:solidFill>
                  <a:srgbClr val="5A6F7E"/>
                </a:solidFill>
                <a:latin typeface="Aptos"/>
                <a:ea typeface="Aptos"/>
                <a:cs typeface="Aptos"/>
              </a:rPr>
              <a:t> est de </a:t>
            </a:r>
            <a:r>
              <a:rPr sz="1400" b="0" dirty="0" err="1">
                <a:solidFill>
                  <a:srgbClr val="5A6F7E"/>
                </a:solidFill>
                <a:latin typeface="Aptos"/>
                <a:ea typeface="Aptos"/>
                <a:cs typeface="Aptos"/>
              </a:rPr>
              <a:t>raconter</a:t>
            </a:r>
            <a:r>
              <a:rPr sz="1400" b="0" dirty="0">
                <a:solidFill>
                  <a:srgbClr val="5A6F7E"/>
                </a:solidFill>
                <a:latin typeface="Aptos"/>
                <a:ea typeface="Aptos"/>
                <a:cs typeface="Aptos"/>
              </a:rPr>
              <a:t> la transformation progressive de la donnée, et non de </a:t>
            </a:r>
            <a:r>
              <a:rPr sz="1400" b="0" dirty="0" err="1">
                <a:solidFill>
                  <a:srgbClr val="5A6F7E"/>
                </a:solidFill>
                <a:latin typeface="Aptos"/>
                <a:ea typeface="Aptos"/>
                <a:cs typeface="Aptos"/>
              </a:rPr>
              <a:t>présenter</a:t>
            </a:r>
            <a:r>
              <a:rPr sz="1400" b="0" dirty="0">
                <a:solidFill>
                  <a:srgbClr val="5A6F7E"/>
                </a:solidFill>
                <a:latin typeface="Aptos"/>
                <a:ea typeface="Aptos"/>
                <a:cs typeface="Aptos"/>
              </a:rPr>
              <a:t> des </a:t>
            </a:r>
            <a:r>
              <a:rPr sz="1400" b="0" dirty="0" err="1">
                <a:solidFill>
                  <a:srgbClr val="5A6F7E"/>
                </a:solidFill>
                <a:latin typeface="Aptos"/>
                <a:ea typeface="Aptos"/>
                <a:cs typeface="Aptos"/>
              </a:rPr>
              <a:t>outils</a:t>
            </a:r>
            <a:r>
              <a:rPr sz="1400" b="0" dirty="0">
                <a:solidFill>
                  <a:srgbClr val="5A6F7E"/>
                </a:solidFill>
                <a:latin typeface="Aptos"/>
                <a:ea typeface="Aptos"/>
                <a:cs typeface="Aptos"/>
              </a:rPr>
              <a:t> </a:t>
            </a:r>
            <a:r>
              <a:rPr sz="1400" b="0" dirty="0" err="1">
                <a:solidFill>
                  <a:srgbClr val="5A6F7E"/>
                </a:solidFill>
                <a:latin typeface="Aptos"/>
                <a:ea typeface="Aptos"/>
                <a:cs typeface="Aptos"/>
              </a:rPr>
              <a:t>séparés</a:t>
            </a:r>
            <a:r>
              <a:rPr sz="1400" b="0" dirty="0">
                <a:solidFill>
                  <a:srgbClr val="5A6F7E"/>
                </a:solidFill>
                <a:latin typeface="Aptos"/>
                <a:ea typeface="Aptos"/>
                <a:cs typeface="Aptos"/>
              </a:rPr>
              <a:t>.</a:t>
            </a:r>
          </a:p>
        </p:txBody>
      </p:sp>
      <p:sp>
        <p:nvSpPr>
          <p:cNvPr id="7" name="Rectangle 6">
            <a:extLst>
              <a:ext uri="{FF2B5EF4-FFF2-40B4-BE49-F238E27FC236}">
                <a16:creationId xmlns:a16="http://schemas.microsoft.com/office/drawing/2014/main" id="{94ABEDC9-2DCD-42B3-A4E8-A5FA62E654F3}"/>
              </a:ext>
            </a:extLst>
          </p:cNvPr>
          <p:cNvSpPr>
            <a:spLocks noGrp="1"/>
          </p:cNvSpPr>
          <p:nvPr/>
        </p:nvSpPr>
        <p:spPr>
          <a:xfrm>
            <a:off x="790575" y="2628900"/>
            <a:ext cx="514350" cy="342900"/>
          </a:xfrm>
          <a:prstGeom prst="rect">
            <a:avLst/>
          </a:prstGeom>
          <a:solidFill>
            <a:srgbClr val="0F8B8D"/>
          </a:solidFill>
          <a:ln w="0">
            <a:solidFill>
              <a:srgbClr val="000000">
                <a:alpha val="0"/>
              </a:srgbClr>
            </a:solidFill>
            <a:prstDash val="solid"/>
          </a:ln>
        </p:spPr>
        <p:txBody>
          <a:bodyPr/>
          <a:lstStyle/>
          <a:p>
            <a:endParaRPr lang="fr-TN"/>
          </a:p>
        </p:txBody>
      </p:sp>
      <p:sp>
        <p:nvSpPr>
          <p:cNvPr id="8" name="Rectangle 7">
            <a:extLst>
              <a:ext uri="{FF2B5EF4-FFF2-40B4-BE49-F238E27FC236}">
                <a16:creationId xmlns:a16="http://schemas.microsoft.com/office/drawing/2014/main" id="{0801A6E7-E3BF-49FF-A36F-A8D1BA4BB83F}"/>
              </a:ext>
            </a:extLst>
          </p:cNvPr>
          <p:cNvSpPr>
            <a:spLocks noGrp="1"/>
          </p:cNvSpPr>
          <p:nvPr/>
        </p:nvSpPr>
        <p:spPr>
          <a:xfrm>
            <a:off x="790575" y="2724150"/>
            <a:ext cx="5143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1">
                <a:solidFill>
                  <a:srgbClr val="FFFFFF"/>
                </a:solidFill>
                <a:latin typeface="Aptos"/>
                <a:ea typeface="Aptos"/>
                <a:cs typeface="Aptos"/>
              </a:defRPr>
            </a:pPr>
            <a:r>
              <a:rPr sz="1125" b="1">
                <a:solidFill>
                  <a:srgbClr val="FFFFFF"/>
                </a:solidFill>
                <a:latin typeface="Aptos"/>
                <a:ea typeface="Aptos"/>
                <a:cs typeface="Aptos"/>
              </a:rPr>
              <a:t>1</a:t>
            </a:r>
          </a:p>
        </p:txBody>
      </p:sp>
      <p:sp>
        <p:nvSpPr>
          <p:cNvPr id="9" name="Rectangle 8">
            <a:extLst>
              <a:ext uri="{FF2B5EF4-FFF2-40B4-BE49-F238E27FC236}">
                <a16:creationId xmlns:a16="http://schemas.microsoft.com/office/drawing/2014/main" id="{62EA6D40-0A1A-40A8-9140-9F16C4B316D3}"/>
              </a:ext>
            </a:extLst>
          </p:cNvPr>
          <p:cNvSpPr>
            <a:spLocks noGrp="1"/>
          </p:cNvSpPr>
          <p:nvPr/>
        </p:nvSpPr>
        <p:spPr>
          <a:xfrm>
            <a:off x="1514475" y="2647950"/>
            <a:ext cx="3143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12304C"/>
                </a:solidFill>
                <a:latin typeface="Aptos"/>
                <a:ea typeface="Aptos"/>
                <a:cs typeface="Aptos"/>
              </a:defRPr>
            </a:pPr>
            <a:r>
              <a:rPr sz="1275" b="1">
                <a:solidFill>
                  <a:srgbClr val="12304C"/>
                </a:solidFill>
                <a:latin typeface="Aptos"/>
                <a:ea typeface="Aptos"/>
                <a:cs typeface="Aptos"/>
              </a:rPr>
              <a:t>Contexte et objectif</a:t>
            </a:r>
          </a:p>
        </p:txBody>
      </p:sp>
      <p:sp>
        <p:nvSpPr>
          <p:cNvPr id="10" name="Rectangle 9">
            <a:extLst>
              <a:ext uri="{FF2B5EF4-FFF2-40B4-BE49-F238E27FC236}">
                <a16:creationId xmlns:a16="http://schemas.microsoft.com/office/drawing/2014/main" id="{5B5E50BC-A77D-4DE2-BB91-CCC2372CAA79}"/>
              </a:ext>
            </a:extLst>
          </p:cNvPr>
          <p:cNvSpPr>
            <a:spLocks noGrp="1"/>
          </p:cNvSpPr>
          <p:nvPr/>
        </p:nvSpPr>
        <p:spPr>
          <a:xfrm>
            <a:off x="1514475" y="2838450"/>
            <a:ext cx="4095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5A6F7E"/>
                </a:solidFill>
                <a:latin typeface="Aptos"/>
                <a:ea typeface="Aptos"/>
                <a:cs typeface="Aptos"/>
              </a:defRPr>
            </a:pPr>
            <a:r>
              <a:rPr sz="975" b="0">
                <a:solidFill>
                  <a:srgbClr val="5A6F7E"/>
                </a:solidFill>
                <a:latin typeface="Aptos"/>
                <a:ea typeface="Aptos"/>
                <a:cs typeface="Aptos"/>
              </a:rPr>
              <a:t>Pourquoi un système décisionnel est nécessaire</a:t>
            </a:r>
          </a:p>
        </p:txBody>
      </p:sp>
      <p:sp>
        <p:nvSpPr>
          <p:cNvPr id="11" name="Rectangle 10">
            <a:extLst>
              <a:ext uri="{FF2B5EF4-FFF2-40B4-BE49-F238E27FC236}">
                <a16:creationId xmlns:a16="http://schemas.microsoft.com/office/drawing/2014/main" id="{0A200EA4-EBE2-442B-ABC3-4B76381ED7D6}"/>
              </a:ext>
            </a:extLst>
          </p:cNvPr>
          <p:cNvSpPr>
            <a:spLocks noGrp="1"/>
          </p:cNvSpPr>
          <p:nvPr/>
        </p:nvSpPr>
        <p:spPr>
          <a:xfrm>
            <a:off x="790575" y="3181350"/>
            <a:ext cx="514350" cy="342900"/>
          </a:xfrm>
          <a:prstGeom prst="rect">
            <a:avLst/>
          </a:prstGeom>
          <a:solidFill>
            <a:srgbClr val="E07A5F"/>
          </a:solidFill>
          <a:ln w="0">
            <a:solidFill>
              <a:srgbClr val="000000">
                <a:alpha val="0"/>
              </a:srgbClr>
            </a:solidFill>
            <a:prstDash val="solid"/>
          </a:ln>
        </p:spPr>
        <p:txBody>
          <a:bodyPr/>
          <a:lstStyle/>
          <a:p>
            <a:endParaRPr lang="fr-TN"/>
          </a:p>
        </p:txBody>
      </p:sp>
      <p:sp>
        <p:nvSpPr>
          <p:cNvPr id="12" name="Rectangle 11">
            <a:extLst>
              <a:ext uri="{FF2B5EF4-FFF2-40B4-BE49-F238E27FC236}">
                <a16:creationId xmlns:a16="http://schemas.microsoft.com/office/drawing/2014/main" id="{B77455EA-8300-4157-B964-F0017E3A446B}"/>
              </a:ext>
            </a:extLst>
          </p:cNvPr>
          <p:cNvSpPr>
            <a:spLocks noGrp="1"/>
          </p:cNvSpPr>
          <p:nvPr/>
        </p:nvSpPr>
        <p:spPr>
          <a:xfrm>
            <a:off x="790575" y="3276600"/>
            <a:ext cx="5143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1">
                <a:solidFill>
                  <a:srgbClr val="FFFFFF"/>
                </a:solidFill>
                <a:latin typeface="Aptos"/>
                <a:ea typeface="Aptos"/>
                <a:cs typeface="Aptos"/>
              </a:defRPr>
            </a:pPr>
            <a:r>
              <a:rPr sz="1125" b="1">
                <a:solidFill>
                  <a:srgbClr val="FFFFFF"/>
                </a:solidFill>
                <a:latin typeface="Aptos"/>
                <a:ea typeface="Aptos"/>
                <a:cs typeface="Aptos"/>
              </a:rPr>
              <a:t>2</a:t>
            </a:r>
          </a:p>
        </p:txBody>
      </p:sp>
      <p:sp>
        <p:nvSpPr>
          <p:cNvPr id="13" name="Rectangle 12">
            <a:extLst>
              <a:ext uri="{FF2B5EF4-FFF2-40B4-BE49-F238E27FC236}">
                <a16:creationId xmlns:a16="http://schemas.microsoft.com/office/drawing/2014/main" id="{759F1FB2-44A0-4EDA-BCAB-5AEF8FCBBB8C}"/>
              </a:ext>
            </a:extLst>
          </p:cNvPr>
          <p:cNvSpPr>
            <a:spLocks noGrp="1"/>
          </p:cNvSpPr>
          <p:nvPr/>
        </p:nvSpPr>
        <p:spPr>
          <a:xfrm>
            <a:off x="1514475" y="3200400"/>
            <a:ext cx="3143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12304C"/>
                </a:solidFill>
                <a:latin typeface="Aptos"/>
                <a:ea typeface="Aptos"/>
                <a:cs typeface="Aptos"/>
              </a:defRPr>
            </a:pPr>
            <a:r>
              <a:rPr sz="1275" b="1">
                <a:solidFill>
                  <a:srgbClr val="12304C"/>
                </a:solidFill>
                <a:latin typeface="Aptos"/>
                <a:ea typeface="Aptos"/>
                <a:cs typeface="Aptos"/>
              </a:rPr>
              <a:t>Source AdventureWorks</a:t>
            </a:r>
          </a:p>
        </p:txBody>
      </p:sp>
      <p:sp>
        <p:nvSpPr>
          <p:cNvPr id="14" name="Rectangle 13">
            <a:extLst>
              <a:ext uri="{FF2B5EF4-FFF2-40B4-BE49-F238E27FC236}">
                <a16:creationId xmlns:a16="http://schemas.microsoft.com/office/drawing/2014/main" id="{2D3927BA-8F84-43EA-A0D9-917D3D605F99}"/>
              </a:ext>
            </a:extLst>
          </p:cNvPr>
          <p:cNvSpPr>
            <a:spLocks noGrp="1"/>
          </p:cNvSpPr>
          <p:nvPr/>
        </p:nvSpPr>
        <p:spPr>
          <a:xfrm>
            <a:off x="1514475" y="3390900"/>
            <a:ext cx="4095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5A6F7E"/>
                </a:solidFill>
                <a:latin typeface="Aptos"/>
                <a:ea typeface="Aptos"/>
                <a:cs typeface="Aptos"/>
              </a:defRPr>
            </a:pPr>
            <a:r>
              <a:rPr sz="975" b="0">
                <a:solidFill>
                  <a:srgbClr val="5A6F7E"/>
                </a:solidFill>
                <a:latin typeface="Aptos"/>
                <a:ea typeface="Aptos"/>
                <a:cs typeface="Aptos"/>
              </a:rPr>
              <a:t>Ce que contient la base opérationnelle</a:t>
            </a:r>
          </a:p>
        </p:txBody>
      </p:sp>
      <p:sp>
        <p:nvSpPr>
          <p:cNvPr id="15" name="Rectangle 14">
            <a:extLst>
              <a:ext uri="{FF2B5EF4-FFF2-40B4-BE49-F238E27FC236}">
                <a16:creationId xmlns:a16="http://schemas.microsoft.com/office/drawing/2014/main" id="{E44131CA-0B74-4944-ADBC-2A4EA51AC1E1}"/>
              </a:ext>
            </a:extLst>
          </p:cNvPr>
          <p:cNvSpPr>
            <a:spLocks noGrp="1"/>
          </p:cNvSpPr>
          <p:nvPr/>
        </p:nvSpPr>
        <p:spPr>
          <a:xfrm>
            <a:off x="790575" y="3733800"/>
            <a:ext cx="514350" cy="342900"/>
          </a:xfrm>
          <a:prstGeom prst="rect">
            <a:avLst/>
          </a:prstGeom>
          <a:solidFill>
            <a:srgbClr val="0F8B8D"/>
          </a:solidFill>
          <a:ln w="0">
            <a:solidFill>
              <a:srgbClr val="000000">
                <a:alpha val="0"/>
              </a:srgbClr>
            </a:solidFill>
            <a:prstDash val="solid"/>
          </a:ln>
        </p:spPr>
        <p:txBody>
          <a:bodyPr/>
          <a:lstStyle/>
          <a:p>
            <a:endParaRPr lang="fr-TN"/>
          </a:p>
        </p:txBody>
      </p:sp>
      <p:sp>
        <p:nvSpPr>
          <p:cNvPr id="16" name="Rectangle 15">
            <a:extLst>
              <a:ext uri="{FF2B5EF4-FFF2-40B4-BE49-F238E27FC236}">
                <a16:creationId xmlns:a16="http://schemas.microsoft.com/office/drawing/2014/main" id="{6972A19B-B2B2-46F1-BCAA-3261CD5414F9}"/>
              </a:ext>
            </a:extLst>
          </p:cNvPr>
          <p:cNvSpPr>
            <a:spLocks noGrp="1"/>
          </p:cNvSpPr>
          <p:nvPr/>
        </p:nvSpPr>
        <p:spPr>
          <a:xfrm>
            <a:off x="790575" y="3829050"/>
            <a:ext cx="5143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1">
                <a:solidFill>
                  <a:srgbClr val="FFFFFF"/>
                </a:solidFill>
                <a:latin typeface="Aptos"/>
                <a:ea typeface="Aptos"/>
                <a:cs typeface="Aptos"/>
              </a:defRPr>
            </a:pPr>
            <a:r>
              <a:rPr sz="1125" b="1">
                <a:solidFill>
                  <a:srgbClr val="FFFFFF"/>
                </a:solidFill>
                <a:latin typeface="Aptos"/>
                <a:ea typeface="Aptos"/>
                <a:cs typeface="Aptos"/>
              </a:rPr>
              <a:t>3</a:t>
            </a:r>
          </a:p>
        </p:txBody>
      </p:sp>
      <p:sp>
        <p:nvSpPr>
          <p:cNvPr id="17" name="Rectangle 16">
            <a:extLst>
              <a:ext uri="{FF2B5EF4-FFF2-40B4-BE49-F238E27FC236}">
                <a16:creationId xmlns:a16="http://schemas.microsoft.com/office/drawing/2014/main" id="{3665C569-0237-489C-B8B1-A6413A084336}"/>
              </a:ext>
            </a:extLst>
          </p:cNvPr>
          <p:cNvSpPr>
            <a:spLocks noGrp="1"/>
          </p:cNvSpPr>
          <p:nvPr/>
        </p:nvSpPr>
        <p:spPr>
          <a:xfrm>
            <a:off x="1514475" y="3752850"/>
            <a:ext cx="3143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12304C"/>
                </a:solidFill>
                <a:latin typeface="Aptos"/>
                <a:ea typeface="Aptos"/>
                <a:cs typeface="Aptos"/>
              </a:defRPr>
            </a:pPr>
            <a:r>
              <a:rPr sz="1275" b="1">
                <a:solidFill>
                  <a:srgbClr val="12304C"/>
                </a:solidFill>
                <a:latin typeface="Aptos"/>
                <a:ea typeface="Aptos"/>
                <a:cs typeface="Aptos"/>
              </a:rPr>
              <a:t>Data Warehouse</a:t>
            </a:r>
          </a:p>
        </p:txBody>
      </p:sp>
      <p:sp>
        <p:nvSpPr>
          <p:cNvPr id="18" name="Rectangle 17">
            <a:extLst>
              <a:ext uri="{FF2B5EF4-FFF2-40B4-BE49-F238E27FC236}">
                <a16:creationId xmlns:a16="http://schemas.microsoft.com/office/drawing/2014/main" id="{A1B389EF-2B0D-42CA-8634-5EA7BB4D35ED}"/>
              </a:ext>
            </a:extLst>
          </p:cNvPr>
          <p:cNvSpPr>
            <a:spLocks noGrp="1"/>
          </p:cNvSpPr>
          <p:nvPr/>
        </p:nvSpPr>
        <p:spPr>
          <a:xfrm>
            <a:off x="1514475" y="3943350"/>
            <a:ext cx="4095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5A6F7E"/>
                </a:solidFill>
                <a:latin typeface="Aptos"/>
                <a:ea typeface="Aptos"/>
                <a:cs typeface="Aptos"/>
              </a:defRPr>
            </a:pPr>
            <a:r>
              <a:rPr sz="975" b="0">
                <a:solidFill>
                  <a:srgbClr val="5A6F7E"/>
                </a:solidFill>
                <a:latin typeface="Aptos"/>
                <a:ea typeface="Aptos"/>
                <a:cs typeface="Aptos"/>
              </a:rPr>
              <a:t>Comment les données sont structurées pour l'analyse</a:t>
            </a:r>
          </a:p>
        </p:txBody>
      </p:sp>
      <p:sp>
        <p:nvSpPr>
          <p:cNvPr id="19" name="Rectangle 18">
            <a:extLst>
              <a:ext uri="{FF2B5EF4-FFF2-40B4-BE49-F238E27FC236}">
                <a16:creationId xmlns:a16="http://schemas.microsoft.com/office/drawing/2014/main" id="{0AF95418-6574-44D7-8E82-86689F0D4C0D}"/>
              </a:ext>
            </a:extLst>
          </p:cNvPr>
          <p:cNvSpPr>
            <a:spLocks noGrp="1"/>
          </p:cNvSpPr>
          <p:nvPr/>
        </p:nvSpPr>
        <p:spPr>
          <a:xfrm>
            <a:off x="790575" y="4286250"/>
            <a:ext cx="514350" cy="342900"/>
          </a:xfrm>
          <a:prstGeom prst="rect">
            <a:avLst/>
          </a:prstGeom>
          <a:solidFill>
            <a:srgbClr val="E07A5F"/>
          </a:solidFill>
          <a:ln w="0">
            <a:solidFill>
              <a:srgbClr val="000000">
                <a:alpha val="0"/>
              </a:srgbClr>
            </a:solidFill>
            <a:prstDash val="solid"/>
          </a:ln>
        </p:spPr>
        <p:txBody>
          <a:bodyPr/>
          <a:lstStyle/>
          <a:p>
            <a:endParaRPr lang="fr-TN"/>
          </a:p>
        </p:txBody>
      </p:sp>
      <p:sp>
        <p:nvSpPr>
          <p:cNvPr id="20" name="Rectangle 19">
            <a:extLst>
              <a:ext uri="{FF2B5EF4-FFF2-40B4-BE49-F238E27FC236}">
                <a16:creationId xmlns:a16="http://schemas.microsoft.com/office/drawing/2014/main" id="{7A4A4FC1-C303-4180-A272-60A2539626DC}"/>
              </a:ext>
            </a:extLst>
          </p:cNvPr>
          <p:cNvSpPr>
            <a:spLocks noGrp="1"/>
          </p:cNvSpPr>
          <p:nvPr/>
        </p:nvSpPr>
        <p:spPr>
          <a:xfrm>
            <a:off x="790575" y="4381500"/>
            <a:ext cx="5143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1">
                <a:solidFill>
                  <a:srgbClr val="FFFFFF"/>
                </a:solidFill>
                <a:latin typeface="Aptos"/>
                <a:ea typeface="Aptos"/>
                <a:cs typeface="Aptos"/>
              </a:defRPr>
            </a:pPr>
            <a:r>
              <a:rPr sz="1125" b="1">
                <a:solidFill>
                  <a:srgbClr val="FFFFFF"/>
                </a:solidFill>
                <a:latin typeface="Aptos"/>
                <a:ea typeface="Aptos"/>
                <a:cs typeface="Aptos"/>
              </a:rPr>
              <a:t>4</a:t>
            </a:r>
          </a:p>
        </p:txBody>
      </p:sp>
      <p:sp>
        <p:nvSpPr>
          <p:cNvPr id="21" name="Rectangle 20">
            <a:extLst>
              <a:ext uri="{FF2B5EF4-FFF2-40B4-BE49-F238E27FC236}">
                <a16:creationId xmlns:a16="http://schemas.microsoft.com/office/drawing/2014/main" id="{49742082-D2AF-4571-A776-60EBC4E72545}"/>
              </a:ext>
            </a:extLst>
          </p:cNvPr>
          <p:cNvSpPr>
            <a:spLocks noGrp="1"/>
          </p:cNvSpPr>
          <p:nvPr/>
        </p:nvSpPr>
        <p:spPr>
          <a:xfrm>
            <a:off x="1514475" y="4305300"/>
            <a:ext cx="3143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12304C"/>
                </a:solidFill>
                <a:latin typeface="Aptos"/>
                <a:ea typeface="Aptos"/>
                <a:cs typeface="Aptos"/>
              </a:defRPr>
            </a:pPr>
            <a:r>
              <a:rPr sz="1275" b="1">
                <a:solidFill>
                  <a:srgbClr val="12304C"/>
                </a:solidFill>
                <a:latin typeface="Aptos"/>
                <a:ea typeface="Aptos"/>
                <a:cs typeface="Aptos"/>
              </a:rPr>
              <a:t>ETL SSIS</a:t>
            </a:r>
          </a:p>
        </p:txBody>
      </p:sp>
      <p:sp>
        <p:nvSpPr>
          <p:cNvPr id="22" name="Rectangle 21">
            <a:extLst>
              <a:ext uri="{FF2B5EF4-FFF2-40B4-BE49-F238E27FC236}">
                <a16:creationId xmlns:a16="http://schemas.microsoft.com/office/drawing/2014/main" id="{B0DDE8FE-1C2E-4665-B14D-DC7EB8CA19F8}"/>
              </a:ext>
            </a:extLst>
          </p:cNvPr>
          <p:cNvSpPr>
            <a:spLocks noGrp="1"/>
          </p:cNvSpPr>
          <p:nvPr/>
        </p:nvSpPr>
        <p:spPr>
          <a:xfrm>
            <a:off x="1514475" y="4495800"/>
            <a:ext cx="4095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5A6F7E"/>
                </a:solidFill>
                <a:latin typeface="Aptos"/>
                <a:ea typeface="Aptos"/>
                <a:cs typeface="Aptos"/>
              </a:defRPr>
            </a:pPr>
            <a:r>
              <a:rPr sz="975" b="0">
                <a:solidFill>
                  <a:srgbClr val="5A6F7E"/>
                </a:solidFill>
                <a:latin typeface="Aptos"/>
                <a:ea typeface="Aptos"/>
                <a:cs typeface="Aptos"/>
              </a:rPr>
              <a:t>Comment les données sont chargées automatiquement</a:t>
            </a:r>
          </a:p>
        </p:txBody>
      </p:sp>
      <p:sp>
        <p:nvSpPr>
          <p:cNvPr id="23" name="Rectangle 22">
            <a:extLst>
              <a:ext uri="{FF2B5EF4-FFF2-40B4-BE49-F238E27FC236}">
                <a16:creationId xmlns:a16="http://schemas.microsoft.com/office/drawing/2014/main" id="{CEFBB95C-F5F9-4901-B600-93BFFF3B4A61}"/>
              </a:ext>
            </a:extLst>
          </p:cNvPr>
          <p:cNvSpPr>
            <a:spLocks noGrp="1"/>
          </p:cNvSpPr>
          <p:nvPr/>
        </p:nvSpPr>
        <p:spPr>
          <a:xfrm>
            <a:off x="790575" y="4838700"/>
            <a:ext cx="514350" cy="342900"/>
          </a:xfrm>
          <a:prstGeom prst="rect">
            <a:avLst/>
          </a:prstGeom>
          <a:solidFill>
            <a:srgbClr val="0F8B8D"/>
          </a:solidFill>
          <a:ln w="0">
            <a:solidFill>
              <a:srgbClr val="000000">
                <a:alpha val="0"/>
              </a:srgbClr>
            </a:solidFill>
            <a:prstDash val="solid"/>
          </a:ln>
        </p:spPr>
        <p:txBody>
          <a:bodyPr/>
          <a:lstStyle/>
          <a:p>
            <a:endParaRPr lang="fr-TN"/>
          </a:p>
        </p:txBody>
      </p:sp>
      <p:sp>
        <p:nvSpPr>
          <p:cNvPr id="24" name="Rectangle 23">
            <a:extLst>
              <a:ext uri="{FF2B5EF4-FFF2-40B4-BE49-F238E27FC236}">
                <a16:creationId xmlns:a16="http://schemas.microsoft.com/office/drawing/2014/main" id="{793F2A1A-0685-44D0-A835-DB1558FF1EC8}"/>
              </a:ext>
            </a:extLst>
          </p:cNvPr>
          <p:cNvSpPr>
            <a:spLocks noGrp="1"/>
          </p:cNvSpPr>
          <p:nvPr/>
        </p:nvSpPr>
        <p:spPr>
          <a:xfrm>
            <a:off x="790575" y="4933950"/>
            <a:ext cx="5143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1">
                <a:solidFill>
                  <a:srgbClr val="FFFFFF"/>
                </a:solidFill>
                <a:latin typeface="Aptos"/>
                <a:ea typeface="Aptos"/>
                <a:cs typeface="Aptos"/>
              </a:defRPr>
            </a:pPr>
            <a:r>
              <a:rPr sz="1125" b="1">
                <a:solidFill>
                  <a:srgbClr val="FFFFFF"/>
                </a:solidFill>
                <a:latin typeface="Aptos"/>
                <a:ea typeface="Aptos"/>
                <a:cs typeface="Aptos"/>
              </a:rPr>
              <a:t>5</a:t>
            </a:r>
          </a:p>
        </p:txBody>
      </p:sp>
      <p:sp>
        <p:nvSpPr>
          <p:cNvPr id="25" name="Rectangle 24">
            <a:extLst>
              <a:ext uri="{FF2B5EF4-FFF2-40B4-BE49-F238E27FC236}">
                <a16:creationId xmlns:a16="http://schemas.microsoft.com/office/drawing/2014/main" id="{D369CB73-670D-4418-BFFE-96BCDE3E101D}"/>
              </a:ext>
            </a:extLst>
          </p:cNvPr>
          <p:cNvSpPr>
            <a:spLocks noGrp="1"/>
          </p:cNvSpPr>
          <p:nvPr/>
        </p:nvSpPr>
        <p:spPr>
          <a:xfrm>
            <a:off x="1514475" y="4857750"/>
            <a:ext cx="3143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12304C"/>
                </a:solidFill>
                <a:latin typeface="Aptos"/>
                <a:ea typeface="Aptos"/>
                <a:cs typeface="Aptos"/>
              </a:defRPr>
            </a:pPr>
            <a:r>
              <a:rPr sz="1275" b="1">
                <a:solidFill>
                  <a:srgbClr val="12304C"/>
                </a:solidFill>
                <a:latin typeface="Aptos"/>
                <a:ea typeface="Aptos"/>
                <a:cs typeface="Aptos"/>
              </a:rPr>
              <a:t>Cube SSAS</a:t>
            </a:r>
          </a:p>
        </p:txBody>
      </p:sp>
      <p:sp>
        <p:nvSpPr>
          <p:cNvPr id="26" name="Rectangle 25">
            <a:extLst>
              <a:ext uri="{FF2B5EF4-FFF2-40B4-BE49-F238E27FC236}">
                <a16:creationId xmlns:a16="http://schemas.microsoft.com/office/drawing/2014/main" id="{2A87026F-AD08-4610-8AD1-2E70CE23750D}"/>
              </a:ext>
            </a:extLst>
          </p:cNvPr>
          <p:cNvSpPr>
            <a:spLocks noGrp="1"/>
          </p:cNvSpPr>
          <p:nvPr/>
        </p:nvSpPr>
        <p:spPr>
          <a:xfrm>
            <a:off x="1514475" y="5048250"/>
            <a:ext cx="4095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5A6F7E"/>
                </a:solidFill>
                <a:latin typeface="Aptos"/>
                <a:ea typeface="Aptos"/>
                <a:cs typeface="Aptos"/>
              </a:defRPr>
            </a:pPr>
            <a:r>
              <a:rPr sz="975" b="0">
                <a:solidFill>
                  <a:srgbClr val="5A6F7E"/>
                </a:solidFill>
                <a:latin typeface="Aptos"/>
                <a:ea typeface="Aptos"/>
                <a:cs typeface="Aptos"/>
              </a:rPr>
              <a:t>Comment l'analyse multidimensionnelle est construite</a:t>
            </a:r>
          </a:p>
        </p:txBody>
      </p:sp>
      <p:sp>
        <p:nvSpPr>
          <p:cNvPr id="27" name="Rectangle 26">
            <a:extLst>
              <a:ext uri="{FF2B5EF4-FFF2-40B4-BE49-F238E27FC236}">
                <a16:creationId xmlns:a16="http://schemas.microsoft.com/office/drawing/2014/main" id="{B476F723-4522-4310-A4DB-B9C282F6C09E}"/>
              </a:ext>
            </a:extLst>
          </p:cNvPr>
          <p:cNvSpPr>
            <a:spLocks noGrp="1"/>
          </p:cNvSpPr>
          <p:nvPr/>
        </p:nvSpPr>
        <p:spPr>
          <a:xfrm>
            <a:off x="790575" y="5391150"/>
            <a:ext cx="514350" cy="342900"/>
          </a:xfrm>
          <a:prstGeom prst="rect">
            <a:avLst/>
          </a:prstGeom>
          <a:solidFill>
            <a:srgbClr val="E07A5F"/>
          </a:solidFill>
          <a:ln w="0">
            <a:solidFill>
              <a:srgbClr val="000000">
                <a:alpha val="0"/>
              </a:srgbClr>
            </a:solidFill>
            <a:prstDash val="solid"/>
          </a:ln>
        </p:spPr>
        <p:txBody>
          <a:bodyPr/>
          <a:lstStyle/>
          <a:p>
            <a:endParaRPr lang="fr-TN"/>
          </a:p>
        </p:txBody>
      </p:sp>
      <p:sp>
        <p:nvSpPr>
          <p:cNvPr id="28" name="Rectangle 27">
            <a:extLst>
              <a:ext uri="{FF2B5EF4-FFF2-40B4-BE49-F238E27FC236}">
                <a16:creationId xmlns:a16="http://schemas.microsoft.com/office/drawing/2014/main" id="{C38CA954-EB7B-48DF-9615-C90456A6A614}"/>
              </a:ext>
            </a:extLst>
          </p:cNvPr>
          <p:cNvSpPr>
            <a:spLocks noGrp="1"/>
          </p:cNvSpPr>
          <p:nvPr/>
        </p:nvSpPr>
        <p:spPr>
          <a:xfrm>
            <a:off x="790575" y="5486400"/>
            <a:ext cx="5143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1">
                <a:solidFill>
                  <a:srgbClr val="FFFFFF"/>
                </a:solidFill>
                <a:latin typeface="Aptos"/>
                <a:ea typeface="Aptos"/>
                <a:cs typeface="Aptos"/>
              </a:defRPr>
            </a:pPr>
            <a:r>
              <a:rPr sz="1125" b="1">
                <a:solidFill>
                  <a:srgbClr val="FFFFFF"/>
                </a:solidFill>
                <a:latin typeface="Aptos"/>
                <a:ea typeface="Aptos"/>
                <a:cs typeface="Aptos"/>
              </a:rPr>
              <a:t>6</a:t>
            </a:r>
          </a:p>
        </p:txBody>
      </p:sp>
      <p:sp>
        <p:nvSpPr>
          <p:cNvPr id="29" name="Rectangle 28">
            <a:extLst>
              <a:ext uri="{FF2B5EF4-FFF2-40B4-BE49-F238E27FC236}">
                <a16:creationId xmlns:a16="http://schemas.microsoft.com/office/drawing/2014/main" id="{7183ED52-77D3-4EA8-B45C-97BF66256FBF}"/>
              </a:ext>
            </a:extLst>
          </p:cNvPr>
          <p:cNvSpPr>
            <a:spLocks noGrp="1"/>
          </p:cNvSpPr>
          <p:nvPr/>
        </p:nvSpPr>
        <p:spPr>
          <a:xfrm>
            <a:off x="1514475" y="5410200"/>
            <a:ext cx="3143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12304C"/>
                </a:solidFill>
                <a:latin typeface="Aptos"/>
                <a:ea typeface="Aptos"/>
                <a:cs typeface="Aptos"/>
              </a:defRPr>
            </a:pPr>
            <a:r>
              <a:rPr sz="1275" b="1">
                <a:solidFill>
                  <a:srgbClr val="12304C"/>
                </a:solidFill>
                <a:latin typeface="Aptos"/>
                <a:ea typeface="Aptos"/>
                <a:cs typeface="Aptos"/>
              </a:rPr>
              <a:t>Power BI</a:t>
            </a:r>
          </a:p>
        </p:txBody>
      </p:sp>
      <p:sp>
        <p:nvSpPr>
          <p:cNvPr id="30" name="Rectangle 29">
            <a:extLst>
              <a:ext uri="{FF2B5EF4-FFF2-40B4-BE49-F238E27FC236}">
                <a16:creationId xmlns:a16="http://schemas.microsoft.com/office/drawing/2014/main" id="{45721EB2-0C5E-49DE-8782-36875E836713}"/>
              </a:ext>
            </a:extLst>
          </p:cNvPr>
          <p:cNvSpPr>
            <a:spLocks noGrp="1"/>
          </p:cNvSpPr>
          <p:nvPr/>
        </p:nvSpPr>
        <p:spPr>
          <a:xfrm>
            <a:off x="1514475" y="5600700"/>
            <a:ext cx="4095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5A6F7E"/>
                </a:solidFill>
                <a:latin typeface="Aptos"/>
                <a:ea typeface="Aptos"/>
                <a:cs typeface="Aptos"/>
              </a:defRPr>
            </a:pPr>
            <a:r>
              <a:rPr sz="975" b="0">
                <a:solidFill>
                  <a:srgbClr val="5A6F7E"/>
                </a:solidFill>
                <a:latin typeface="Aptos"/>
                <a:ea typeface="Aptos"/>
                <a:cs typeface="Aptos"/>
              </a:rPr>
              <a:t>Comment les résultats sont restitués au décideur</a:t>
            </a:r>
          </a:p>
        </p:txBody>
      </p:sp>
      <p:sp>
        <p:nvSpPr>
          <p:cNvPr id="31" name="Rectangle 30">
            <a:extLst>
              <a:ext uri="{FF2B5EF4-FFF2-40B4-BE49-F238E27FC236}">
                <a16:creationId xmlns:a16="http://schemas.microsoft.com/office/drawing/2014/main" id="{1EA63935-29D5-4956-8603-F7549F35B93C}"/>
              </a:ext>
            </a:extLst>
          </p:cNvPr>
          <p:cNvSpPr>
            <a:spLocks noGrp="1"/>
          </p:cNvSpPr>
          <p:nvPr/>
        </p:nvSpPr>
        <p:spPr>
          <a:xfrm>
            <a:off x="790575" y="5943600"/>
            <a:ext cx="514350" cy="342900"/>
          </a:xfrm>
          <a:prstGeom prst="rect">
            <a:avLst/>
          </a:prstGeom>
          <a:solidFill>
            <a:srgbClr val="0F8B8D"/>
          </a:solidFill>
          <a:ln w="0">
            <a:solidFill>
              <a:srgbClr val="000000">
                <a:alpha val="0"/>
              </a:srgbClr>
            </a:solidFill>
            <a:prstDash val="solid"/>
          </a:ln>
        </p:spPr>
        <p:txBody>
          <a:bodyPr/>
          <a:lstStyle/>
          <a:p>
            <a:endParaRPr lang="fr-TN"/>
          </a:p>
        </p:txBody>
      </p:sp>
      <p:sp>
        <p:nvSpPr>
          <p:cNvPr id="32" name="Rectangle 31">
            <a:extLst>
              <a:ext uri="{FF2B5EF4-FFF2-40B4-BE49-F238E27FC236}">
                <a16:creationId xmlns:a16="http://schemas.microsoft.com/office/drawing/2014/main" id="{5A2EDF36-0E66-4576-A820-50ACCE2029FE}"/>
              </a:ext>
            </a:extLst>
          </p:cNvPr>
          <p:cNvSpPr>
            <a:spLocks noGrp="1"/>
          </p:cNvSpPr>
          <p:nvPr/>
        </p:nvSpPr>
        <p:spPr>
          <a:xfrm>
            <a:off x="790575" y="6038850"/>
            <a:ext cx="5143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1">
                <a:solidFill>
                  <a:srgbClr val="FFFFFF"/>
                </a:solidFill>
                <a:latin typeface="Aptos"/>
                <a:ea typeface="Aptos"/>
                <a:cs typeface="Aptos"/>
              </a:defRPr>
            </a:pPr>
            <a:r>
              <a:rPr sz="1125" b="1">
                <a:solidFill>
                  <a:srgbClr val="FFFFFF"/>
                </a:solidFill>
                <a:latin typeface="Aptos"/>
                <a:ea typeface="Aptos"/>
                <a:cs typeface="Aptos"/>
              </a:rPr>
              <a:t>7</a:t>
            </a:r>
          </a:p>
        </p:txBody>
      </p:sp>
      <p:sp>
        <p:nvSpPr>
          <p:cNvPr id="33" name="Rectangle 32">
            <a:extLst>
              <a:ext uri="{FF2B5EF4-FFF2-40B4-BE49-F238E27FC236}">
                <a16:creationId xmlns:a16="http://schemas.microsoft.com/office/drawing/2014/main" id="{02CFAE25-45BC-4D1C-A913-4AD17A3AD331}"/>
              </a:ext>
            </a:extLst>
          </p:cNvPr>
          <p:cNvSpPr>
            <a:spLocks noGrp="1"/>
          </p:cNvSpPr>
          <p:nvPr/>
        </p:nvSpPr>
        <p:spPr>
          <a:xfrm>
            <a:off x="1514475" y="5962650"/>
            <a:ext cx="3143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12304C"/>
                </a:solidFill>
                <a:latin typeface="Aptos"/>
                <a:ea typeface="Aptos"/>
                <a:cs typeface="Aptos"/>
              </a:defRPr>
            </a:pPr>
            <a:r>
              <a:rPr sz="1275" b="1">
                <a:solidFill>
                  <a:srgbClr val="12304C"/>
                </a:solidFill>
                <a:latin typeface="Aptos"/>
                <a:ea typeface="Aptos"/>
                <a:cs typeface="Aptos"/>
              </a:rPr>
              <a:t>Résultats et conclusion</a:t>
            </a:r>
          </a:p>
        </p:txBody>
      </p:sp>
      <p:sp>
        <p:nvSpPr>
          <p:cNvPr id="34" name="Rectangle 33">
            <a:extLst>
              <a:ext uri="{FF2B5EF4-FFF2-40B4-BE49-F238E27FC236}">
                <a16:creationId xmlns:a16="http://schemas.microsoft.com/office/drawing/2014/main" id="{87B2B5AF-BE68-4B65-81EF-AECE1B7EA48A}"/>
              </a:ext>
            </a:extLst>
          </p:cNvPr>
          <p:cNvSpPr>
            <a:spLocks noGrp="1"/>
          </p:cNvSpPr>
          <p:nvPr/>
        </p:nvSpPr>
        <p:spPr>
          <a:xfrm>
            <a:off x="1514475" y="6153150"/>
            <a:ext cx="4095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5A6F7E"/>
                </a:solidFill>
                <a:latin typeface="Aptos"/>
                <a:ea typeface="Aptos"/>
                <a:cs typeface="Aptos"/>
              </a:defRPr>
            </a:pPr>
            <a:r>
              <a:rPr sz="975" b="0">
                <a:solidFill>
                  <a:srgbClr val="5A6F7E"/>
                </a:solidFill>
                <a:latin typeface="Aptos"/>
                <a:ea typeface="Aptos"/>
                <a:cs typeface="Aptos"/>
              </a:rPr>
              <a:t>Ce que le projet démontre réellement</a:t>
            </a:r>
          </a:p>
        </p:txBody>
      </p:sp>
      <p:sp>
        <p:nvSpPr>
          <p:cNvPr id="35" name="Rectangle 34">
            <a:extLst>
              <a:ext uri="{FF2B5EF4-FFF2-40B4-BE49-F238E27FC236}">
                <a16:creationId xmlns:a16="http://schemas.microsoft.com/office/drawing/2014/main" id="{5190F808-040B-46B7-B808-B96405934096}"/>
              </a:ext>
            </a:extLst>
          </p:cNvPr>
          <p:cNvSpPr>
            <a:spLocks noGrp="1"/>
          </p:cNvSpPr>
          <p:nvPr/>
        </p:nvSpPr>
        <p:spPr>
          <a:xfrm>
            <a:off x="7277100" y="2343150"/>
            <a:ext cx="3524250" cy="1390650"/>
          </a:xfrm>
          <a:prstGeom prst="rect">
            <a:avLst/>
          </a:prstGeom>
          <a:solidFill>
            <a:srgbClr val="0A1A2F"/>
          </a:solidFill>
          <a:ln w="0">
            <a:solidFill>
              <a:srgbClr val="000000">
                <a:alpha val="0"/>
              </a:srgbClr>
            </a:solidFill>
            <a:prstDash val="solid"/>
          </a:ln>
        </p:spPr>
        <p:txBody>
          <a:bodyPr/>
          <a:lstStyle/>
          <a:p>
            <a:endParaRPr lang="fr-TN"/>
          </a:p>
        </p:txBody>
      </p:sp>
      <p:sp>
        <p:nvSpPr>
          <p:cNvPr id="37" name="Rectangle 36">
            <a:extLst>
              <a:ext uri="{FF2B5EF4-FFF2-40B4-BE49-F238E27FC236}">
                <a16:creationId xmlns:a16="http://schemas.microsoft.com/office/drawing/2014/main" id="{C29009BE-9644-49B2-9850-4B53F40BAD33}"/>
              </a:ext>
            </a:extLst>
          </p:cNvPr>
          <p:cNvSpPr>
            <a:spLocks noGrp="1"/>
          </p:cNvSpPr>
          <p:nvPr/>
        </p:nvSpPr>
        <p:spPr>
          <a:xfrm>
            <a:off x="7562850" y="2647950"/>
            <a:ext cx="2705100" cy="914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DCE7F0"/>
                </a:solidFill>
                <a:latin typeface="Aptos"/>
                <a:ea typeface="Aptos"/>
                <a:cs typeface="Aptos"/>
              </a:defRPr>
            </a:pPr>
            <a:r>
              <a:rPr sz="1125" b="0" dirty="0">
                <a:solidFill>
                  <a:srgbClr val="DCE7F0"/>
                </a:solidFill>
                <a:latin typeface="Aptos"/>
                <a:ea typeface="Aptos"/>
                <a:cs typeface="Aptos"/>
              </a:rPr>
              <a:t>À </a:t>
            </a:r>
            <a:r>
              <a:rPr sz="1125" b="0" dirty="0" err="1">
                <a:solidFill>
                  <a:srgbClr val="DCE7F0"/>
                </a:solidFill>
                <a:latin typeface="Aptos"/>
                <a:ea typeface="Aptos"/>
                <a:cs typeface="Aptos"/>
              </a:rPr>
              <a:t>chaque</a:t>
            </a:r>
            <a:r>
              <a:rPr sz="1125" b="0" dirty="0">
                <a:solidFill>
                  <a:srgbClr val="DCE7F0"/>
                </a:solidFill>
                <a:latin typeface="Aptos"/>
                <a:ea typeface="Aptos"/>
                <a:cs typeface="Aptos"/>
              </a:rPr>
              <a:t> étape, </a:t>
            </a:r>
            <a:r>
              <a:rPr sz="1125" b="0" dirty="0" err="1">
                <a:solidFill>
                  <a:srgbClr val="DCE7F0"/>
                </a:solidFill>
                <a:latin typeface="Aptos"/>
                <a:ea typeface="Aptos"/>
                <a:cs typeface="Aptos"/>
              </a:rPr>
              <a:t>annoncer</a:t>
            </a:r>
            <a:r>
              <a:rPr sz="1125" b="0" dirty="0">
                <a:solidFill>
                  <a:srgbClr val="DCE7F0"/>
                </a:solidFill>
                <a:latin typeface="Aptos"/>
                <a:ea typeface="Aptos"/>
                <a:cs typeface="Aptos"/>
              </a:rPr>
              <a:t> </a:t>
            </a:r>
            <a:r>
              <a:rPr sz="1125" b="0" dirty="0" err="1">
                <a:solidFill>
                  <a:srgbClr val="DCE7F0"/>
                </a:solidFill>
                <a:latin typeface="Aptos"/>
                <a:ea typeface="Aptos"/>
                <a:cs typeface="Aptos"/>
              </a:rPr>
              <a:t>d'abord</a:t>
            </a:r>
            <a:r>
              <a:rPr sz="1125" b="0" dirty="0">
                <a:solidFill>
                  <a:srgbClr val="DCE7F0"/>
                </a:solidFill>
                <a:latin typeface="Aptos"/>
                <a:ea typeface="Aptos"/>
                <a:cs typeface="Aptos"/>
              </a:rPr>
              <a:t> </a:t>
            </a:r>
            <a:r>
              <a:rPr sz="1125" b="0" dirty="0" err="1">
                <a:solidFill>
                  <a:srgbClr val="DCE7F0"/>
                </a:solidFill>
                <a:latin typeface="Aptos"/>
                <a:ea typeface="Aptos"/>
                <a:cs typeface="Aptos"/>
              </a:rPr>
              <a:t>l'idée</a:t>
            </a:r>
            <a:r>
              <a:rPr sz="1125" b="0" dirty="0">
                <a:solidFill>
                  <a:srgbClr val="DCE7F0"/>
                </a:solidFill>
                <a:latin typeface="Aptos"/>
                <a:ea typeface="Aptos"/>
                <a:cs typeface="Aptos"/>
              </a:rPr>
              <a:t> </a:t>
            </a:r>
            <a:r>
              <a:rPr sz="1125" b="0" dirty="0" err="1">
                <a:solidFill>
                  <a:srgbClr val="DCE7F0"/>
                </a:solidFill>
                <a:latin typeface="Aptos"/>
                <a:ea typeface="Aptos"/>
                <a:cs typeface="Aptos"/>
              </a:rPr>
              <a:t>principale</a:t>
            </a:r>
            <a:r>
              <a:rPr sz="1125" b="0" dirty="0">
                <a:solidFill>
                  <a:srgbClr val="DCE7F0"/>
                </a:solidFill>
                <a:latin typeface="Aptos"/>
                <a:ea typeface="Aptos"/>
                <a:cs typeface="Aptos"/>
              </a:rPr>
              <a:t>, </a:t>
            </a:r>
            <a:r>
              <a:rPr sz="1125" b="0" dirty="0" err="1">
                <a:solidFill>
                  <a:srgbClr val="DCE7F0"/>
                </a:solidFill>
                <a:latin typeface="Aptos"/>
                <a:ea typeface="Aptos"/>
                <a:cs typeface="Aptos"/>
              </a:rPr>
              <a:t>puis</a:t>
            </a:r>
            <a:r>
              <a:rPr sz="1125" b="0" dirty="0">
                <a:solidFill>
                  <a:srgbClr val="DCE7F0"/>
                </a:solidFill>
                <a:latin typeface="Aptos"/>
                <a:ea typeface="Aptos"/>
                <a:cs typeface="Aptos"/>
              </a:rPr>
              <a:t> la </a:t>
            </a:r>
            <a:r>
              <a:rPr sz="1125" b="0" dirty="0" err="1">
                <a:solidFill>
                  <a:srgbClr val="DCE7F0"/>
                </a:solidFill>
                <a:latin typeface="Aptos"/>
                <a:ea typeface="Aptos"/>
                <a:cs typeface="Aptos"/>
              </a:rPr>
              <a:t>preuve</a:t>
            </a:r>
            <a:r>
              <a:rPr sz="1125" b="0" dirty="0">
                <a:solidFill>
                  <a:srgbClr val="DCE7F0"/>
                </a:solidFill>
                <a:latin typeface="Aptos"/>
                <a:ea typeface="Aptos"/>
                <a:cs typeface="Aptos"/>
              </a:rPr>
              <a:t> technique. Cela rend la </a:t>
            </a:r>
            <a:r>
              <a:rPr sz="1125" b="0" dirty="0" err="1">
                <a:solidFill>
                  <a:srgbClr val="DCE7F0"/>
                </a:solidFill>
                <a:latin typeface="Aptos"/>
                <a:ea typeface="Aptos"/>
                <a:cs typeface="Aptos"/>
              </a:rPr>
              <a:t>présentation</a:t>
            </a:r>
            <a:r>
              <a:rPr sz="1125" b="0" dirty="0">
                <a:solidFill>
                  <a:srgbClr val="DCE7F0"/>
                </a:solidFill>
                <a:latin typeface="Aptos"/>
                <a:ea typeface="Aptos"/>
                <a:cs typeface="Aptos"/>
              </a:rPr>
              <a:t> plus </a:t>
            </a:r>
            <a:r>
              <a:rPr sz="1125" b="0" dirty="0" err="1">
                <a:solidFill>
                  <a:srgbClr val="DCE7F0"/>
                </a:solidFill>
                <a:latin typeface="Aptos"/>
                <a:ea typeface="Aptos"/>
                <a:cs typeface="Aptos"/>
              </a:rPr>
              <a:t>fluide</a:t>
            </a:r>
            <a:r>
              <a:rPr sz="1125" b="0" dirty="0">
                <a:solidFill>
                  <a:srgbClr val="DCE7F0"/>
                </a:solidFill>
                <a:latin typeface="Aptos"/>
                <a:ea typeface="Aptos"/>
                <a:cs typeface="Aptos"/>
              </a:rPr>
              <a:t> et plus </a:t>
            </a:r>
            <a:r>
              <a:rPr sz="1125" b="0" dirty="0" err="1">
                <a:solidFill>
                  <a:srgbClr val="DCE7F0"/>
                </a:solidFill>
                <a:latin typeface="Aptos"/>
                <a:ea typeface="Aptos"/>
                <a:cs typeface="Aptos"/>
              </a:rPr>
              <a:t>convaincante</a:t>
            </a:r>
            <a:r>
              <a:rPr sz="1125" b="0" dirty="0">
                <a:solidFill>
                  <a:srgbClr val="DCE7F0"/>
                </a:solidFill>
                <a:latin typeface="Aptos"/>
                <a:ea typeface="Aptos"/>
                <a:cs typeface="Aptos"/>
              </a:rPr>
              <a:t>.</a:t>
            </a:r>
          </a:p>
        </p:txBody>
      </p:sp>
      <p:sp>
        <p:nvSpPr>
          <p:cNvPr id="39" name="Rectangle 38">
            <a:extLst>
              <a:ext uri="{FF2B5EF4-FFF2-40B4-BE49-F238E27FC236}">
                <a16:creationId xmlns:a16="http://schemas.microsoft.com/office/drawing/2014/main" id="{6703DD17-487E-468F-B687-D7AFA6607B80}"/>
              </a:ext>
            </a:extLst>
          </p:cNvPr>
          <p:cNvSpPr>
            <a:spLocks noGrp="1"/>
          </p:cNvSpPr>
          <p:nvPr/>
        </p:nvSpPr>
        <p:spPr>
          <a:xfrm>
            <a:off x="704850" y="6515100"/>
            <a:ext cx="5715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5A6F7E"/>
                </a:solidFill>
                <a:latin typeface="Aptos"/>
                <a:ea typeface="Aptos"/>
                <a:cs typeface="Aptos"/>
              </a:defRPr>
            </a:pPr>
            <a:r>
              <a:rPr sz="825" b="0">
                <a:solidFill>
                  <a:srgbClr val="5A6F7E"/>
                </a:solidFill>
                <a:latin typeface="Aptos"/>
                <a:ea typeface="Aptos"/>
                <a:cs typeface="Aptos"/>
              </a:rPr>
              <a:t>Soutenance · plan</a:t>
            </a:r>
          </a:p>
        </p:txBody>
      </p:sp>
      <p:sp>
        <p:nvSpPr>
          <p:cNvPr id="40" name="Rectangle 39">
            <a:extLst>
              <a:ext uri="{FF2B5EF4-FFF2-40B4-BE49-F238E27FC236}">
                <a16:creationId xmlns:a16="http://schemas.microsoft.com/office/drawing/2014/main" id="{5F186108-86BC-4215-B4BB-1F2FED874163}"/>
              </a:ext>
            </a:extLst>
          </p:cNvPr>
          <p:cNvSpPr>
            <a:spLocks noGrp="1"/>
          </p:cNvSpPr>
          <p:nvPr/>
        </p:nvSpPr>
        <p:spPr>
          <a:xfrm>
            <a:off x="9258300" y="6515100"/>
            <a:ext cx="2286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0">
                <a:solidFill>
                  <a:srgbClr val="5A6F7E"/>
                </a:solidFill>
                <a:latin typeface="Aptos"/>
                <a:ea typeface="Aptos"/>
                <a:cs typeface="Aptos"/>
              </a:defRPr>
            </a:pPr>
            <a:r>
              <a:rPr sz="825" b="0">
                <a:solidFill>
                  <a:srgbClr val="5A6F7E"/>
                </a:solidFill>
                <a:latin typeface="Aptos"/>
                <a:ea typeface="Aptos"/>
                <a:cs typeface="Aptos"/>
              </a:rPr>
              <a:t>Projet BI AdventureWorks</a:t>
            </a:r>
          </a:p>
        </p:txBody>
      </p:sp>
      <p:pic>
        <p:nvPicPr>
          <p:cNvPr id="1028" name="Picture 4" descr="Prévisualisation de l’image">
            <a:extLst>
              <a:ext uri="{FF2B5EF4-FFF2-40B4-BE49-F238E27FC236}">
                <a16:creationId xmlns:a16="http://schemas.microsoft.com/office/drawing/2014/main" id="{AACD18E6-940B-0C2C-FC90-D0B28D6EBD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728" y="430434"/>
            <a:ext cx="7065645" cy="2119694"/>
          </a:xfrm>
          <a:prstGeom prst="rect">
            <a:avLst/>
          </a:prstGeom>
          <a:noFill/>
          <a:extLst>
            <a:ext uri="{909E8E84-426E-40DD-AFC4-6F175D3DCCD1}">
              <a14:hiddenFill xmlns:a14="http://schemas.microsoft.com/office/drawing/2010/main">
                <a:solidFill>
                  <a:srgbClr val="FFFFFF"/>
                </a:solidFill>
              </a14:hiddenFill>
            </a:ext>
          </a:extLst>
        </p:spPr>
      </p:pic>
      <p:sp>
        <p:nvSpPr>
          <p:cNvPr id="42" name="Ellipse 41">
            <a:extLst>
              <a:ext uri="{FF2B5EF4-FFF2-40B4-BE49-F238E27FC236}">
                <a16:creationId xmlns:a16="http://schemas.microsoft.com/office/drawing/2014/main" id="{AE8B21AC-3139-92E4-6913-ECC6A28C7BFB}"/>
              </a:ext>
            </a:extLst>
          </p:cNvPr>
          <p:cNvSpPr/>
          <p:nvPr/>
        </p:nvSpPr>
        <p:spPr>
          <a:xfrm>
            <a:off x="11845290" y="6512560"/>
            <a:ext cx="304800" cy="30988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b="1" dirty="0">
                <a:ln w="22225">
                  <a:solidFill>
                    <a:schemeClr val="accent2"/>
                  </a:solidFill>
                  <a:prstDash val="solid"/>
                </a:ln>
                <a:solidFill>
                  <a:schemeClr val="accent2">
                    <a:lumMod val="40000"/>
                    <a:lumOff val="60000"/>
                  </a:schemeClr>
                </a:solidFill>
              </a:rPr>
              <a:t>1</a:t>
            </a:r>
            <a:endParaRPr lang="fr-TN" b="1" dirty="0">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15627508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DA0D8DC8-6229-4A44-BB69-AC9098C75ED0}"/>
              </a:ext>
            </a:extLst>
          </p:cNvPr>
          <p:cNvSpPr>
            <a:spLocks noGrp="1"/>
          </p:cNvSpPr>
          <p:nvPr/>
        </p:nvSpPr>
        <p:spPr>
          <a:xfrm>
            <a:off x="0" y="0"/>
            <a:ext cx="12192000" cy="6858000"/>
          </a:xfrm>
          <a:prstGeom prst="rect">
            <a:avLst/>
          </a:prstGeom>
          <a:solidFill>
            <a:srgbClr val="F6F0E7"/>
          </a:solidFill>
          <a:ln w="0">
            <a:solidFill>
              <a:srgbClr val="000000">
                <a:alpha val="0"/>
              </a:srgbClr>
            </a:solidFill>
            <a:prstDash val="solid"/>
          </a:ln>
        </p:spPr>
        <p:txBody>
          <a:bodyPr/>
          <a:lstStyle/>
          <a:p>
            <a:endParaRPr lang="fr-TN"/>
          </a:p>
        </p:txBody>
      </p:sp>
      <p:sp>
        <p:nvSpPr>
          <p:cNvPr id="2" name="Rectangle 1">
            <a:extLst>
              <a:ext uri="{FF2B5EF4-FFF2-40B4-BE49-F238E27FC236}">
                <a16:creationId xmlns:a16="http://schemas.microsoft.com/office/drawing/2014/main" id="{4AEF9C76-89E6-4D4B-A87C-C3CB5E53B6D9}"/>
              </a:ext>
            </a:extLst>
          </p:cNvPr>
          <p:cNvSpPr>
            <a:spLocks noGrp="1"/>
          </p:cNvSpPr>
          <p:nvPr/>
        </p:nvSpPr>
        <p:spPr>
          <a:xfrm>
            <a:off x="0" y="0"/>
            <a:ext cx="12192000" cy="247650"/>
          </a:xfrm>
          <a:prstGeom prst="rect">
            <a:avLst/>
          </a:prstGeom>
          <a:solidFill>
            <a:srgbClr val="0A1A2F"/>
          </a:solidFill>
          <a:ln w="0">
            <a:solidFill>
              <a:srgbClr val="000000">
                <a:alpha val="0"/>
              </a:srgbClr>
            </a:solidFill>
            <a:prstDash val="solid"/>
          </a:ln>
        </p:spPr>
        <p:txBody>
          <a:bodyPr/>
          <a:lstStyle/>
          <a:p>
            <a:endParaRPr lang="fr-TN"/>
          </a:p>
        </p:txBody>
      </p:sp>
      <p:sp>
        <p:nvSpPr>
          <p:cNvPr id="3" name="Rectangle 2">
            <a:extLst>
              <a:ext uri="{FF2B5EF4-FFF2-40B4-BE49-F238E27FC236}">
                <a16:creationId xmlns:a16="http://schemas.microsoft.com/office/drawing/2014/main" id="{18480065-D74D-440D-995D-7CC100A1B8A3}"/>
              </a:ext>
            </a:extLst>
          </p:cNvPr>
          <p:cNvSpPr>
            <a:spLocks noGrp="1"/>
          </p:cNvSpPr>
          <p:nvPr/>
        </p:nvSpPr>
        <p:spPr>
          <a:xfrm>
            <a:off x="0" y="247650"/>
            <a:ext cx="2095500" cy="57150"/>
          </a:xfrm>
          <a:prstGeom prst="rect">
            <a:avLst/>
          </a:prstGeom>
          <a:solidFill>
            <a:srgbClr val="7A9E7E"/>
          </a:solidFill>
          <a:ln w="0">
            <a:solidFill>
              <a:srgbClr val="000000">
                <a:alpha val="0"/>
              </a:srgbClr>
            </a:solidFill>
            <a:prstDash val="solid"/>
          </a:ln>
        </p:spPr>
        <p:txBody>
          <a:bodyPr/>
          <a:lstStyle/>
          <a:p>
            <a:endParaRPr lang="fr-TN"/>
          </a:p>
        </p:txBody>
      </p:sp>
      <p:sp>
        <p:nvSpPr>
          <p:cNvPr id="4" name="Rectangle 3">
            <a:extLst>
              <a:ext uri="{FF2B5EF4-FFF2-40B4-BE49-F238E27FC236}">
                <a16:creationId xmlns:a16="http://schemas.microsoft.com/office/drawing/2014/main" id="{6856C45A-ADD0-4400-86DF-8172C3F40B8A}"/>
              </a:ext>
            </a:extLst>
          </p:cNvPr>
          <p:cNvSpPr>
            <a:spLocks noGrp="1"/>
          </p:cNvSpPr>
          <p:nvPr/>
        </p:nvSpPr>
        <p:spPr>
          <a:xfrm>
            <a:off x="704850" y="552450"/>
            <a:ext cx="2095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0F8B8D"/>
                </a:solidFill>
                <a:latin typeface="Aptos"/>
                <a:ea typeface="Aptos"/>
                <a:cs typeface="Aptos"/>
              </a:defRPr>
            </a:pPr>
            <a:r>
              <a:rPr sz="900" b="1">
                <a:solidFill>
                  <a:srgbClr val="0F8B8D"/>
                </a:solidFill>
                <a:latin typeface="Aptos"/>
                <a:ea typeface="Aptos"/>
                <a:cs typeface="Aptos"/>
              </a:rPr>
              <a:t>CONTEXTE</a:t>
            </a:r>
          </a:p>
        </p:txBody>
      </p:sp>
      <p:sp>
        <p:nvSpPr>
          <p:cNvPr id="5" name="Rectangle 4">
            <a:extLst>
              <a:ext uri="{FF2B5EF4-FFF2-40B4-BE49-F238E27FC236}">
                <a16:creationId xmlns:a16="http://schemas.microsoft.com/office/drawing/2014/main" id="{67F2AB0F-A7B4-4676-B694-6FAF54164A1F}"/>
              </a:ext>
            </a:extLst>
          </p:cNvPr>
          <p:cNvSpPr>
            <a:spLocks noGrp="1"/>
          </p:cNvSpPr>
          <p:nvPr/>
        </p:nvSpPr>
        <p:spPr>
          <a:xfrm>
            <a:off x="685800" y="781050"/>
            <a:ext cx="8763000" cy="742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400" b="1">
                <a:solidFill>
                  <a:srgbClr val="12304C"/>
                </a:solidFill>
                <a:latin typeface="Aptos Display"/>
                <a:ea typeface="Aptos Display"/>
                <a:cs typeface="Aptos Display"/>
              </a:defRPr>
            </a:pPr>
            <a:r>
              <a:rPr sz="2400" b="1">
                <a:solidFill>
                  <a:srgbClr val="12304C"/>
                </a:solidFill>
                <a:latin typeface="Aptos Display"/>
                <a:ea typeface="Aptos Display"/>
                <a:cs typeface="Aptos Display"/>
              </a:rPr>
              <a:t>Le point de départ est un besoin d'analyse que la base transactionnelle ne peut pas satisfaire efficacement.</a:t>
            </a:r>
          </a:p>
        </p:txBody>
      </p:sp>
      <p:sp>
        <p:nvSpPr>
          <p:cNvPr id="6" name="Rectangle 5">
            <a:extLst>
              <a:ext uri="{FF2B5EF4-FFF2-40B4-BE49-F238E27FC236}">
                <a16:creationId xmlns:a16="http://schemas.microsoft.com/office/drawing/2014/main" id="{D127B8E1-D57A-441A-BE4A-6E5156B56A06}"/>
              </a:ext>
            </a:extLst>
          </p:cNvPr>
          <p:cNvSpPr>
            <a:spLocks noGrp="1"/>
          </p:cNvSpPr>
          <p:nvPr/>
        </p:nvSpPr>
        <p:spPr>
          <a:xfrm>
            <a:off x="704850" y="1562100"/>
            <a:ext cx="81915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5A6F7E"/>
                </a:solidFill>
                <a:latin typeface="Aptos"/>
                <a:ea typeface="Aptos"/>
                <a:cs typeface="Aptos"/>
              </a:defRPr>
            </a:pPr>
            <a:r>
              <a:rPr sz="1200" b="0">
                <a:solidFill>
                  <a:srgbClr val="5A6F7E"/>
                </a:solidFill>
                <a:latin typeface="Aptos"/>
                <a:ea typeface="Aptos"/>
                <a:cs typeface="Aptos"/>
              </a:rPr>
              <a:t>Une base OLTP enregistre les opérations, mais elle n'est pas pensée pour répondre rapidement aux questions de pilotage.</a:t>
            </a:r>
          </a:p>
        </p:txBody>
      </p:sp>
      <p:sp>
        <p:nvSpPr>
          <p:cNvPr id="7" name="Rectangle 6">
            <a:extLst>
              <a:ext uri="{FF2B5EF4-FFF2-40B4-BE49-F238E27FC236}">
                <a16:creationId xmlns:a16="http://schemas.microsoft.com/office/drawing/2014/main" id="{9A7012D1-3B7C-4942-8BF3-FF6B52AD4FB4}"/>
              </a:ext>
            </a:extLst>
          </p:cNvPr>
          <p:cNvSpPr>
            <a:spLocks noGrp="1"/>
          </p:cNvSpPr>
          <p:nvPr/>
        </p:nvSpPr>
        <p:spPr>
          <a:xfrm>
            <a:off x="685800" y="2266950"/>
            <a:ext cx="1981200" cy="1009650"/>
          </a:xfrm>
          <a:prstGeom prst="rect">
            <a:avLst/>
          </a:prstGeom>
          <a:solidFill>
            <a:srgbClr val="FFFFFF"/>
          </a:solidFill>
          <a:ln w="9525">
            <a:solidFill>
              <a:srgbClr val="D4C7B6"/>
            </a:solidFill>
            <a:prstDash val="solid"/>
          </a:ln>
        </p:spPr>
        <p:txBody>
          <a:bodyPr/>
          <a:lstStyle/>
          <a:p>
            <a:endParaRPr lang="fr-TN"/>
          </a:p>
        </p:txBody>
      </p:sp>
      <p:sp>
        <p:nvSpPr>
          <p:cNvPr id="8" name="Rectangle 7">
            <a:extLst>
              <a:ext uri="{FF2B5EF4-FFF2-40B4-BE49-F238E27FC236}">
                <a16:creationId xmlns:a16="http://schemas.microsoft.com/office/drawing/2014/main" id="{B804629E-589C-4449-852E-F5AD44138A08}"/>
              </a:ext>
            </a:extLst>
          </p:cNvPr>
          <p:cNvSpPr>
            <a:spLocks noGrp="1"/>
          </p:cNvSpPr>
          <p:nvPr/>
        </p:nvSpPr>
        <p:spPr>
          <a:xfrm>
            <a:off x="685800" y="2266950"/>
            <a:ext cx="57150" cy="1009650"/>
          </a:xfrm>
          <a:prstGeom prst="rect">
            <a:avLst/>
          </a:prstGeom>
          <a:solidFill>
            <a:srgbClr val="0F8B8D"/>
          </a:solidFill>
          <a:ln w="0">
            <a:solidFill>
              <a:srgbClr val="000000">
                <a:alpha val="0"/>
              </a:srgbClr>
            </a:solidFill>
            <a:prstDash val="solid"/>
          </a:ln>
        </p:spPr>
        <p:txBody>
          <a:bodyPr/>
          <a:lstStyle/>
          <a:p>
            <a:endParaRPr lang="fr-TN"/>
          </a:p>
        </p:txBody>
      </p:sp>
      <p:sp>
        <p:nvSpPr>
          <p:cNvPr id="9" name="Rectangle 8">
            <a:extLst>
              <a:ext uri="{FF2B5EF4-FFF2-40B4-BE49-F238E27FC236}">
                <a16:creationId xmlns:a16="http://schemas.microsoft.com/office/drawing/2014/main" id="{7C4E898C-04A1-4A63-9A29-28159A0DED99}"/>
              </a:ext>
            </a:extLst>
          </p:cNvPr>
          <p:cNvSpPr>
            <a:spLocks noGrp="1"/>
          </p:cNvSpPr>
          <p:nvPr/>
        </p:nvSpPr>
        <p:spPr>
          <a:xfrm>
            <a:off x="876300" y="2419350"/>
            <a:ext cx="1714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5A6F7E"/>
                </a:solidFill>
                <a:latin typeface="Aptos"/>
                <a:ea typeface="Aptos"/>
                <a:cs typeface="Aptos"/>
              </a:defRPr>
            </a:pPr>
            <a:r>
              <a:rPr sz="975" b="0">
                <a:solidFill>
                  <a:srgbClr val="5A6F7E"/>
                </a:solidFill>
                <a:latin typeface="Aptos"/>
                <a:ea typeface="Aptos"/>
                <a:cs typeface="Aptos"/>
              </a:rPr>
              <a:t>Commandes</a:t>
            </a:r>
          </a:p>
        </p:txBody>
      </p:sp>
      <p:sp>
        <p:nvSpPr>
          <p:cNvPr id="10" name="Rectangle 9">
            <a:extLst>
              <a:ext uri="{FF2B5EF4-FFF2-40B4-BE49-F238E27FC236}">
                <a16:creationId xmlns:a16="http://schemas.microsoft.com/office/drawing/2014/main" id="{85B868D1-5B07-41B8-9380-C0B6F148273B}"/>
              </a:ext>
            </a:extLst>
          </p:cNvPr>
          <p:cNvSpPr>
            <a:spLocks noGrp="1"/>
          </p:cNvSpPr>
          <p:nvPr/>
        </p:nvSpPr>
        <p:spPr>
          <a:xfrm>
            <a:off x="876300" y="2686050"/>
            <a:ext cx="17145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12304C"/>
                </a:solidFill>
                <a:latin typeface="Aptos Display"/>
                <a:ea typeface="Aptos Display"/>
                <a:cs typeface="Aptos Display"/>
              </a:defRPr>
            </a:pPr>
            <a:r>
              <a:rPr sz="1950" b="1">
                <a:solidFill>
                  <a:srgbClr val="12304C"/>
                </a:solidFill>
                <a:latin typeface="Aptos Display"/>
                <a:ea typeface="Aptos Display"/>
                <a:cs typeface="Aptos Display"/>
              </a:rPr>
              <a:t>31 465</a:t>
            </a:r>
          </a:p>
        </p:txBody>
      </p:sp>
      <p:sp>
        <p:nvSpPr>
          <p:cNvPr id="11" name="Rectangle 10">
            <a:extLst>
              <a:ext uri="{FF2B5EF4-FFF2-40B4-BE49-F238E27FC236}">
                <a16:creationId xmlns:a16="http://schemas.microsoft.com/office/drawing/2014/main" id="{324331A9-1780-478C-94FF-67991DF42215}"/>
              </a:ext>
            </a:extLst>
          </p:cNvPr>
          <p:cNvSpPr>
            <a:spLocks noGrp="1"/>
          </p:cNvSpPr>
          <p:nvPr/>
        </p:nvSpPr>
        <p:spPr>
          <a:xfrm>
            <a:off x="876300" y="3009900"/>
            <a:ext cx="17145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5A6F7E"/>
                </a:solidFill>
                <a:latin typeface="Aptos"/>
                <a:ea typeface="Aptos"/>
                <a:cs typeface="Aptos"/>
              </a:defRPr>
            </a:pPr>
            <a:r>
              <a:rPr sz="825" b="0">
                <a:solidFill>
                  <a:srgbClr val="5A6F7E"/>
                </a:solidFill>
                <a:latin typeface="Aptos"/>
                <a:ea typeface="Aptos"/>
                <a:cs typeface="Aptos"/>
              </a:rPr>
              <a:t>Volume initial</a:t>
            </a:r>
          </a:p>
        </p:txBody>
      </p:sp>
      <p:sp>
        <p:nvSpPr>
          <p:cNvPr id="12" name="Rectangle 11">
            <a:extLst>
              <a:ext uri="{FF2B5EF4-FFF2-40B4-BE49-F238E27FC236}">
                <a16:creationId xmlns:a16="http://schemas.microsoft.com/office/drawing/2014/main" id="{4901F7F9-7EF0-4D54-9063-253352C7A46A}"/>
              </a:ext>
            </a:extLst>
          </p:cNvPr>
          <p:cNvSpPr>
            <a:spLocks noGrp="1"/>
          </p:cNvSpPr>
          <p:nvPr/>
        </p:nvSpPr>
        <p:spPr>
          <a:xfrm>
            <a:off x="2838450" y="2266950"/>
            <a:ext cx="1981200" cy="1009650"/>
          </a:xfrm>
          <a:prstGeom prst="rect">
            <a:avLst/>
          </a:prstGeom>
          <a:solidFill>
            <a:srgbClr val="FFFFFF"/>
          </a:solidFill>
          <a:ln w="9525">
            <a:solidFill>
              <a:srgbClr val="D4C7B6"/>
            </a:solidFill>
            <a:prstDash val="solid"/>
          </a:ln>
        </p:spPr>
        <p:txBody>
          <a:bodyPr/>
          <a:lstStyle/>
          <a:p>
            <a:endParaRPr lang="fr-TN"/>
          </a:p>
        </p:txBody>
      </p:sp>
      <p:sp>
        <p:nvSpPr>
          <p:cNvPr id="13" name="Rectangle 12">
            <a:extLst>
              <a:ext uri="{FF2B5EF4-FFF2-40B4-BE49-F238E27FC236}">
                <a16:creationId xmlns:a16="http://schemas.microsoft.com/office/drawing/2014/main" id="{CEEA2D6B-4954-4488-B0A4-6CFA17E3674B}"/>
              </a:ext>
            </a:extLst>
          </p:cNvPr>
          <p:cNvSpPr>
            <a:spLocks noGrp="1"/>
          </p:cNvSpPr>
          <p:nvPr/>
        </p:nvSpPr>
        <p:spPr>
          <a:xfrm>
            <a:off x="2838450" y="2266950"/>
            <a:ext cx="57150" cy="1009650"/>
          </a:xfrm>
          <a:prstGeom prst="rect">
            <a:avLst/>
          </a:prstGeom>
          <a:solidFill>
            <a:srgbClr val="E07A5F"/>
          </a:solidFill>
          <a:ln w="0">
            <a:solidFill>
              <a:srgbClr val="000000">
                <a:alpha val="0"/>
              </a:srgbClr>
            </a:solidFill>
            <a:prstDash val="solid"/>
          </a:ln>
        </p:spPr>
        <p:txBody>
          <a:bodyPr/>
          <a:lstStyle/>
          <a:p>
            <a:endParaRPr lang="fr-TN"/>
          </a:p>
        </p:txBody>
      </p:sp>
      <p:sp>
        <p:nvSpPr>
          <p:cNvPr id="14" name="Rectangle 13">
            <a:extLst>
              <a:ext uri="{FF2B5EF4-FFF2-40B4-BE49-F238E27FC236}">
                <a16:creationId xmlns:a16="http://schemas.microsoft.com/office/drawing/2014/main" id="{D6B5BAEF-9261-4AD7-B8AE-DA34B2941A26}"/>
              </a:ext>
            </a:extLst>
          </p:cNvPr>
          <p:cNvSpPr>
            <a:spLocks noGrp="1"/>
          </p:cNvSpPr>
          <p:nvPr/>
        </p:nvSpPr>
        <p:spPr>
          <a:xfrm>
            <a:off x="3028950" y="2419350"/>
            <a:ext cx="1714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5A6F7E"/>
                </a:solidFill>
                <a:latin typeface="Aptos"/>
                <a:ea typeface="Aptos"/>
                <a:cs typeface="Aptos"/>
              </a:defRPr>
            </a:pPr>
            <a:r>
              <a:rPr sz="975" b="0">
                <a:solidFill>
                  <a:srgbClr val="5A6F7E"/>
                </a:solidFill>
                <a:latin typeface="Aptos"/>
                <a:ea typeface="Aptos"/>
                <a:cs typeface="Aptos"/>
              </a:rPr>
              <a:t>Lignes de vente</a:t>
            </a:r>
          </a:p>
        </p:txBody>
      </p:sp>
      <p:sp>
        <p:nvSpPr>
          <p:cNvPr id="15" name="Rectangle 14">
            <a:extLst>
              <a:ext uri="{FF2B5EF4-FFF2-40B4-BE49-F238E27FC236}">
                <a16:creationId xmlns:a16="http://schemas.microsoft.com/office/drawing/2014/main" id="{471C3F08-1035-4104-B8E3-163AD82E56A2}"/>
              </a:ext>
            </a:extLst>
          </p:cNvPr>
          <p:cNvSpPr>
            <a:spLocks noGrp="1"/>
          </p:cNvSpPr>
          <p:nvPr/>
        </p:nvSpPr>
        <p:spPr>
          <a:xfrm>
            <a:off x="3028950" y="2686050"/>
            <a:ext cx="17145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12304C"/>
                </a:solidFill>
                <a:latin typeface="Aptos Display"/>
                <a:ea typeface="Aptos Display"/>
                <a:cs typeface="Aptos Display"/>
              </a:defRPr>
            </a:pPr>
            <a:r>
              <a:rPr sz="1950" b="1">
                <a:solidFill>
                  <a:srgbClr val="12304C"/>
                </a:solidFill>
                <a:latin typeface="Aptos Display"/>
                <a:ea typeface="Aptos Display"/>
                <a:cs typeface="Aptos Display"/>
              </a:rPr>
              <a:t>121 317</a:t>
            </a:r>
          </a:p>
        </p:txBody>
      </p:sp>
      <p:sp>
        <p:nvSpPr>
          <p:cNvPr id="16" name="Rectangle 15">
            <a:extLst>
              <a:ext uri="{FF2B5EF4-FFF2-40B4-BE49-F238E27FC236}">
                <a16:creationId xmlns:a16="http://schemas.microsoft.com/office/drawing/2014/main" id="{92985587-01BE-4C5E-8F11-DD7EA543E1F7}"/>
              </a:ext>
            </a:extLst>
          </p:cNvPr>
          <p:cNvSpPr>
            <a:spLocks noGrp="1"/>
          </p:cNvSpPr>
          <p:nvPr/>
        </p:nvSpPr>
        <p:spPr>
          <a:xfrm>
            <a:off x="3028950" y="3009900"/>
            <a:ext cx="17145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5A6F7E"/>
                </a:solidFill>
                <a:latin typeface="Aptos"/>
                <a:ea typeface="Aptos"/>
                <a:cs typeface="Aptos"/>
              </a:defRPr>
            </a:pPr>
            <a:r>
              <a:rPr sz="825" b="0">
                <a:solidFill>
                  <a:srgbClr val="5A6F7E"/>
                </a:solidFill>
                <a:latin typeface="Aptos"/>
                <a:ea typeface="Aptos"/>
                <a:cs typeface="Aptos"/>
              </a:rPr>
              <a:t>Granularité</a:t>
            </a:r>
          </a:p>
        </p:txBody>
      </p:sp>
      <p:sp>
        <p:nvSpPr>
          <p:cNvPr id="17" name="Rectangle 16">
            <a:extLst>
              <a:ext uri="{FF2B5EF4-FFF2-40B4-BE49-F238E27FC236}">
                <a16:creationId xmlns:a16="http://schemas.microsoft.com/office/drawing/2014/main" id="{9D86E69E-67E9-450E-A579-97B4DD8DC908}"/>
              </a:ext>
            </a:extLst>
          </p:cNvPr>
          <p:cNvSpPr>
            <a:spLocks noGrp="1"/>
          </p:cNvSpPr>
          <p:nvPr/>
        </p:nvSpPr>
        <p:spPr>
          <a:xfrm>
            <a:off x="4991100" y="2266950"/>
            <a:ext cx="1981200" cy="1009650"/>
          </a:xfrm>
          <a:prstGeom prst="rect">
            <a:avLst/>
          </a:prstGeom>
          <a:solidFill>
            <a:srgbClr val="FFFFFF"/>
          </a:solidFill>
          <a:ln w="9525">
            <a:solidFill>
              <a:srgbClr val="D4C7B6"/>
            </a:solidFill>
            <a:prstDash val="solid"/>
          </a:ln>
        </p:spPr>
        <p:txBody>
          <a:bodyPr/>
          <a:lstStyle/>
          <a:p>
            <a:endParaRPr lang="fr-TN"/>
          </a:p>
        </p:txBody>
      </p:sp>
      <p:sp>
        <p:nvSpPr>
          <p:cNvPr id="18" name="Rectangle 17">
            <a:extLst>
              <a:ext uri="{FF2B5EF4-FFF2-40B4-BE49-F238E27FC236}">
                <a16:creationId xmlns:a16="http://schemas.microsoft.com/office/drawing/2014/main" id="{144D8B19-55F2-4B53-9240-19034B71BD3F}"/>
              </a:ext>
            </a:extLst>
          </p:cNvPr>
          <p:cNvSpPr>
            <a:spLocks noGrp="1"/>
          </p:cNvSpPr>
          <p:nvPr/>
        </p:nvSpPr>
        <p:spPr>
          <a:xfrm>
            <a:off x="4991100" y="2266950"/>
            <a:ext cx="57150" cy="1009650"/>
          </a:xfrm>
          <a:prstGeom prst="rect">
            <a:avLst/>
          </a:prstGeom>
          <a:solidFill>
            <a:srgbClr val="7A9E7E"/>
          </a:solidFill>
          <a:ln w="0">
            <a:solidFill>
              <a:srgbClr val="000000">
                <a:alpha val="0"/>
              </a:srgbClr>
            </a:solidFill>
            <a:prstDash val="solid"/>
          </a:ln>
        </p:spPr>
        <p:txBody>
          <a:bodyPr/>
          <a:lstStyle/>
          <a:p>
            <a:endParaRPr lang="fr-TN"/>
          </a:p>
        </p:txBody>
      </p:sp>
      <p:sp>
        <p:nvSpPr>
          <p:cNvPr id="19" name="Rectangle 18">
            <a:extLst>
              <a:ext uri="{FF2B5EF4-FFF2-40B4-BE49-F238E27FC236}">
                <a16:creationId xmlns:a16="http://schemas.microsoft.com/office/drawing/2014/main" id="{F00F8EDF-FF8F-4215-AD04-A16CC274271B}"/>
              </a:ext>
            </a:extLst>
          </p:cNvPr>
          <p:cNvSpPr>
            <a:spLocks noGrp="1"/>
          </p:cNvSpPr>
          <p:nvPr/>
        </p:nvSpPr>
        <p:spPr>
          <a:xfrm>
            <a:off x="5181600" y="2419350"/>
            <a:ext cx="1714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5A6F7E"/>
                </a:solidFill>
                <a:latin typeface="Aptos"/>
                <a:ea typeface="Aptos"/>
                <a:cs typeface="Aptos"/>
              </a:defRPr>
            </a:pPr>
            <a:r>
              <a:rPr sz="975" b="0">
                <a:solidFill>
                  <a:srgbClr val="5A6F7E"/>
                </a:solidFill>
                <a:latin typeface="Aptos"/>
                <a:ea typeface="Aptos"/>
                <a:cs typeface="Aptos"/>
              </a:rPr>
              <a:t>Produits</a:t>
            </a:r>
          </a:p>
        </p:txBody>
      </p:sp>
      <p:sp>
        <p:nvSpPr>
          <p:cNvPr id="20" name="Rectangle 19">
            <a:extLst>
              <a:ext uri="{FF2B5EF4-FFF2-40B4-BE49-F238E27FC236}">
                <a16:creationId xmlns:a16="http://schemas.microsoft.com/office/drawing/2014/main" id="{E609F40A-EF38-4D5C-B3DF-19EBF85DAEB1}"/>
              </a:ext>
            </a:extLst>
          </p:cNvPr>
          <p:cNvSpPr>
            <a:spLocks noGrp="1"/>
          </p:cNvSpPr>
          <p:nvPr/>
        </p:nvSpPr>
        <p:spPr>
          <a:xfrm>
            <a:off x="5181600" y="2686050"/>
            <a:ext cx="17145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12304C"/>
                </a:solidFill>
                <a:latin typeface="Aptos Display"/>
                <a:ea typeface="Aptos Display"/>
                <a:cs typeface="Aptos Display"/>
              </a:defRPr>
            </a:pPr>
            <a:r>
              <a:rPr sz="1950" b="1">
                <a:solidFill>
                  <a:srgbClr val="12304C"/>
                </a:solidFill>
                <a:latin typeface="Aptos Display"/>
                <a:ea typeface="Aptos Display"/>
                <a:cs typeface="Aptos Display"/>
              </a:rPr>
              <a:t>504</a:t>
            </a:r>
          </a:p>
        </p:txBody>
      </p:sp>
      <p:sp>
        <p:nvSpPr>
          <p:cNvPr id="21" name="Rectangle 20">
            <a:extLst>
              <a:ext uri="{FF2B5EF4-FFF2-40B4-BE49-F238E27FC236}">
                <a16:creationId xmlns:a16="http://schemas.microsoft.com/office/drawing/2014/main" id="{6768292E-BC19-4744-A908-DEB95E9BCFB0}"/>
              </a:ext>
            </a:extLst>
          </p:cNvPr>
          <p:cNvSpPr>
            <a:spLocks noGrp="1"/>
          </p:cNvSpPr>
          <p:nvPr/>
        </p:nvSpPr>
        <p:spPr>
          <a:xfrm>
            <a:off x="5181600" y="3009900"/>
            <a:ext cx="17145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5A6F7E"/>
                </a:solidFill>
                <a:latin typeface="Aptos"/>
                <a:ea typeface="Aptos"/>
                <a:cs typeface="Aptos"/>
              </a:defRPr>
            </a:pPr>
            <a:r>
              <a:rPr sz="825" b="0">
                <a:solidFill>
                  <a:srgbClr val="5A6F7E"/>
                </a:solidFill>
                <a:latin typeface="Aptos"/>
                <a:ea typeface="Aptos"/>
                <a:cs typeface="Aptos"/>
              </a:rPr>
              <a:t>Catalogue</a:t>
            </a:r>
          </a:p>
        </p:txBody>
      </p:sp>
      <p:sp>
        <p:nvSpPr>
          <p:cNvPr id="22" name="Rectangle 21">
            <a:extLst>
              <a:ext uri="{FF2B5EF4-FFF2-40B4-BE49-F238E27FC236}">
                <a16:creationId xmlns:a16="http://schemas.microsoft.com/office/drawing/2014/main" id="{168B527F-E7A4-4190-BD2C-0429B9C6251E}"/>
              </a:ext>
            </a:extLst>
          </p:cNvPr>
          <p:cNvSpPr>
            <a:spLocks noGrp="1"/>
          </p:cNvSpPr>
          <p:nvPr/>
        </p:nvSpPr>
        <p:spPr>
          <a:xfrm>
            <a:off x="7143750" y="2266950"/>
            <a:ext cx="1981200" cy="1009650"/>
          </a:xfrm>
          <a:prstGeom prst="rect">
            <a:avLst/>
          </a:prstGeom>
          <a:solidFill>
            <a:srgbClr val="FFFFFF"/>
          </a:solidFill>
          <a:ln w="9525">
            <a:solidFill>
              <a:srgbClr val="D4C7B6"/>
            </a:solidFill>
            <a:prstDash val="solid"/>
          </a:ln>
        </p:spPr>
        <p:txBody>
          <a:bodyPr/>
          <a:lstStyle/>
          <a:p>
            <a:endParaRPr lang="fr-TN"/>
          </a:p>
        </p:txBody>
      </p:sp>
      <p:sp>
        <p:nvSpPr>
          <p:cNvPr id="23" name="Rectangle 22">
            <a:extLst>
              <a:ext uri="{FF2B5EF4-FFF2-40B4-BE49-F238E27FC236}">
                <a16:creationId xmlns:a16="http://schemas.microsoft.com/office/drawing/2014/main" id="{205A13FD-3AD1-4C10-9914-0E1B71C0BBFF}"/>
              </a:ext>
            </a:extLst>
          </p:cNvPr>
          <p:cNvSpPr>
            <a:spLocks noGrp="1"/>
          </p:cNvSpPr>
          <p:nvPr/>
        </p:nvSpPr>
        <p:spPr>
          <a:xfrm>
            <a:off x="7143750" y="2266950"/>
            <a:ext cx="57150" cy="1009650"/>
          </a:xfrm>
          <a:prstGeom prst="rect">
            <a:avLst/>
          </a:prstGeom>
          <a:solidFill>
            <a:srgbClr val="0A1A2F"/>
          </a:solidFill>
          <a:ln w="0">
            <a:solidFill>
              <a:srgbClr val="000000">
                <a:alpha val="0"/>
              </a:srgbClr>
            </a:solidFill>
            <a:prstDash val="solid"/>
          </a:ln>
        </p:spPr>
        <p:txBody>
          <a:bodyPr/>
          <a:lstStyle/>
          <a:p>
            <a:endParaRPr lang="fr-TN"/>
          </a:p>
        </p:txBody>
      </p:sp>
      <p:sp>
        <p:nvSpPr>
          <p:cNvPr id="24" name="Rectangle 23">
            <a:extLst>
              <a:ext uri="{FF2B5EF4-FFF2-40B4-BE49-F238E27FC236}">
                <a16:creationId xmlns:a16="http://schemas.microsoft.com/office/drawing/2014/main" id="{3FC1FB51-ECF7-433C-82DB-6C50F4A1BA9B}"/>
              </a:ext>
            </a:extLst>
          </p:cNvPr>
          <p:cNvSpPr>
            <a:spLocks noGrp="1"/>
          </p:cNvSpPr>
          <p:nvPr/>
        </p:nvSpPr>
        <p:spPr>
          <a:xfrm>
            <a:off x="7334250" y="2419350"/>
            <a:ext cx="1714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5A6F7E"/>
                </a:solidFill>
                <a:latin typeface="Aptos"/>
                <a:ea typeface="Aptos"/>
                <a:cs typeface="Aptos"/>
              </a:defRPr>
            </a:pPr>
            <a:r>
              <a:rPr sz="975" b="0">
                <a:solidFill>
                  <a:srgbClr val="5A6F7E"/>
                </a:solidFill>
                <a:latin typeface="Aptos"/>
                <a:ea typeface="Aptos"/>
                <a:cs typeface="Aptos"/>
              </a:rPr>
              <a:t>Clients</a:t>
            </a:r>
          </a:p>
        </p:txBody>
      </p:sp>
      <p:sp>
        <p:nvSpPr>
          <p:cNvPr id="25" name="Rectangle 24">
            <a:extLst>
              <a:ext uri="{FF2B5EF4-FFF2-40B4-BE49-F238E27FC236}">
                <a16:creationId xmlns:a16="http://schemas.microsoft.com/office/drawing/2014/main" id="{A00D2274-BD8F-45DB-ACFB-359DD9CDCBEF}"/>
              </a:ext>
            </a:extLst>
          </p:cNvPr>
          <p:cNvSpPr>
            <a:spLocks noGrp="1"/>
          </p:cNvSpPr>
          <p:nvPr/>
        </p:nvSpPr>
        <p:spPr>
          <a:xfrm>
            <a:off x="7334250" y="2686050"/>
            <a:ext cx="17145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12304C"/>
                </a:solidFill>
                <a:latin typeface="Aptos Display"/>
                <a:ea typeface="Aptos Display"/>
                <a:cs typeface="Aptos Display"/>
              </a:defRPr>
            </a:pPr>
            <a:r>
              <a:rPr sz="1950" b="1">
                <a:solidFill>
                  <a:srgbClr val="12304C"/>
                </a:solidFill>
                <a:latin typeface="Aptos Display"/>
                <a:ea typeface="Aptos Display"/>
                <a:cs typeface="Aptos Display"/>
              </a:rPr>
              <a:t>19 820</a:t>
            </a:r>
          </a:p>
        </p:txBody>
      </p:sp>
      <p:sp>
        <p:nvSpPr>
          <p:cNvPr id="26" name="Rectangle 25">
            <a:extLst>
              <a:ext uri="{FF2B5EF4-FFF2-40B4-BE49-F238E27FC236}">
                <a16:creationId xmlns:a16="http://schemas.microsoft.com/office/drawing/2014/main" id="{4E1276E4-F21A-4178-B6B5-047E42E28A33}"/>
              </a:ext>
            </a:extLst>
          </p:cNvPr>
          <p:cNvSpPr>
            <a:spLocks noGrp="1"/>
          </p:cNvSpPr>
          <p:nvPr/>
        </p:nvSpPr>
        <p:spPr>
          <a:xfrm>
            <a:off x="7334250" y="3009900"/>
            <a:ext cx="17145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5A6F7E"/>
                </a:solidFill>
                <a:latin typeface="Aptos"/>
                <a:ea typeface="Aptos"/>
                <a:cs typeface="Aptos"/>
              </a:defRPr>
            </a:pPr>
            <a:r>
              <a:rPr sz="825" b="0">
                <a:solidFill>
                  <a:srgbClr val="5A6F7E"/>
                </a:solidFill>
                <a:latin typeface="Aptos"/>
                <a:ea typeface="Aptos"/>
                <a:cs typeface="Aptos"/>
              </a:rPr>
              <a:t>Portefeuille</a:t>
            </a:r>
          </a:p>
        </p:txBody>
      </p:sp>
      <p:sp>
        <p:nvSpPr>
          <p:cNvPr id="27" name="Rectangle 26">
            <a:extLst>
              <a:ext uri="{FF2B5EF4-FFF2-40B4-BE49-F238E27FC236}">
                <a16:creationId xmlns:a16="http://schemas.microsoft.com/office/drawing/2014/main" id="{C892A138-E10E-440F-B4A5-D61411CFBCAF}"/>
              </a:ext>
            </a:extLst>
          </p:cNvPr>
          <p:cNvSpPr>
            <a:spLocks noGrp="1"/>
          </p:cNvSpPr>
          <p:nvPr/>
        </p:nvSpPr>
        <p:spPr>
          <a:xfrm>
            <a:off x="9296400" y="2266950"/>
            <a:ext cx="2209800" cy="1009650"/>
          </a:xfrm>
          <a:prstGeom prst="rect">
            <a:avLst/>
          </a:prstGeom>
          <a:solidFill>
            <a:srgbClr val="FFFFFF"/>
          </a:solidFill>
          <a:ln w="9525">
            <a:solidFill>
              <a:srgbClr val="D4C7B6"/>
            </a:solidFill>
            <a:prstDash val="solid"/>
          </a:ln>
        </p:spPr>
        <p:txBody>
          <a:bodyPr/>
          <a:lstStyle/>
          <a:p>
            <a:endParaRPr lang="fr-TN"/>
          </a:p>
        </p:txBody>
      </p:sp>
      <p:sp>
        <p:nvSpPr>
          <p:cNvPr id="28" name="Rectangle 27">
            <a:extLst>
              <a:ext uri="{FF2B5EF4-FFF2-40B4-BE49-F238E27FC236}">
                <a16:creationId xmlns:a16="http://schemas.microsoft.com/office/drawing/2014/main" id="{495346A4-6AF1-4217-B9E6-53002B3557A2}"/>
              </a:ext>
            </a:extLst>
          </p:cNvPr>
          <p:cNvSpPr>
            <a:spLocks noGrp="1"/>
          </p:cNvSpPr>
          <p:nvPr/>
        </p:nvSpPr>
        <p:spPr>
          <a:xfrm>
            <a:off x="9296400" y="2266950"/>
            <a:ext cx="57150" cy="1009650"/>
          </a:xfrm>
          <a:prstGeom prst="rect">
            <a:avLst/>
          </a:prstGeom>
          <a:solidFill>
            <a:srgbClr val="0F8B8D"/>
          </a:solidFill>
          <a:ln w="0">
            <a:solidFill>
              <a:srgbClr val="000000">
                <a:alpha val="0"/>
              </a:srgbClr>
            </a:solidFill>
            <a:prstDash val="solid"/>
          </a:ln>
        </p:spPr>
        <p:txBody>
          <a:bodyPr/>
          <a:lstStyle/>
          <a:p>
            <a:endParaRPr lang="fr-TN"/>
          </a:p>
        </p:txBody>
      </p:sp>
      <p:sp>
        <p:nvSpPr>
          <p:cNvPr id="29" name="Rectangle 28">
            <a:extLst>
              <a:ext uri="{FF2B5EF4-FFF2-40B4-BE49-F238E27FC236}">
                <a16:creationId xmlns:a16="http://schemas.microsoft.com/office/drawing/2014/main" id="{337E0BFE-EF8A-4ABC-9822-5941ABC7EB99}"/>
              </a:ext>
            </a:extLst>
          </p:cNvPr>
          <p:cNvSpPr>
            <a:spLocks noGrp="1"/>
          </p:cNvSpPr>
          <p:nvPr/>
        </p:nvSpPr>
        <p:spPr>
          <a:xfrm>
            <a:off x="9486900" y="2419350"/>
            <a:ext cx="19431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5A6F7E"/>
                </a:solidFill>
                <a:latin typeface="Aptos"/>
                <a:ea typeface="Aptos"/>
                <a:cs typeface="Aptos"/>
              </a:defRPr>
            </a:pPr>
            <a:r>
              <a:rPr sz="975" b="0">
                <a:solidFill>
                  <a:srgbClr val="5A6F7E"/>
                </a:solidFill>
                <a:latin typeface="Aptos"/>
                <a:ea typeface="Aptos"/>
                <a:cs typeface="Aptos"/>
              </a:rPr>
              <a:t>Territoires</a:t>
            </a:r>
          </a:p>
        </p:txBody>
      </p:sp>
      <p:sp>
        <p:nvSpPr>
          <p:cNvPr id="30" name="Rectangle 29">
            <a:extLst>
              <a:ext uri="{FF2B5EF4-FFF2-40B4-BE49-F238E27FC236}">
                <a16:creationId xmlns:a16="http://schemas.microsoft.com/office/drawing/2014/main" id="{0AABF4F8-6C03-4958-835C-75C985167D32}"/>
              </a:ext>
            </a:extLst>
          </p:cNvPr>
          <p:cNvSpPr>
            <a:spLocks noGrp="1"/>
          </p:cNvSpPr>
          <p:nvPr/>
        </p:nvSpPr>
        <p:spPr>
          <a:xfrm>
            <a:off x="9486900" y="2686050"/>
            <a:ext cx="19431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12304C"/>
                </a:solidFill>
                <a:latin typeface="Aptos Display"/>
                <a:ea typeface="Aptos Display"/>
                <a:cs typeface="Aptos Display"/>
              </a:defRPr>
            </a:pPr>
            <a:r>
              <a:rPr sz="1950" b="1">
                <a:solidFill>
                  <a:srgbClr val="12304C"/>
                </a:solidFill>
                <a:latin typeface="Aptos Display"/>
                <a:ea typeface="Aptos Display"/>
                <a:cs typeface="Aptos Display"/>
              </a:rPr>
              <a:t>10</a:t>
            </a:r>
          </a:p>
        </p:txBody>
      </p:sp>
      <p:sp>
        <p:nvSpPr>
          <p:cNvPr id="31" name="Rectangle 30">
            <a:extLst>
              <a:ext uri="{FF2B5EF4-FFF2-40B4-BE49-F238E27FC236}">
                <a16:creationId xmlns:a16="http://schemas.microsoft.com/office/drawing/2014/main" id="{293E4CC1-4119-4832-9588-75AF5AFDC3AA}"/>
              </a:ext>
            </a:extLst>
          </p:cNvPr>
          <p:cNvSpPr>
            <a:spLocks noGrp="1"/>
          </p:cNvSpPr>
          <p:nvPr/>
        </p:nvSpPr>
        <p:spPr>
          <a:xfrm>
            <a:off x="9486900" y="3009900"/>
            <a:ext cx="19431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5A6F7E"/>
                </a:solidFill>
                <a:latin typeface="Aptos"/>
                <a:ea typeface="Aptos"/>
                <a:cs typeface="Aptos"/>
              </a:defRPr>
            </a:pPr>
            <a:r>
              <a:rPr sz="825" b="0">
                <a:solidFill>
                  <a:srgbClr val="5A6F7E"/>
                </a:solidFill>
                <a:latin typeface="Aptos"/>
                <a:ea typeface="Aptos"/>
                <a:cs typeface="Aptos"/>
              </a:rPr>
              <a:t>Couverture géographique</a:t>
            </a:r>
          </a:p>
        </p:txBody>
      </p:sp>
      <p:sp>
        <p:nvSpPr>
          <p:cNvPr id="32" name="Rectangle 31">
            <a:extLst>
              <a:ext uri="{FF2B5EF4-FFF2-40B4-BE49-F238E27FC236}">
                <a16:creationId xmlns:a16="http://schemas.microsoft.com/office/drawing/2014/main" id="{E4DEF1F8-5B64-4858-BA46-98A4E7125AFD}"/>
              </a:ext>
            </a:extLst>
          </p:cNvPr>
          <p:cNvSpPr>
            <a:spLocks noGrp="1"/>
          </p:cNvSpPr>
          <p:nvPr/>
        </p:nvSpPr>
        <p:spPr>
          <a:xfrm>
            <a:off x="685800" y="3714750"/>
            <a:ext cx="4953000" cy="2114550"/>
          </a:xfrm>
          <a:prstGeom prst="rect">
            <a:avLst/>
          </a:prstGeom>
          <a:solidFill>
            <a:srgbClr val="FFFFFF"/>
          </a:solidFill>
          <a:ln w="9525">
            <a:solidFill>
              <a:srgbClr val="D4C7B6"/>
            </a:solidFill>
            <a:prstDash val="solid"/>
          </a:ln>
        </p:spPr>
        <p:txBody>
          <a:bodyPr/>
          <a:lstStyle/>
          <a:p>
            <a:endParaRPr lang="fr-TN"/>
          </a:p>
        </p:txBody>
      </p:sp>
      <p:sp>
        <p:nvSpPr>
          <p:cNvPr id="33" name="Rectangle 32">
            <a:extLst>
              <a:ext uri="{FF2B5EF4-FFF2-40B4-BE49-F238E27FC236}">
                <a16:creationId xmlns:a16="http://schemas.microsoft.com/office/drawing/2014/main" id="{FFB88633-D355-4C93-BF4F-3782562E228B}"/>
              </a:ext>
            </a:extLst>
          </p:cNvPr>
          <p:cNvSpPr>
            <a:spLocks noGrp="1"/>
          </p:cNvSpPr>
          <p:nvPr/>
        </p:nvSpPr>
        <p:spPr>
          <a:xfrm>
            <a:off x="914400" y="3981450"/>
            <a:ext cx="2381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2304C"/>
                </a:solidFill>
                <a:latin typeface="Aptos"/>
                <a:ea typeface="Aptos"/>
                <a:cs typeface="Aptos"/>
              </a:defRPr>
            </a:pPr>
            <a:r>
              <a:rPr sz="1350" b="1">
                <a:solidFill>
                  <a:srgbClr val="12304C"/>
                </a:solidFill>
                <a:latin typeface="Aptos"/>
                <a:ea typeface="Aptos"/>
                <a:cs typeface="Aptos"/>
              </a:rPr>
              <a:t>Questions métiers à résoudre</a:t>
            </a:r>
          </a:p>
        </p:txBody>
      </p:sp>
      <p:sp>
        <p:nvSpPr>
          <p:cNvPr id="34" name="Rectangle 33">
            <a:extLst>
              <a:ext uri="{FF2B5EF4-FFF2-40B4-BE49-F238E27FC236}">
                <a16:creationId xmlns:a16="http://schemas.microsoft.com/office/drawing/2014/main" id="{8672FA04-DB2F-4C5A-9E9A-60670103EC80}"/>
              </a:ext>
            </a:extLst>
          </p:cNvPr>
          <p:cNvSpPr>
            <a:spLocks noGrp="1"/>
          </p:cNvSpPr>
          <p:nvPr/>
        </p:nvSpPr>
        <p:spPr>
          <a:xfrm>
            <a:off x="914400" y="4400550"/>
            <a:ext cx="4000500" cy="1047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5A6F7E"/>
                </a:solidFill>
                <a:latin typeface="Aptos"/>
                <a:ea typeface="Aptos"/>
                <a:cs typeface="Aptos"/>
              </a:defRPr>
            </a:pPr>
            <a:r>
              <a:rPr sz="1125" b="0">
                <a:solidFill>
                  <a:srgbClr val="5A6F7E"/>
                </a:solidFill>
                <a:latin typeface="Aptos"/>
                <a:ea typeface="Aptos"/>
                <a:cs typeface="Aptos"/>
              </a:rPr>
              <a:t>Quel est le chiffre d'affaires par produit ?</a:t>
            </a:r>
          </a:p>
          <a:p>
            <a:pPr algn="l">
              <a:defRPr sz="1125" b="0">
                <a:solidFill>
                  <a:srgbClr val="5A6F7E"/>
                </a:solidFill>
                <a:latin typeface="Aptos"/>
                <a:ea typeface="Aptos"/>
                <a:cs typeface="Aptos"/>
              </a:defRPr>
            </a:pPr>
            <a:r>
              <a:rPr sz="1125" b="0">
                <a:solidFill>
                  <a:srgbClr val="5A6F7E"/>
                </a:solidFill>
                <a:latin typeface="Aptos"/>
                <a:ea typeface="Aptos"/>
                <a:cs typeface="Aptos"/>
              </a:rPr>
              <a:t>Quelle région vend le plus ?</a:t>
            </a:r>
          </a:p>
          <a:p>
            <a:pPr algn="l">
              <a:defRPr sz="1125" b="0">
                <a:solidFill>
                  <a:srgbClr val="5A6F7E"/>
                </a:solidFill>
                <a:latin typeface="Aptos"/>
                <a:ea typeface="Aptos"/>
                <a:cs typeface="Aptos"/>
              </a:defRPr>
            </a:pPr>
            <a:r>
              <a:rPr sz="1125" b="0">
                <a:solidFill>
                  <a:srgbClr val="5A6F7E"/>
                </a:solidFill>
                <a:latin typeface="Aptos"/>
                <a:ea typeface="Aptos"/>
                <a:cs typeface="Aptos"/>
              </a:rPr>
              <a:t>Comment les ventes évoluent-elles dans le temps ?</a:t>
            </a:r>
          </a:p>
          <a:p>
            <a:pPr algn="l">
              <a:defRPr sz="1125" b="0">
                <a:solidFill>
                  <a:srgbClr val="5A6F7E"/>
                </a:solidFill>
                <a:latin typeface="Aptos"/>
                <a:ea typeface="Aptos"/>
                <a:cs typeface="Aptos"/>
              </a:defRPr>
            </a:pPr>
            <a:r>
              <a:rPr sz="1125" b="0">
                <a:solidFill>
                  <a:srgbClr val="5A6F7E"/>
                </a:solidFill>
                <a:latin typeface="Aptos"/>
                <a:ea typeface="Aptos"/>
                <a:cs typeface="Aptos"/>
              </a:rPr>
              <a:t>Quels clients génèrent le plus de revenus ?</a:t>
            </a:r>
          </a:p>
        </p:txBody>
      </p:sp>
      <p:sp>
        <p:nvSpPr>
          <p:cNvPr id="35" name="Rectangle 34">
            <a:extLst>
              <a:ext uri="{FF2B5EF4-FFF2-40B4-BE49-F238E27FC236}">
                <a16:creationId xmlns:a16="http://schemas.microsoft.com/office/drawing/2014/main" id="{8D9BA377-0810-486F-9212-CB5080D39FB6}"/>
              </a:ext>
            </a:extLst>
          </p:cNvPr>
          <p:cNvSpPr>
            <a:spLocks noGrp="1"/>
          </p:cNvSpPr>
          <p:nvPr/>
        </p:nvSpPr>
        <p:spPr>
          <a:xfrm>
            <a:off x="6172200" y="3714750"/>
            <a:ext cx="5334000" cy="2114550"/>
          </a:xfrm>
          <a:prstGeom prst="rect">
            <a:avLst/>
          </a:prstGeom>
          <a:solidFill>
            <a:srgbClr val="0A1A2F"/>
          </a:solidFill>
          <a:ln w="0">
            <a:solidFill>
              <a:srgbClr val="000000">
                <a:alpha val="0"/>
              </a:srgbClr>
            </a:solidFill>
            <a:prstDash val="solid"/>
          </a:ln>
        </p:spPr>
        <p:txBody>
          <a:bodyPr/>
          <a:lstStyle/>
          <a:p>
            <a:endParaRPr lang="fr-TN"/>
          </a:p>
        </p:txBody>
      </p:sp>
      <p:sp>
        <p:nvSpPr>
          <p:cNvPr id="36" name="Rectangle 35">
            <a:extLst>
              <a:ext uri="{FF2B5EF4-FFF2-40B4-BE49-F238E27FC236}">
                <a16:creationId xmlns:a16="http://schemas.microsoft.com/office/drawing/2014/main" id="{018E0C29-6F1A-408A-B005-4D6324748699}"/>
              </a:ext>
            </a:extLst>
          </p:cNvPr>
          <p:cNvSpPr>
            <a:spLocks noGrp="1"/>
          </p:cNvSpPr>
          <p:nvPr/>
        </p:nvSpPr>
        <p:spPr>
          <a:xfrm>
            <a:off x="6477000" y="3981450"/>
            <a:ext cx="1143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FFFFFF"/>
                </a:solidFill>
                <a:latin typeface="Aptos"/>
                <a:ea typeface="Aptos"/>
                <a:cs typeface="Aptos"/>
              </a:defRPr>
            </a:pPr>
            <a:r>
              <a:rPr sz="1350" b="1">
                <a:solidFill>
                  <a:srgbClr val="FFFFFF"/>
                </a:solidFill>
                <a:latin typeface="Aptos"/>
                <a:ea typeface="Aptos"/>
                <a:cs typeface="Aptos"/>
              </a:rPr>
              <a:t>Problème</a:t>
            </a:r>
          </a:p>
        </p:txBody>
      </p:sp>
      <p:sp>
        <p:nvSpPr>
          <p:cNvPr id="37" name="Rectangle 36">
            <a:extLst>
              <a:ext uri="{FF2B5EF4-FFF2-40B4-BE49-F238E27FC236}">
                <a16:creationId xmlns:a16="http://schemas.microsoft.com/office/drawing/2014/main" id="{2A77B706-4BD2-4A31-BD2B-EF784C83F892}"/>
              </a:ext>
            </a:extLst>
          </p:cNvPr>
          <p:cNvSpPr>
            <a:spLocks noGrp="1"/>
          </p:cNvSpPr>
          <p:nvPr/>
        </p:nvSpPr>
        <p:spPr>
          <a:xfrm>
            <a:off x="6477000" y="4381500"/>
            <a:ext cx="4438650" cy="857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DCE7F0"/>
                </a:solidFill>
                <a:latin typeface="Aptos"/>
                <a:ea typeface="Aptos"/>
                <a:cs typeface="Aptos"/>
              </a:defRPr>
            </a:pPr>
            <a:r>
              <a:rPr sz="1125" b="0">
                <a:solidFill>
                  <a:srgbClr val="DCE7F0"/>
                </a:solidFill>
                <a:latin typeface="Aptos"/>
                <a:ea typeface="Aptos"/>
                <a:cs typeface="Aptos"/>
              </a:rPr>
              <a:t>Les données sont dispersées dans plusieurs tables transactionnelles. Les requêtes analytiques deviennent plus complexes, moins lisibles et moins adaptées à une exploitation managériale directe.</a:t>
            </a:r>
          </a:p>
        </p:txBody>
      </p:sp>
      <p:sp>
        <p:nvSpPr>
          <p:cNvPr id="38" name="Rectangle 37">
            <a:extLst>
              <a:ext uri="{FF2B5EF4-FFF2-40B4-BE49-F238E27FC236}">
                <a16:creationId xmlns:a16="http://schemas.microsoft.com/office/drawing/2014/main" id="{9C6E28C0-3BE4-4152-A1F7-EA903C22F46F}"/>
              </a:ext>
            </a:extLst>
          </p:cNvPr>
          <p:cNvSpPr>
            <a:spLocks noGrp="1"/>
          </p:cNvSpPr>
          <p:nvPr/>
        </p:nvSpPr>
        <p:spPr>
          <a:xfrm>
            <a:off x="6477000" y="5372100"/>
            <a:ext cx="40957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FFFFFF"/>
                </a:solidFill>
                <a:latin typeface="Aptos"/>
                <a:ea typeface="Aptos"/>
                <a:cs typeface="Aptos"/>
              </a:defRPr>
            </a:pPr>
            <a:r>
              <a:rPr sz="1200" b="1">
                <a:solidFill>
                  <a:srgbClr val="FFFFFF"/>
                </a:solidFill>
                <a:latin typeface="Aptos"/>
                <a:ea typeface="Aptos"/>
                <a:cs typeface="Aptos"/>
              </a:rPr>
              <a:t>Réponse du projet : construire une chaîne BI complète et cohérente.</a:t>
            </a:r>
          </a:p>
        </p:txBody>
      </p:sp>
      <p:sp>
        <p:nvSpPr>
          <p:cNvPr id="39" name="Rectangle 38">
            <a:extLst>
              <a:ext uri="{FF2B5EF4-FFF2-40B4-BE49-F238E27FC236}">
                <a16:creationId xmlns:a16="http://schemas.microsoft.com/office/drawing/2014/main" id="{5233981D-20DF-43B5-BC6C-8AC3841BCAF5}"/>
              </a:ext>
            </a:extLst>
          </p:cNvPr>
          <p:cNvSpPr>
            <a:spLocks noGrp="1"/>
          </p:cNvSpPr>
          <p:nvPr/>
        </p:nvSpPr>
        <p:spPr>
          <a:xfrm>
            <a:off x="704850" y="6515100"/>
            <a:ext cx="5715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5A6F7E"/>
                </a:solidFill>
                <a:latin typeface="Aptos"/>
                <a:ea typeface="Aptos"/>
                <a:cs typeface="Aptos"/>
              </a:defRPr>
            </a:pPr>
            <a:r>
              <a:rPr sz="825" b="0">
                <a:solidFill>
                  <a:srgbClr val="5A6F7E"/>
                </a:solidFill>
                <a:latin typeface="Aptos"/>
                <a:ea typeface="Aptos"/>
                <a:cs typeface="Aptos"/>
              </a:rPr>
              <a:t>Soutenance · contexte</a:t>
            </a:r>
          </a:p>
        </p:txBody>
      </p:sp>
      <p:sp>
        <p:nvSpPr>
          <p:cNvPr id="40" name="Rectangle 39">
            <a:extLst>
              <a:ext uri="{FF2B5EF4-FFF2-40B4-BE49-F238E27FC236}">
                <a16:creationId xmlns:a16="http://schemas.microsoft.com/office/drawing/2014/main" id="{ED48C5CF-004D-416A-96AD-93E1ABF7FFFF}"/>
              </a:ext>
            </a:extLst>
          </p:cNvPr>
          <p:cNvSpPr>
            <a:spLocks noGrp="1"/>
          </p:cNvSpPr>
          <p:nvPr/>
        </p:nvSpPr>
        <p:spPr>
          <a:xfrm>
            <a:off x="9258300" y="6515100"/>
            <a:ext cx="2286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0">
                <a:solidFill>
                  <a:srgbClr val="5A6F7E"/>
                </a:solidFill>
                <a:latin typeface="Aptos"/>
                <a:ea typeface="Aptos"/>
                <a:cs typeface="Aptos"/>
              </a:defRPr>
            </a:pPr>
            <a:r>
              <a:rPr sz="825" b="0">
                <a:solidFill>
                  <a:srgbClr val="5A6F7E"/>
                </a:solidFill>
                <a:latin typeface="Aptos"/>
                <a:ea typeface="Aptos"/>
                <a:cs typeface="Aptos"/>
              </a:rPr>
              <a:t>Projet BI AdventureWorks</a:t>
            </a:r>
          </a:p>
        </p:txBody>
      </p:sp>
      <p:sp>
        <p:nvSpPr>
          <p:cNvPr id="42" name="Ellipse 41">
            <a:extLst>
              <a:ext uri="{FF2B5EF4-FFF2-40B4-BE49-F238E27FC236}">
                <a16:creationId xmlns:a16="http://schemas.microsoft.com/office/drawing/2014/main" id="{F07E88AB-55ED-5D59-1869-F89610C1CE57}"/>
              </a:ext>
            </a:extLst>
          </p:cNvPr>
          <p:cNvSpPr/>
          <p:nvPr/>
        </p:nvSpPr>
        <p:spPr>
          <a:xfrm>
            <a:off x="11845290" y="6522720"/>
            <a:ext cx="304800" cy="30988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b="1" dirty="0">
                <a:ln w="22225">
                  <a:solidFill>
                    <a:schemeClr val="accent2"/>
                  </a:solidFill>
                  <a:prstDash val="solid"/>
                </a:ln>
                <a:solidFill>
                  <a:schemeClr val="accent2">
                    <a:lumMod val="40000"/>
                    <a:lumOff val="60000"/>
                  </a:schemeClr>
                </a:solidFill>
              </a:rPr>
              <a:t>2</a:t>
            </a:r>
            <a:endParaRPr lang="fr-TN" b="1" dirty="0">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20542596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8F700719-0241-4561-9565-DB2D65CC3725}"/>
              </a:ext>
            </a:extLst>
          </p:cNvPr>
          <p:cNvSpPr>
            <a:spLocks noGrp="1"/>
          </p:cNvSpPr>
          <p:nvPr/>
        </p:nvSpPr>
        <p:spPr>
          <a:xfrm>
            <a:off x="0" y="0"/>
            <a:ext cx="12192000" cy="6858000"/>
          </a:xfrm>
          <a:prstGeom prst="rect">
            <a:avLst/>
          </a:prstGeom>
          <a:solidFill>
            <a:srgbClr val="F6F0E7"/>
          </a:solidFill>
          <a:ln w="0">
            <a:solidFill>
              <a:srgbClr val="000000">
                <a:alpha val="0"/>
              </a:srgbClr>
            </a:solidFill>
            <a:prstDash val="solid"/>
          </a:ln>
        </p:spPr>
        <p:txBody>
          <a:bodyPr/>
          <a:lstStyle/>
          <a:p>
            <a:endParaRPr lang="fr-TN"/>
          </a:p>
        </p:txBody>
      </p:sp>
      <p:sp>
        <p:nvSpPr>
          <p:cNvPr id="2" name="Rectangle 1">
            <a:extLst>
              <a:ext uri="{FF2B5EF4-FFF2-40B4-BE49-F238E27FC236}">
                <a16:creationId xmlns:a16="http://schemas.microsoft.com/office/drawing/2014/main" id="{227D251C-CC63-43C4-91D5-6D365F8E12AF}"/>
              </a:ext>
            </a:extLst>
          </p:cNvPr>
          <p:cNvSpPr>
            <a:spLocks noGrp="1"/>
          </p:cNvSpPr>
          <p:nvPr/>
        </p:nvSpPr>
        <p:spPr>
          <a:xfrm>
            <a:off x="0" y="0"/>
            <a:ext cx="12192000" cy="247650"/>
          </a:xfrm>
          <a:prstGeom prst="rect">
            <a:avLst/>
          </a:prstGeom>
          <a:solidFill>
            <a:srgbClr val="0A1A2F"/>
          </a:solidFill>
          <a:ln w="0">
            <a:solidFill>
              <a:srgbClr val="000000">
                <a:alpha val="0"/>
              </a:srgbClr>
            </a:solidFill>
            <a:prstDash val="solid"/>
          </a:ln>
        </p:spPr>
        <p:txBody>
          <a:bodyPr/>
          <a:lstStyle/>
          <a:p>
            <a:endParaRPr lang="fr-TN"/>
          </a:p>
        </p:txBody>
      </p:sp>
      <p:sp>
        <p:nvSpPr>
          <p:cNvPr id="3" name="Rectangle 2">
            <a:extLst>
              <a:ext uri="{FF2B5EF4-FFF2-40B4-BE49-F238E27FC236}">
                <a16:creationId xmlns:a16="http://schemas.microsoft.com/office/drawing/2014/main" id="{6D8B6F73-9D3C-4F8E-898E-AF70D47B8619}"/>
              </a:ext>
            </a:extLst>
          </p:cNvPr>
          <p:cNvSpPr>
            <a:spLocks noGrp="1"/>
          </p:cNvSpPr>
          <p:nvPr/>
        </p:nvSpPr>
        <p:spPr>
          <a:xfrm>
            <a:off x="0" y="247650"/>
            <a:ext cx="2095500" cy="57150"/>
          </a:xfrm>
          <a:prstGeom prst="rect">
            <a:avLst/>
          </a:prstGeom>
          <a:solidFill>
            <a:srgbClr val="0F8B8D"/>
          </a:solidFill>
          <a:ln w="0">
            <a:solidFill>
              <a:srgbClr val="000000">
                <a:alpha val="0"/>
              </a:srgbClr>
            </a:solidFill>
            <a:prstDash val="solid"/>
          </a:ln>
        </p:spPr>
        <p:txBody>
          <a:bodyPr/>
          <a:lstStyle/>
          <a:p>
            <a:endParaRPr lang="fr-TN"/>
          </a:p>
        </p:txBody>
      </p:sp>
      <p:sp>
        <p:nvSpPr>
          <p:cNvPr id="4" name="Rectangle 3">
            <a:extLst>
              <a:ext uri="{FF2B5EF4-FFF2-40B4-BE49-F238E27FC236}">
                <a16:creationId xmlns:a16="http://schemas.microsoft.com/office/drawing/2014/main" id="{32731EAE-0485-451B-9F96-0DBBEEF45047}"/>
              </a:ext>
            </a:extLst>
          </p:cNvPr>
          <p:cNvSpPr>
            <a:spLocks noGrp="1"/>
          </p:cNvSpPr>
          <p:nvPr/>
        </p:nvSpPr>
        <p:spPr>
          <a:xfrm>
            <a:off x="704850" y="552450"/>
            <a:ext cx="2095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0F8B8D"/>
                </a:solidFill>
                <a:latin typeface="Aptos"/>
                <a:ea typeface="Aptos"/>
                <a:cs typeface="Aptos"/>
              </a:defRPr>
            </a:pPr>
            <a:r>
              <a:rPr sz="900" b="1">
                <a:solidFill>
                  <a:srgbClr val="0F8B8D"/>
                </a:solidFill>
                <a:latin typeface="Aptos"/>
                <a:ea typeface="Aptos"/>
                <a:cs typeface="Aptos"/>
              </a:rPr>
              <a:t>ARCHITECTURE</a:t>
            </a:r>
          </a:p>
        </p:txBody>
      </p:sp>
      <p:sp>
        <p:nvSpPr>
          <p:cNvPr id="5" name="Rectangle 4">
            <a:extLst>
              <a:ext uri="{FF2B5EF4-FFF2-40B4-BE49-F238E27FC236}">
                <a16:creationId xmlns:a16="http://schemas.microsoft.com/office/drawing/2014/main" id="{D18087CA-55D1-4A4C-A24E-EC772AD407CC}"/>
              </a:ext>
            </a:extLst>
          </p:cNvPr>
          <p:cNvSpPr>
            <a:spLocks noGrp="1"/>
          </p:cNvSpPr>
          <p:nvPr/>
        </p:nvSpPr>
        <p:spPr>
          <a:xfrm>
            <a:off x="685800" y="781050"/>
            <a:ext cx="8763000" cy="742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400" b="1">
                <a:solidFill>
                  <a:srgbClr val="12304C"/>
                </a:solidFill>
                <a:latin typeface="Aptos Display"/>
                <a:ea typeface="Aptos Display"/>
                <a:cs typeface="Aptos Display"/>
              </a:defRPr>
            </a:pPr>
            <a:r>
              <a:rPr sz="2400" b="1">
                <a:solidFill>
                  <a:srgbClr val="12304C"/>
                </a:solidFill>
                <a:latin typeface="Aptos Display"/>
                <a:ea typeface="Aptos Display"/>
                <a:cs typeface="Aptos Display"/>
              </a:rPr>
              <a:t>La solution repose sur une architecture décisionnelle de bout en bout.</a:t>
            </a:r>
          </a:p>
        </p:txBody>
      </p:sp>
      <p:sp>
        <p:nvSpPr>
          <p:cNvPr id="6" name="Rectangle 5">
            <a:extLst>
              <a:ext uri="{FF2B5EF4-FFF2-40B4-BE49-F238E27FC236}">
                <a16:creationId xmlns:a16="http://schemas.microsoft.com/office/drawing/2014/main" id="{8D915C2A-EE75-4506-AE11-1435B83D0F4C}"/>
              </a:ext>
            </a:extLst>
          </p:cNvPr>
          <p:cNvSpPr>
            <a:spLocks noGrp="1"/>
          </p:cNvSpPr>
          <p:nvPr/>
        </p:nvSpPr>
        <p:spPr>
          <a:xfrm>
            <a:off x="704850" y="1562100"/>
            <a:ext cx="81915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5A6F7E"/>
                </a:solidFill>
                <a:latin typeface="Aptos"/>
                <a:ea typeface="Aptos"/>
                <a:cs typeface="Aptos"/>
              </a:defRPr>
            </a:pPr>
            <a:r>
              <a:rPr sz="1200" b="0">
                <a:solidFill>
                  <a:srgbClr val="5A6F7E"/>
                </a:solidFill>
                <a:latin typeface="Aptos"/>
                <a:ea typeface="Aptos"/>
                <a:cs typeface="Aptos"/>
              </a:rPr>
              <a:t>Chaque couche a un rôle précis : collecter, transformer, structurer, analyser et restituer.</a:t>
            </a:r>
          </a:p>
        </p:txBody>
      </p:sp>
      <p:sp>
        <p:nvSpPr>
          <p:cNvPr id="7" name="Rectangle 6">
            <a:extLst>
              <a:ext uri="{FF2B5EF4-FFF2-40B4-BE49-F238E27FC236}">
                <a16:creationId xmlns:a16="http://schemas.microsoft.com/office/drawing/2014/main" id="{26166023-0863-416F-B093-268917C8AA5A}"/>
              </a:ext>
            </a:extLst>
          </p:cNvPr>
          <p:cNvSpPr>
            <a:spLocks noGrp="1"/>
          </p:cNvSpPr>
          <p:nvPr/>
        </p:nvSpPr>
        <p:spPr>
          <a:xfrm>
            <a:off x="800100" y="3105150"/>
            <a:ext cx="1562100" cy="1200150"/>
          </a:xfrm>
          <a:prstGeom prst="rect">
            <a:avLst/>
          </a:prstGeom>
          <a:solidFill>
            <a:srgbClr val="0A1A2F"/>
          </a:solidFill>
          <a:ln w="0">
            <a:solidFill>
              <a:srgbClr val="000000">
                <a:alpha val="0"/>
              </a:srgbClr>
            </a:solidFill>
            <a:prstDash val="solid"/>
          </a:ln>
        </p:spPr>
        <p:txBody>
          <a:bodyPr/>
          <a:lstStyle/>
          <a:p>
            <a:endParaRPr lang="fr-TN"/>
          </a:p>
        </p:txBody>
      </p:sp>
      <p:sp>
        <p:nvSpPr>
          <p:cNvPr id="8" name="Rectangle 7">
            <a:extLst>
              <a:ext uri="{FF2B5EF4-FFF2-40B4-BE49-F238E27FC236}">
                <a16:creationId xmlns:a16="http://schemas.microsoft.com/office/drawing/2014/main" id="{F864CBC0-193A-4838-9B20-3DB626A27DDD}"/>
              </a:ext>
            </a:extLst>
          </p:cNvPr>
          <p:cNvSpPr>
            <a:spLocks noGrp="1"/>
          </p:cNvSpPr>
          <p:nvPr/>
        </p:nvSpPr>
        <p:spPr>
          <a:xfrm>
            <a:off x="800100" y="3295650"/>
            <a:ext cx="15621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00" b="1">
                <a:solidFill>
                  <a:srgbClr val="FFFFFF"/>
                </a:solidFill>
                <a:latin typeface="Aptos"/>
                <a:ea typeface="Aptos"/>
                <a:cs typeface="Aptos"/>
              </a:defRPr>
            </a:pPr>
            <a:r>
              <a:rPr sz="1800" b="1">
                <a:solidFill>
                  <a:srgbClr val="FFFFFF"/>
                </a:solidFill>
                <a:latin typeface="Aptos"/>
                <a:ea typeface="Aptos"/>
                <a:cs typeface="Aptos"/>
              </a:rPr>
              <a:t>OLTP</a:t>
            </a:r>
          </a:p>
        </p:txBody>
      </p:sp>
      <p:sp>
        <p:nvSpPr>
          <p:cNvPr id="9" name="Rectangle 8">
            <a:extLst>
              <a:ext uri="{FF2B5EF4-FFF2-40B4-BE49-F238E27FC236}">
                <a16:creationId xmlns:a16="http://schemas.microsoft.com/office/drawing/2014/main" id="{57381C76-3722-4478-96E4-1553C455C9C4}"/>
              </a:ext>
            </a:extLst>
          </p:cNvPr>
          <p:cNvSpPr>
            <a:spLocks noGrp="1"/>
          </p:cNvSpPr>
          <p:nvPr/>
        </p:nvSpPr>
        <p:spPr>
          <a:xfrm>
            <a:off x="952500" y="3695700"/>
            <a:ext cx="125730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0">
                <a:solidFill>
                  <a:srgbClr val="FFFFFF"/>
                </a:solidFill>
                <a:latin typeface="Aptos"/>
                <a:ea typeface="Aptos"/>
                <a:cs typeface="Aptos"/>
              </a:defRPr>
            </a:pPr>
            <a:r>
              <a:rPr sz="1050" b="0">
                <a:solidFill>
                  <a:srgbClr val="FFFFFF"/>
                </a:solidFill>
                <a:latin typeface="Aptos"/>
                <a:ea typeface="Aptos"/>
                <a:cs typeface="Aptos"/>
              </a:rPr>
              <a:t>AdventureWorks2019</a:t>
            </a:r>
          </a:p>
          <a:p>
            <a:pPr algn="ctr">
              <a:defRPr sz="1050" b="0">
                <a:solidFill>
                  <a:srgbClr val="FFFFFF"/>
                </a:solidFill>
                <a:latin typeface="Aptos"/>
                <a:ea typeface="Aptos"/>
                <a:cs typeface="Aptos"/>
              </a:defRPr>
            </a:pPr>
            <a:r>
              <a:rPr sz="1050" b="0">
                <a:solidFill>
                  <a:srgbClr val="FFFFFF"/>
                </a:solidFill>
                <a:latin typeface="Aptos"/>
                <a:ea typeface="Aptos"/>
                <a:cs typeface="Aptos"/>
              </a:rPr>
              <a:t>Base transactionnelle source</a:t>
            </a:r>
          </a:p>
        </p:txBody>
      </p:sp>
      <p:sp>
        <p:nvSpPr>
          <p:cNvPr id="10" name="Rectangle 9">
            <a:extLst>
              <a:ext uri="{FF2B5EF4-FFF2-40B4-BE49-F238E27FC236}">
                <a16:creationId xmlns:a16="http://schemas.microsoft.com/office/drawing/2014/main" id="{26E78361-5B70-4C9F-8007-F813B3DB2C7E}"/>
              </a:ext>
            </a:extLst>
          </p:cNvPr>
          <p:cNvSpPr>
            <a:spLocks noGrp="1"/>
          </p:cNvSpPr>
          <p:nvPr/>
        </p:nvSpPr>
        <p:spPr>
          <a:xfrm>
            <a:off x="2362200" y="3695700"/>
            <a:ext cx="609600" cy="38100"/>
          </a:xfrm>
          <a:prstGeom prst="rect">
            <a:avLst/>
          </a:prstGeom>
          <a:solidFill>
            <a:srgbClr val="D4C7B6"/>
          </a:solidFill>
          <a:ln w="0">
            <a:solidFill>
              <a:srgbClr val="000000">
                <a:alpha val="0"/>
              </a:srgbClr>
            </a:solidFill>
            <a:prstDash val="solid"/>
          </a:ln>
        </p:spPr>
        <p:txBody>
          <a:bodyPr/>
          <a:lstStyle/>
          <a:p>
            <a:endParaRPr lang="fr-TN"/>
          </a:p>
        </p:txBody>
      </p:sp>
      <p:sp>
        <p:nvSpPr>
          <p:cNvPr id="11" name="Rectangle 10">
            <a:extLst>
              <a:ext uri="{FF2B5EF4-FFF2-40B4-BE49-F238E27FC236}">
                <a16:creationId xmlns:a16="http://schemas.microsoft.com/office/drawing/2014/main" id="{708CE217-3422-4920-B139-383F0C0BEE1F}"/>
              </a:ext>
            </a:extLst>
          </p:cNvPr>
          <p:cNvSpPr>
            <a:spLocks noGrp="1"/>
          </p:cNvSpPr>
          <p:nvPr/>
        </p:nvSpPr>
        <p:spPr>
          <a:xfrm>
            <a:off x="2971800" y="3105150"/>
            <a:ext cx="1562100" cy="1200150"/>
          </a:xfrm>
          <a:prstGeom prst="rect">
            <a:avLst/>
          </a:prstGeom>
          <a:solidFill>
            <a:srgbClr val="0F8B8D"/>
          </a:solidFill>
          <a:ln w="0">
            <a:solidFill>
              <a:srgbClr val="000000">
                <a:alpha val="0"/>
              </a:srgbClr>
            </a:solidFill>
            <a:prstDash val="solid"/>
          </a:ln>
        </p:spPr>
        <p:txBody>
          <a:bodyPr/>
          <a:lstStyle/>
          <a:p>
            <a:endParaRPr lang="fr-TN"/>
          </a:p>
        </p:txBody>
      </p:sp>
      <p:sp>
        <p:nvSpPr>
          <p:cNvPr id="12" name="Rectangle 11">
            <a:extLst>
              <a:ext uri="{FF2B5EF4-FFF2-40B4-BE49-F238E27FC236}">
                <a16:creationId xmlns:a16="http://schemas.microsoft.com/office/drawing/2014/main" id="{C850F77E-F4EB-4B36-9FA4-ACD93320B30B}"/>
              </a:ext>
            </a:extLst>
          </p:cNvPr>
          <p:cNvSpPr>
            <a:spLocks noGrp="1"/>
          </p:cNvSpPr>
          <p:nvPr/>
        </p:nvSpPr>
        <p:spPr>
          <a:xfrm>
            <a:off x="2971800" y="3295650"/>
            <a:ext cx="15621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00" b="1">
                <a:solidFill>
                  <a:srgbClr val="FFFFFF"/>
                </a:solidFill>
                <a:latin typeface="Aptos"/>
                <a:ea typeface="Aptos"/>
                <a:cs typeface="Aptos"/>
              </a:defRPr>
            </a:pPr>
            <a:r>
              <a:rPr sz="1800" b="1">
                <a:solidFill>
                  <a:srgbClr val="FFFFFF"/>
                </a:solidFill>
                <a:latin typeface="Aptos"/>
                <a:ea typeface="Aptos"/>
                <a:cs typeface="Aptos"/>
              </a:rPr>
              <a:t>SSIS</a:t>
            </a:r>
          </a:p>
        </p:txBody>
      </p:sp>
      <p:sp>
        <p:nvSpPr>
          <p:cNvPr id="13" name="Rectangle 12">
            <a:extLst>
              <a:ext uri="{FF2B5EF4-FFF2-40B4-BE49-F238E27FC236}">
                <a16:creationId xmlns:a16="http://schemas.microsoft.com/office/drawing/2014/main" id="{518880FF-0A77-49AC-A31C-140DDBCE44B8}"/>
              </a:ext>
            </a:extLst>
          </p:cNvPr>
          <p:cNvSpPr>
            <a:spLocks noGrp="1"/>
          </p:cNvSpPr>
          <p:nvPr/>
        </p:nvSpPr>
        <p:spPr>
          <a:xfrm>
            <a:off x="3124200" y="3695700"/>
            <a:ext cx="125730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0">
                <a:solidFill>
                  <a:srgbClr val="FFFFFF"/>
                </a:solidFill>
                <a:latin typeface="Aptos"/>
                <a:ea typeface="Aptos"/>
                <a:cs typeface="Aptos"/>
              </a:defRPr>
            </a:pPr>
            <a:r>
              <a:rPr sz="1050" b="0">
                <a:solidFill>
                  <a:srgbClr val="FFFFFF"/>
                </a:solidFill>
                <a:latin typeface="Aptos"/>
                <a:ea typeface="Aptos"/>
                <a:cs typeface="Aptos"/>
              </a:rPr>
              <a:t>Extraction, transformation</a:t>
            </a:r>
          </a:p>
          <a:p>
            <a:pPr algn="ctr">
              <a:defRPr sz="1050" b="0">
                <a:solidFill>
                  <a:srgbClr val="FFFFFF"/>
                </a:solidFill>
                <a:latin typeface="Aptos"/>
                <a:ea typeface="Aptos"/>
                <a:cs typeface="Aptos"/>
              </a:defRPr>
            </a:pPr>
            <a:r>
              <a:rPr sz="1050" b="0">
                <a:solidFill>
                  <a:srgbClr val="FFFFFF"/>
                </a:solidFill>
                <a:latin typeface="Aptos"/>
                <a:ea typeface="Aptos"/>
                <a:cs typeface="Aptos"/>
              </a:rPr>
              <a:t>et chargement</a:t>
            </a:r>
          </a:p>
        </p:txBody>
      </p:sp>
      <p:sp>
        <p:nvSpPr>
          <p:cNvPr id="14" name="Rectangle 13">
            <a:extLst>
              <a:ext uri="{FF2B5EF4-FFF2-40B4-BE49-F238E27FC236}">
                <a16:creationId xmlns:a16="http://schemas.microsoft.com/office/drawing/2014/main" id="{23D487BD-377E-4468-A125-745FCB3EF36F}"/>
              </a:ext>
            </a:extLst>
          </p:cNvPr>
          <p:cNvSpPr>
            <a:spLocks noGrp="1"/>
          </p:cNvSpPr>
          <p:nvPr/>
        </p:nvSpPr>
        <p:spPr>
          <a:xfrm>
            <a:off x="4533900" y="3695700"/>
            <a:ext cx="609600" cy="38100"/>
          </a:xfrm>
          <a:prstGeom prst="rect">
            <a:avLst/>
          </a:prstGeom>
          <a:solidFill>
            <a:srgbClr val="D4C7B6"/>
          </a:solidFill>
          <a:ln w="0">
            <a:solidFill>
              <a:srgbClr val="000000">
                <a:alpha val="0"/>
              </a:srgbClr>
            </a:solidFill>
            <a:prstDash val="solid"/>
          </a:ln>
        </p:spPr>
        <p:txBody>
          <a:bodyPr/>
          <a:lstStyle/>
          <a:p>
            <a:endParaRPr lang="fr-TN"/>
          </a:p>
        </p:txBody>
      </p:sp>
      <p:sp>
        <p:nvSpPr>
          <p:cNvPr id="15" name="Rectangle 14">
            <a:extLst>
              <a:ext uri="{FF2B5EF4-FFF2-40B4-BE49-F238E27FC236}">
                <a16:creationId xmlns:a16="http://schemas.microsoft.com/office/drawing/2014/main" id="{8DDD4808-4DEB-4BA0-B26A-D7A4939E7D3A}"/>
              </a:ext>
            </a:extLst>
          </p:cNvPr>
          <p:cNvSpPr>
            <a:spLocks noGrp="1"/>
          </p:cNvSpPr>
          <p:nvPr/>
        </p:nvSpPr>
        <p:spPr>
          <a:xfrm>
            <a:off x="5143500" y="3105150"/>
            <a:ext cx="1562100" cy="1200150"/>
          </a:xfrm>
          <a:prstGeom prst="rect">
            <a:avLst/>
          </a:prstGeom>
          <a:solidFill>
            <a:srgbClr val="E07A5F"/>
          </a:solidFill>
          <a:ln w="0">
            <a:solidFill>
              <a:srgbClr val="000000">
                <a:alpha val="0"/>
              </a:srgbClr>
            </a:solidFill>
            <a:prstDash val="solid"/>
          </a:ln>
        </p:spPr>
        <p:txBody>
          <a:bodyPr/>
          <a:lstStyle/>
          <a:p>
            <a:endParaRPr lang="fr-TN"/>
          </a:p>
        </p:txBody>
      </p:sp>
      <p:sp>
        <p:nvSpPr>
          <p:cNvPr id="16" name="Rectangle 15">
            <a:extLst>
              <a:ext uri="{FF2B5EF4-FFF2-40B4-BE49-F238E27FC236}">
                <a16:creationId xmlns:a16="http://schemas.microsoft.com/office/drawing/2014/main" id="{6181540D-FA9D-4DF7-A134-C75400838DC4}"/>
              </a:ext>
            </a:extLst>
          </p:cNvPr>
          <p:cNvSpPr>
            <a:spLocks noGrp="1"/>
          </p:cNvSpPr>
          <p:nvPr/>
        </p:nvSpPr>
        <p:spPr>
          <a:xfrm>
            <a:off x="5143500" y="3295650"/>
            <a:ext cx="15621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00" b="1">
                <a:solidFill>
                  <a:srgbClr val="FFFFFF"/>
                </a:solidFill>
                <a:latin typeface="Aptos"/>
                <a:ea typeface="Aptos"/>
                <a:cs typeface="Aptos"/>
              </a:defRPr>
            </a:pPr>
            <a:r>
              <a:rPr sz="1800" b="1">
                <a:solidFill>
                  <a:srgbClr val="FFFFFF"/>
                </a:solidFill>
                <a:latin typeface="Aptos"/>
                <a:ea typeface="Aptos"/>
                <a:cs typeface="Aptos"/>
              </a:rPr>
              <a:t>DW</a:t>
            </a:r>
          </a:p>
        </p:txBody>
      </p:sp>
      <p:sp>
        <p:nvSpPr>
          <p:cNvPr id="17" name="Rectangle 16">
            <a:extLst>
              <a:ext uri="{FF2B5EF4-FFF2-40B4-BE49-F238E27FC236}">
                <a16:creationId xmlns:a16="http://schemas.microsoft.com/office/drawing/2014/main" id="{29CD2AA4-E1E3-47D9-B948-2B2B6E17714E}"/>
              </a:ext>
            </a:extLst>
          </p:cNvPr>
          <p:cNvSpPr>
            <a:spLocks noGrp="1"/>
          </p:cNvSpPr>
          <p:nvPr/>
        </p:nvSpPr>
        <p:spPr>
          <a:xfrm>
            <a:off x="5295900" y="3695700"/>
            <a:ext cx="125730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0">
                <a:solidFill>
                  <a:srgbClr val="FFFFFF"/>
                </a:solidFill>
                <a:latin typeface="Aptos"/>
                <a:ea typeface="Aptos"/>
                <a:cs typeface="Aptos"/>
              </a:defRPr>
            </a:pPr>
            <a:r>
              <a:rPr sz="1050" b="0">
                <a:solidFill>
                  <a:srgbClr val="FFFFFF"/>
                </a:solidFill>
                <a:latin typeface="Aptos"/>
                <a:ea typeface="Aptos"/>
                <a:cs typeface="Aptos"/>
              </a:rPr>
              <a:t>Schéma en étoile</a:t>
            </a:r>
          </a:p>
          <a:p>
            <a:pPr algn="ctr">
              <a:defRPr sz="1050" b="0">
                <a:solidFill>
                  <a:srgbClr val="FFFFFF"/>
                </a:solidFill>
                <a:latin typeface="Aptos"/>
                <a:ea typeface="Aptos"/>
                <a:cs typeface="Aptos"/>
              </a:defRPr>
            </a:pPr>
            <a:r>
              <a:rPr sz="1050" b="0">
                <a:solidFill>
                  <a:srgbClr val="FFFFFF"/>
                </a:solidFill>
                <a:latin typeface="Aptos"/>
                <a:ea typeface="Aptos"/>
                <a:cs typeface="Aptos"/>
              </a:rPr>
              <a:t>centré sur FactSales</a:t>
            </a:r>
          </a:p>
        </p:txBody>
      </p:sp>
      <p:sp>
        <p:nvSpPr>
          <p:cNvPr id="18" name="Rectangle 17">
            <a:extLst>
              <a:ext uri="{FF2B5EF4-FFF2-40B4-BE49-F238E27FC236}">
                <a16:creationId xmlns:a16="http://schemas.microsoft.com/office/drawing/2014/main" id="{2B81FF34-D43A-4B97-9E1D-C1EFB3BE678E}"/>
              </a:ext>
            </a:extLst>
          </p:cNvPr>
          <p:cNvSpPr>
            <a:spLocks noGrp="1"/>
          </p:cNvSpPr>
          <p:nvPr/>
        </p:nvSpPr>
        <p:spPr>
          <a:xfrm>
            <a:off x="6705600" y="3695700"/>
            <a:ext cx="609600" cy="38100"/>
          </a:xfrm>
          <a:prstGeom prst="rect">
            <a:avLst/>
          </a:prstGeom>
          <a:solidFill>
            <a:srgbClr val="D4C7B6"/>
          </a:solidFill>
          <a:ln w="0">
            <a:solidFill>
              <a:srgbClr val="000000">
                <a:alpha val="0"/>
              </a:srgbClr>
            </a:solidFill>
            <a:prstDash val="solid"/>
          </a:ln>
        </p:spPr>
        <p:txBody>
          <a:bodyPr/>
          <a:lstStyle/>
          <a:p>
            <a:endParaRPr lang="fr-TN"/>
          </a:p>
        </p:txBody>
      </p:sp>
      <p:sp>
        <p:nvSpPr>
          <p:cNvPr id="19" name="Rectangle 18">
            <a:extLst>
              <a:ext uri="{FF2B5EF4-FFF2-40B4-BE49-F238E27FC236}">
                <a16:creationId xmlns:a16="http://schemas.microsoft.com/office/drawing/2014/main" id="{10480505-4183-4736-98A7-C4F7EE92EC45}"/>
              </a:ext>
            </a:extLst>
          </p:cNvPr>
          <p:cNvSpPr>
            <a:spLocks noGrp="1"/>
          </p:cNvSpPr>
          <p:nvPr/>
        </p:nvSpPr>
        <p:spPr>
          <a:xfrm>
            <a:off x="7315200" y="3105150"/>
            <a:ext cx="1562100" cy="1200150"/>
          </a:xfrm>
          <a:prstGeom prst="rect">
            <a:avLst/>
          </a:prstGeom>
          <a:solidFill>
            <a:srgbClr val="7A9E7E"/>
          </a:solidFill>
          <a:ln w="0">
            <a:solidFill>
              <a:srgbClr val="000000">
                <a:alpha val="0"/>
              </a:srgbClr>
            </a:solidFill>
            <a:prstDash val="solid"/>
          </a:ln>
        </p:spPr>
        <p:txBody>
          <a:bodyPr/>
          <a:lstStyle/>
          <a:p>
            <a:endParaRPr lang="fr-TN"/>
          </a:p>
        </p:txBody>
      </p:sp>
      <p:sp>
        <p:nvSpPr>
          <p:cNvPr id="20" name="Rectangle 19">
            <a:extLst>
              <a:ext uri="{FF2B5EF4-FFF2-40B4-BE49-F238E27FC236}">
                <a16:creationId xmlns:a16="http://schemas.microsoft.com/office/drawing/2014/main" id="{235ECF5A-7FE0-4DA6-8B70-F27F78210345}"/>
              </a:ext>
            </a:extLst>
          </p:cNvPr>
          <p:cNvSpPr>
            <a:spLocks noGrp="1"/>
          </p:cNvSpPr>
          <p:nvPr/>
        </p:nvSpPr>
        <p:spPr>
          <a:xfrm>
            <a:off x="7315200" y="3295650"/>
            <a:ext cx="15621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00" b="1">
                <a:solidFill>
                  <a:srgbClr val="FFFFFF"/>
                </a:solidFill>
                <a:latin typeface="Aptos"/>
                <a:ea typeface="Aptos"/>
                <a:cs typeface="Aptos"/>
              </a:defRPr>
            </a:pPr>
            <a:r>
              <a:rPr sz="1800" b="1">
                <a:solidFill>
                  <a:srgbClr val="FFFFFF"/>
                </a:solidFill>
                <a:latin typeface="Aptos"/>
                <a:ea typeface="Aptos"/>
                <a:cs typeface="Aptos"/>
              </a:rPr>
              <a:t>SSAS</a:t>
            </a:r>
          </a:p>
        </p:txBody>
      </p:sp>
      <p:sp>
        <p:nvSpPr>
          <p:cNvPr id="21" name="Rectangle 20">
            <a:extLst>
              <a:ext uri="{FF2B5EF4-FFF2-40B4-BE49-F238E27FC236}">
                <a16:creationId xmlns:a16="http://schemas.microsoft.com/office/drawing/2014/main" id="{F3F35881-AC5A-4352-90C6-4E4B685F9BE0}"/>
              </a:ext>
            </a:extLst>
          </p:cNvPr>
          <p:cNvSpPr>
            <a:spLocks noGrp="1"/>
          </p:cNvSpPr>
          <p:nvPr/>
        </p:nvSpPr>
        <p:spPr>
          <a:xfrm>
            <a:off x="7467600" y="3695700"/>
            <a:ext cx="125730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0">
                <a:solidFill>
                  <a:srgbClr val="FFFFFF"/>
                </a:solidFill>
                <a:latin typeface="Aptos"/>
                <a:ea typeface="Aptos"/>
                <a:cs typeface="Aptos"/>
              </a:defRPr>
            </a:pPr>
            <a:r>
              <a:rPr sz="1050" b="0">
                <a:solidFill>
                  <a:srgbClr val="FFFFFF"/>
                </a:solidFill>
                <a:latin typeface="Aptos"/>
                <a:ea typeface="Aptos"/>
                <a:cs typeface="Aptos"/>
              </a:rPr>
              <a:t>Cube OLAP</a:t>
            </a:r>
          </a:p>
          <a:p>
            <a:pPr algn="ctr">
              <a:defRPr sz="1050" b="0">
                <a:solidFill>
                  <a:srgbClr val="FFFFFF"/>
                </a:solidFill>
                <a:latin typeface="Aptos"/>
                <a:ea typeface="Aptos"/>
                <a:cs typeface="Aptos"/>
              </a:defRPr>
            </a:pPr>
            <a:r>
              <a:rPr sz="1050" b="0">
                <a:solidFill>
                  <a:srgbClr val="FFFFFF"/>
                </a:solidFill>
                <a:latin typeface="Aptos"/>
                <a:ea typeface="Aptos"/>
                <a:cs typeface="Aptos"/>
              </a:rPr>
              <a:t>et hiérarchies</a:t>
            </a:r>
          </a:p>
        </p:txBody>
      </p:sp>
      <p:sp>
        <p:nvSpPr>
          <p:cNvPr id="22" name="Rectangle 21">
            <a:extLst>
              <a:ext uri="{FF2B5EF4-FFF2-40B4-BE49-F238E27FC236}">
                <a16:creationId xmlns:a16="http://schemas.microsoft.com/office/drawing/2014/main" id="{FDE892E1-747A-4288-94E4-CE90AD5358B8}"/>
              </a:ext>
            </a:extLst>
          </p:cNvPr>
          <p:cNvSpPr>
            <a:spLocks noGrp="1"/>
          </p:cNvSpPr>
          <p:nvPr/>
        </p:nvSpPr>
        <p:spPr>
          <a:xfrm>
            <a:off x="8877300" y="3695700"/>
            <a:ext cx="609600" cy="38100"/>
          </a:xfrm>
          <a:prstGeom prst="rect">
            <a:avLst/>
          </a:prstGeom>
          <a:solidFill>
            <a:srgbClr val="D4C7B6"/>
          </a:solidFill>
          <a:ln w="0">
            <a:solidFill>
              <a:srgbClr val="000000">
                <a:alpha val="0"/>
              </a:srgbClr>
            </a:solidFill>
            <a:prstDash val="solid"/>
          </a:ln>
        </p:spPr>
        <p:txBody>
          <a:bodyPr/>
          <a:lstStyle/>
          <a:p>
            <a:endParaRPr lang="fr-TN"/>
          </a:p>
        </p:txBody>
      </p:sp>
      <p:sp>
        <p:nvSpPr>
          <p:cNvPr id="23" name="Rectangle 22">
            <a:extLst>
              <a:ext uri="{FF2B5EF4-FFF2-40B4-BE49-F238E27FC236}">
                <a16:creationId xmlns:a16="http://schemas.microsoft.com/office/drawing/2014/main" id="{4B58A559-4522-4F8D-A169-B1CB704C23B9}"/>
              </a:ext>
            </a:extLst>
          </p:cNvPr>
          <p:cNvSpPr>
            <a:spLocks noGrp="1"/>
          </p:cNvSpPr>
          <p:nvPr/>
        </p:nvSpPr>
        <p:spPr>
          <a:xfrm>
            <a:off x="9486900" y="3105150"/>
            <a:ext cx="1562100" cy="1200150"/>
          </a:xfrm>
          <a:prstGeom prst="rect">
            <a:avLst/>
          </a:prstGeom>
          <a:solidFill>
            <a:srgbClr val="12304C"/>
          </a:solidFill>
          <a:ln w="0">
            <a:solidFill>
              <a:srgbClr val="000000">
                <a:alpha val="0"/>
              </a:srgbClr>
            </a:solidFill>
            <a:prstDash val="solid"/>
          </a:ln>
        </p:spPr>
        <p:txBody>
          <a:bodyPr/>
          <a:lstStyle/>
          <a:p>
            <a:endParaRPr lang="fr-TN"/>
          </a:p>
        </p:txBody>
      </p:sp>
      <p:sp>
        <p:nvSpPr>
          <p:cNvPr id="24" name="Rectangle 23">
            <a:extLst>
              <a:ext uri="{FF2B5EF4-FFF2-40B4-BE49-F238E27FC236}">
                <a16:creationId xmlns:a16="http://schemas.microsoft.com/office/drawing/2014/main" id="{6F759DE6-8FE8-4B9C-93A9-642C671107A4}"/>
              </a:ext>
            </a:extLst>
          </p:cNvPr>
          <p:cNvSpPr>
            <a:spLocks noGrp="1"/>
          </p:cNvSpPr>
          <p:nvPr/>
        </p:nvSpPr>
        <p:spPr>
          <a:xfrm>
            <a:off x="9486900" y="3295650"/>
            <a:ext cx="15621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00" b="1">
                <a:solidFill>
                  <a:srgbClr val="FFFFFF"/>
                </a:solidFill>
                <a:latin typeface="Aptos"/>
                <a:ea typeface="Aptos"/>
                <a:cs typeface="Aptos"/>
              </a:defRPr>
            </a:pPr>
            <a:r>
              <a:rPr sz="1800" b="1">
                <a:solidFill>
                  <a:srgbClr val="FFFFFF"/>
                </a:solidFill>
                <a:latin typeface="Aptos"/>
                <a:ea typeface="Aptos"/>
                <a:cs typeface="Aptos"/>
              </a:rPr>
              <a:t>Power BI</a:t>
            </a:r>
          </a:p>
        </p:txBody>
      </p:sp>
      <p:sp>
        <p:nvSpPr>
          <p:cNvPr id="25" name="Rectangle 24">
            <a:extLst>
              <a:ext uri="{FF2B5EF4-FFF2-40B4-BE49-F238E27FC236}">
                <a16:creationId xmlns:a16="http://schemas.microsoft.com/office/drawing/2014/main" id="{765EE85C-CB1A-4EC6-B78A-4508857DAF61}"/>
              </a:ext>
            </a:extLst>
          </p:cNvPr>
          <p:cNvSpPr>
            <a:spLocks noGrp="1"/>
          </p:cNvSpPr>
          <p:nvPr/>
        </p:nvSpPr>
        <p:spPr>
          <a:xfrm>
            <a:off x="9639300" y="3695700"/>
            <a:ext cx="125730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0">
                <a:solidFill>
                  <a:srgbClr val="FFFFFF"/>
                </a:solidFill>
                <a:latin typeface="Aptos"/>
                <a:ea typeface="Aptos"/>
                <a:cs typeface="Aptos"/>
              </a:defRPr>
            </a:pPr>
            <a:r>
              <a:rPr sz="1050" b="0">
                <a:solidFill>
                  <a:srgbClr val="FFFFFF"/>
                </a:solidFill>
                <a:latin typeface="Aptos"/>
                <a:ea typeface="Aptos"/>
                <a:cs typeface="Aptos"/>
              </a:rPr>
              <a:t>Dashboard interactif</a:t>
            </a:r>
          </a:p>
          <a:p>
            <a:pPr algn="ctr">
              <a:defRPr sz="1050" b="0">
                <a:solidFill>
                  <a:srgbClr val="FFFFFF"/>
                </a:solidFill>
                <a:latin typeface="Aptos"/>
                <a:ea typeface="Aptos"/>
                <a:cs typeface="Aptos"/>
              </a:defRPr>
            </a:pPr>
            <a:r>
              <a:rPr sz="1050" b="0">
                <a:solidFill>
                  <a:srgbClr val="FFFFFF"/>
                </a:solidFill>
                <a:latin typeface="Aptos"/>
                <a:ea typeface="Aptos"/>
                <a:cs typeface="Aptos"/>
              </a:rPr>
              <a:t>et indicateurs</a:t>
            </a:r>
          </a:p>
        </p:txBody>
      </p:sp>
      <p:sp>
        <p:nvSpPr>
          <p:cNvPr id="26" name="Rectangle 25">
            <a:extLst>
              <a:ext uri="{FF2B5EF4-FFF2-40B4-BE49-F238E27FC236}">
                <a16:creationId xmlns:a16="http://schemas.microsoft.com/office/drawing/2014/main" id="{21B5D636-A343-4544-B7D4-73033F2E7696}"/>
              </a:ext>
            </a:extLst>
          </p:cNvPr>
          <p:cNvSpPr>
            <a:spLocks noGrp="1"/>
          </p:cNvSpPr>
          <p:nvPr/>
        </p:nvSpPr>
        <p:spPr>
          <a:xfrm>
            <a:off x="857250" y="5162550"/>
            <a:ext cx="76200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5A6F7E"/>
                </a:solidFill>
                <a:latin typeface="Aptos"/>
                <a:ea typeface="Aptos"/>
                <a:cs typeface="Aptos"/>
              </a:defRPr>
            </a:pPr>
            <a:r>
              <a:rPr sz="1200" b="0">
                <a:solidFill>
                  <a:srgbClr val="5A6F7E"/>
                </a:solidFill>
                <a:latin typeface="Aptos"/>
                <a:ea typeface="Aptos"/>
                <a:cs typeface="Aptos"/>
              </a:rPr>
              <a:t>L'intérêt de cette architecture est qu'elle sépare clairement la production des données de leur exploitation analytique.</a:t>
            </a:r>
          </a:p>
        </p:txBody>
      </p:sp>
      <p:sp>
        <p:nvSpPr>
          <p:cNvPr id="27" name="Rectangle 26">
            <a:extLst>
              <a:ext uri="{FF2B5EF4-FFF2-40B4-BE49-F238E27FC236}">
                <a16:creationId xmlns:a16="http://schemas.microsoft.com/office/drawing/2014/main" id="{63A64F98-A7B0-4DD4-B5F9-FC418F43EE7C}"/>
              </a:ext>
            </a:extLst>
          </p:cNvPr>
          <p:cNvSpPr>
            <a:spLocks noGrp="1"/>
          </p:cNvSpPr>
          <p:nvPr/>
        </p:nvSpPr>
        <p:spPr>
          <a:xfrm>
            <a:off x="704850" y="6515100"/>
            <a:ext cx="5715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5A6F7E"/>
                </a:solidFill>
                <a:latin typeface="Aptos"/>
                <a:ea typeface="Aptos"/>
                <a:cs typeface="Aptos"/>
              </a:defRPr>
            </a:pPr>
            <a:r>
              <a:rPr sz="825" b="0">
                <a:solidFill>
                  <a:srgbClr val="5A6F7E"/>
                </a:solidFill>
                <a:latin typeface="Aptos"/>
                <a:ea typeface="Aptos"/>
                <a:cs typeface="Aptos"/>
              </a:rPr>
              <a:t>Soutenance · architecture globale</a:t>
            </a:r>
          </a:p>
        </p:txBody>
      </p:sp>
      <p:sp>
        <p:nvSpPr>
          <p:cNvPr id="28" name="Rectangle 27">
            <a:extLst>
              <a:ext uri="{FF2B5EF4-FFF2-40B4-BE49-F238E27FC236}">
                <a16:creationId xmlns:a16="http://schemas.microsoft.com/office/drawing/2014/main" id="{45A4FBEF-1635-435B-8B18-4044F758798A}"/>
              </a:ext>
            </a:extLst>
          </p:cNvPr>
          <p:cNvSpPr>
            <a:spLocks noGrp="1"/>
          </p:cNvSpPr>
          <p:nvPr/>
        </p:nvSpPr>
        <p:spPr>
          <a:xfrm>
            <a:off x="9258300" y="6515100"/>
            <a:ext cx="2286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0">
                <a:solidFill>
                  <a:srgbClr val="5A6F7E"/>
                </a:solidFill>
                <a:latin typeface="Aptos"/>
                <a:ea typeface="Aptos"/>
                <a:cs typeface="Aptos"/>
              </a:defRPr>
            </a:pPr>
            <a:r>
              <a:rPr sz="825" b="0">
                <a:solidFill>
                  <a:srgbClr val="5A6F7E"/>
                </a:solidFill>
                <a:latin typeface="Aptos"/>
                <a:ea typeface="Aptos"/>
                <a:cs typeface="Aptos"/>
              </a:rPr>
              <a:t>Projet BI AdventureWorks</a:t>
            </a:r>
          </a:p>
        </p:txBody>
      </p:sp>
      <p:sp>
        <p:nvSpPr>
          <p:cNvPr id="30" name="Ellipse 29">
            <a:extLst>
              <a:ext uri="{FF2B5EF4-FFF2-40B4-BE49-F238E27FC236}">
                <a16:creationId xmlns:a16="http://schemas.microsoft.com/office/drawing/2014/main" id="{31B14B33-CB3D-173F-FB59-EB4BF2955E03}"/>
              </a:ext>
            </a:extLst>
          </p:cNvPr>
          <p:cNvSpPr/>
          <p:nvPr/>
        </p:nvSpPr>
        <p:spPr>
          <a:xfrm>
            <a:off x="11845290" y="6512560"/>
            <a:ext cx="304800" cy="30988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b="1" dirty="0">
                <a:ln w="22225">
                  <a:solidFill>
                    <a:schemeClr val="accent2"/>
                  </a:solidFill>
                  <a:prstDash val="solid"/>
                </a:ln>
                <a:solidFill>
                  <a:schemeClr val="accent2">
                    <a:lumMod val="40000"/>
                    <a:lumOff val="60000"/>
                  </a:schemeClr>
                </a:solidFill>
              </a:rPr>
              <a:t>3</a:t>
            </a:r>
            <a:endParaRPr lang="fr-TN" b="1" dirty="0">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44035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34674470-61D5-4AE1-A93C-DAFF4089510A}"/>
              </a:ext>
            </a:extLst>
          </p:cNvPr>
          <p:cNvSpPr>
            <a:spLocks noGrp="1"/>
          </p:cNvSpPr>
          <p:nvPr/>
        </p:nvSpPr>
        <p:spPr>
          <a:xfrm>
            <a:off x="-1" y="0"/>
            <a:ext cx="12192001" cy="6858000"/>
          </a:xfrm>
          <a:prstGeom prst="rect">
            <a:avLst/>
          </a:prstGeom>
          <a:solidFill>
            <a:srgbClr val="F6F0E7"/>
          </a:solidFill>
          <a:ln w="0">
            <a:solidFill>
              <a:srgbClr val="000000">
                <a:alpha val="0"/>
              </a:srgbClr>
            </a:solidFill>
            <a:prstDash val="solid"/>
          </a:ln>
        </p:spPr>
        <p:txBody>
          <a:bodyPr/>
          <a:lstStyle/>
          <a:p>
            <a:endParaRPr lang="fr-TN"/>
          </a:p>
        </p:txBody>
      </p:sp>
      <p:sp>
        <p:nvSpPr>
          <p:cNvPr id="2" name="Rectangle 1">
            <a:extLst>
              <a:ext uri="{FF2B5EF4-FFF2-40B4-BE49-F238E27FC236}">
                <a16:creationId xmlns:a16="http://schemas.microsoft.com/office/drawing/2014/main" id="{FAA1BFC3-5F48-4B70-AD37-6CDAFB6F66F5}"/>
              </a:ext>
            </a:extLst>
          </p:cNvPr>
          <p:cNvSpPr>
            <a:spLocks noGrp="1"/>
          </p:cNvSpPr>
          <p:nvPr/>
        </p:nvSpPr>
        <p:spPr>
          <a:xfrm>
            <a:off x="0" y="0"/>
            <a:ext cx="12192000" cy="247650"/>
          </a:xfrm>
          <a:prstGeom prst="rect">
            <a:avLst/>
          </a:prstGeom>
          <a:solidFill>
            <a:srgbClr val="0A1A2F"/>
          </a:solidFill>
          <a:ln w="0">
            <a:solidFill>
              <a:srgbClr val="000000">
                <a:alpha val="0"/>
              </a:srgbClr>
            </a:solidFill>
            <a:prstDash val="solid"/>
          </a:ln>
        </p:spPr>
        <p:txBody>
          <a:bodyPr/>
          <a:lstStyle/>
          <a:p>
            <a:endParaRPr lang="fr-TN"/>
          </a:p>
        </p:txBody>
      </p:sp>
      <p:sp>
        <p:nvSpPr>
          <p:cNvPr id="3" name="Rectangle 2">
            <a:extLst>
              <a:ext uri="{FF2B5EF4-FFF2-40B4-BE49-F238E27FC236}">
                <a16:creationId xmlns:a16="http://schemas.microsoft.com/office/drawing/2014/main" id="{629E192F-EA40-4D32-A6A5-23BE70BCE44B}"/>
              </a:ext>
            </a:extLst>
          </p:cNvPr>
          <p:cNvSpPr>
            <a:spLocks noGrp="1"/>
          </p:cNvSpPr>
          <p:nvPr/>
        </p:nvSpPr>
        <p:spPr>
          <a:xfrm>
            <a:off x="0" y="247650"/>
            <a:ext cx="2095500" cy="57150"/>
          </a:xfrm>
          <a:prstGeom prst="rect">
            <a:avLst/>
          </a:prstGeom>
          <a:solidFill>
            <a:srgbClr val="E07A5F"/>
          </a:solidFill>
          <a:ln w="0">
            <a:solidFill>
              <a:srgbClr val="000000">
                <a:alpha val="0"/>
              </a:srgbClr>
            </a:solidFill>
            <a:prstDash val="solid"/>
          </a:ln>
        </p:spPr>
        <p:txBody>
          <a:bodyPr/>
          <a:lstStyle/>
          <a:p>
            <a:endParaRPr lang="fr-TN"/>
          </a:p>
        </p:txBody>
      </p:sp>
      <p:sp>
        <p:nvSpPr>
          <p:cNvPr id="4" name="Rectangle 3">
            <a:extLst>
              <a:ext uri="{FF2B5EF4-FFF2-40B4-BE49-F238E27FC236}">
                <a16:creationId xmlns:a16="http://schemas.microsoft.com/office/drawing/2014/main" id="{8A768FD2-471B-4AC5-B949-A29CACB12C5B}"/>
              </a:ext>
            </a:extLst>
          </p:cNvPr>
          <p:cNvSpPr>
            <a:spLocks noGrp="1"/>
          </p:cNvSpPr>
          <p:nvPr/>
        </p:nvSpPr>
        <p:spPr>
          <a:xfrm>
            <a:off x="704850" y="552450"/>
            <a:ext cx="2095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0F8B8D"/>
                </a:solidFill>
                <a:latin typeface="Aptos"/>
                <a:ea typeface="Aptos"/>
                <a:cs typeface="Aptos"/>
              </a:defRPr>
            </a:pPr>
            <a:r>
              <a:rPr sz="900" b="1">
                <a:solidFill>
                  <a:srgbClr val="0F8B8D"/>
                </a:solidFill>
                <a:latin typeface="Aptos"/>
                <a:ea typeface="Aptos"/>
                <a:cs typeface="Aptos"/>
              </a:rPr>
              <a:t>DATA WAREHOUSE</a:t>
            </a:r>
          </a:p>
        </p:txBody>
      </p:sp>
      <p:sp>
        <p:nvSpPr>
          <p:cNvPr id="5" name="Rectangle 4">
            <a:extLst>
              <a:ext uri="{FF2B5EF4-FFF2-40B4-BE49-F238E27FC236}">
                <a16:creationId xmlns:a16="http://schemas.microsoft.com/office/drawing/2014/main" id="{5E7FF34E-B8BF-4C2A-8A52-2F5578B05E64}"/>
              </a:ext>
            </a:extLst>
          </p:cNvPr>
          <p:cNvSpPr>
            <a:spLocks noGrp="1"/>
          </p:cNvSpPr>
          <p:nvPr/>
        </p:nvSpPr>
        <p:spPr>
          <a:xfrm>
            <a:off x="685800" y="781050"/>
            <a:ext cx="8763000" cy="742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400" b="1">
                <a:solidFill>
                  <a:srgbClr val="12304C"/>
                </a:solidFill>
                <a:latin typeface="Aptos Display"/>
                <a:ea typeface="Aptos Display"/>
                <a:cs typeface="Aptos Display"/>
              </a:defRPr>
            </a:pPr>
            <a:r>
              <a:rPr sz="2400" b="1">
                <a:solidFill>
                  <a:srgbClr val="12304C"/>
                </a:solidFill>
                <a:latin typeface="Aptos Display"/>
                <a:ea typeface="Aptos Display"/>
                <a:cs typeface="Aptos Display"/>
              </a:rPr>
              <a:t>Le Data Warehouse organise les données sous une forme simple à lire et performante à analyser.</a:t>
            </a:r>
          </a:p>
        </p:txBody>
      </p:sp>
      <p:sp>
        <p:nvSpPr>
          <p:cNvPr id="6" name="Rectangle 5">
            <a:extLst>
              <a:ext uri="{FF2B5EF4-FFF2-40B4-BE49-F238E27FC236}">
                <a16:creationId xmlns:a16="http://schemas.microsoft.com/office/drawing/2014/main" id="{42ACA488-6437-47D0-AC18-D7B144F50B1A}"/>
              </a:ext>
            </a:extLst>
          </p:cNvPr>
          <p:cNvSpPr>
            <a:spLocks noGrp="1"/>
          </p:cNvSpPr>
          <p:nvPr/>
        </p:nvSpPr>
        <p:spPr>
          <a:xfrm>
            <a:off x="704850" y="1562100"/>
            <a:ext cx="81915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5A6F7E"/>
                </a:solidFill>
                <a:latin typeface="Aptos"/>
                <a:ea typeface="Aptos"/>
                <a:cs typeface="Aptos"/>
              </a:defRPr>
            </a:pPr>
            <a:r>
              <a:rPr lang="fr-FR" sz="1200" b="0" dirty="0">
                <a:solidFill>
                  <a:srgbClr val="5A6F7E"/>
                </a:solidFill>
                <a:latin typeface="Aptos"/>
                <a:ea typeface="Aptos"/>
                <a:cs typeface="Aptos"/>
              </a:rPr>
              <a:t>Nous avons</a:t>
            </a:r>
            <a:r>
              <a:rPr sz="1200" b="0" dirty="0">
                <a:solidFill>
                  <a:srgbClr val="5A6F7E"/>
                </a:solidFill>
                <a:latin typeface="Aptos"/>
                <a:ea typeface="Aptos"/>
                <a:cs typeface="Aptos"/>
              </a:rPr>
              <a:t> </a:t>
            </a:r>
            <a:r>
              <a:rPr sz="1200" b="0" dirty="0" err="1">
                <a:solidFill>
                  <a:srgbClr val="5A6F7E"/>
                </a:solidFill>
                <a:latin typeface="Aptos"/>
                <a:ea typeface="Aptos"/>
                <a:cs typeface="Aptos"/>
              </a:rPr>
              <a:t>choisi</a:t>
            </a:r>
            <a:r>
              <a:rPr sz="1200" b="0" dirty="0">
                <a:solidFill>
                  <a:srgbClr val="5A6F7E"/>
                </a:solidFill>
                <a:latin typeface="Aptos"/>
                <a:ea typeface="Aptos"/>
                <a:cs typeface="Aptos"/>
              </a:rPr>
              <a:t> un </a:t>
            </a:r>
            <a:r>
              <a:rPr sz="1200" b="0" dirty="0" err="1">
                <a:solidFill>
                  <a:srgbClr val="5A6F7E"/>
                </a:solidFill>
                <a:latin typeface="Aptos"/>
                <a:ea typeface="Aptos"/>
                <a:cs typeface="Aptos"/>
              </a:rPr>
              <a:t>schéma</a:t>
            </a:r>
            <a:r>
              <a:rPr sz="1200" b="0" dirty="0">
                <a:solidFill>
                  <a:srgbClr val="5A6F7E"/>
                </a:solidFill>
                <a:latin typeface="Aptos"/>
                <a:ea typeface="Aptos"/>
                <a:cs typeface="Aptos"/>
              </a:rPr>
              <a:t> </a:t>
            </a:r>
            <a:r>
              <a:rPr sz="1200" b="0" dirty="0" err="1">
                <a:solidFill>
                  <a:srgbClr val="5A6F7E"/>
                </a:solidFill>
                <a:latin typeface="Aptos"/>
                <a:ea typeface="Aptos"/>
                <a:cs typeface="Aptos"/>
              </a:rPr>
              <a:t>en</a:t>
            </a:r>
            <a:r>
              <a:rPr sz="1200" b="0" dirty="0">
                <a:solidFill>
                  <a:srgbClr val="5A6F7E"/>
                </a:solidFill>
                <a:latin typeface="Aptos"/>
                <a:ea typeface="Aptos"/>
                <a:cs typeface="Aptos"/>
              </a:rPr>
              <a:t> étoile avec </a:t>
            </a:r>
            <a:r>
              <a:rPr sz="1200" b="0" dirty="0" err="1">
                <a:solidFill>
                  <a:srgbClr val="5A6F7E"/>
                </a:solidFill>
                <a:latin typeface="Aptos"/>
                <a:ea typeface="Aptos"/>
                <a:cs typeface="Aptos"/>
              </a:rPr>
              <a:t>une</a:t>
            </a:r>
            <a:r>
              <a:rPr sz="1200" b="0" dirty="0">
                <a:solidFill>
                  <a:srgbClr val="5A6F7E"/>
                </a:solidFill>
                <a:latin typeface="Aptos"/>
                <a:ea typeface="Aptos"/>
                <a:cs typeface="Aptos"/>
              </a:rPr>
              <a:t> table de faits centrale et quatre dimensions métiers.</a:t>
            </a:r>
          </a:p>
        </p:txBody>
      </p:sp>
      <p:sp>
        <p:nvSpPr>
          <p:cNvPr id="7" name="Rectangle 6">
            <a:extLst>
              <a:ext uri="{FF2B5EF4-FFF2-40B4-BE49-F238E27FC236}">
                <a16:creationId xmlns:a16="http://schemas.microsoft.com/office/drawing/2014/main" id="{E102B516-7C96-447C-A37D-B4966F303062}"/>
              </a:ext>
            </a:extLst>
          </p:cNvPr>
          <p:cNvSpPr>
            <a:spLocks noGrp="1"/>
          </p:cNvSpPr>
          <p:nvPr/>
        </p:nvSpPr>
        <p:spPr>
          <a:xfrm>
            <a:off x="2528556" y="2021184"/>
            <a:ext cx="2095500" cy="1968958"/>
          </a:xfrm>
          <a:prstGeom prst="rect">
            <a:avLst/>
          </a:prstGeom>
          <a:solidFill>
            <a:srgbClr val="0A1A2F"/>
          </a:solidFill>
          <a:ln w="0">
            <a:solidFill>
              <a:srgbClr val="000000">
                <a:alpha val="0"/>
              </a:srgbClr>
            </a:solidFill>
            <a:prstDash val="solid"/>
          </a:ln>
        </p:spPr>
        <p:txBody>
          <a:bodyPr/>
          <a:lstStyle/>
          <a:p>
            <a:endParaRPr lang="fr-TN"/>
          </a:p>
        </p:txBody>
      </p:sp>
      <p:sp>
        <p:nvSpPr>
          <p:cNvPr id="8" name="Rectangle 7">
            <a:extLst>
              <a:ext uri="{FF2B5EF4-FFF2-40B4-BE49-F238E27FC236}">
                <a16:creationId xmlns:a16="http://schemas.microsoft.com/office/drawing/2014/main" id="{7B23290B-21EC-49F0-A243-28ED9619D14E}"/>
              </a:ext>
            </a:extLst>
          </p:cNvPr>
          <p:cNvSpPr>
            <a:spLocks noGrp="1"/>
          </p:cNvSpPr>
          <p:nvPr/>
        </p:nvSpPr>
        <p:spPr>
          <a:xfrm>
            <a:off x="2566656" y="2122882"/>
            <a:ext cx="20193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00" b="1">
                <a:solidFill>
                  <a:srgbClr val="FFFFFF"/>
                </a:solidFill>
                <a:latin typeface="Aptos"/>
                <a:ea typeface="Aptos"/>
                <a:cs typeface="Aptos"/>
              </a:defRPr>
            </a:pPr>
            <a:r>
              <a:rPr sz="2000" b="1" dirty="0" err="1">
                <a:solidFill>
                  <a:srgbClr val="FFFFFF"/>
                </a:solidFill>
                <a:latin typeface="Aptos"/>
                <a:ea typeface="Aptos"/>
                <a:cs typeface="Aptos"/>
              </a:rPr>
              <a:t>FactSales</a:t>
            </a:r>
            <a:endParaRPr sz="2800" b="1" dirty="0">
              <a:solidFill>
                <a:srgbClr val="FFFFFF"/>
              </a:solidFill>
              <a:latin typeface="Aptos"/>
              <a:ea typeface="Aptos"/>
              <a:cs typeface="Aptos"/>
            </a:endParaRPr>
          </a:p>
        </p:txBody>
      </p:sp>
      <p:sp>
        <p:nvSpPr>
          <p:cNvPr id="9" name="Rectangle 8">
            <a:extLst>
              <a:ext uri="{FF2B5EF4-FFF2-40B4-BE49-F238E27FC236}">
                <a16:creationId xmlns:a16="http://schemas.microsoft.com/office/drawing/2014/main" id="{61DEA28C-183D-4EC7-953E-901828D5D2ED}"/>
              </a:ext>
            </a:extLst>
          </p:cNvPr>
          <p:cNvSpPr>
            <a:spLocks noGrp="1"/>
          </p:cNvSpPr>
          <p:nvPr/>
        </p:nvSpPr>
        <p:spPr>
          <a:xfrm>
            <a:off x="2800537" y="2556213"/>
            <a:ext cx="1405414" cy="954166"/>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0">
                <a:solidFill>
                  <a:srgbClr val="DCE7F0"/>
                </a:solidFill>
                <a:latin typeface="Aptos"/>
                <a:ea typeface="Aptos"/>
                <a:cs typeface="Aptos"/>
              </a:defRPr>
            </a:pPr>
            <a:r>
              <a:rPr sz="1200" b="0" dirty="0" err="1">
                <a:solidFill>
                  <a:srgbClr val="DCE7F0"/>
                </a:solidFill>
                <a:latin typeface="Aptos"/>
                <a:ea typeface="Aptos"/>
                <a:cs typeface="Aptos"/>
              </a:rPr>
              <a:t>OrderQty</a:t>
            </a:r>
            <a:endParaRPr sz="1200" b="0" dirty="0">
              <a:solidFill>
                <a:srgbClr val="DCE7F0"/>
              </a:solidFill>
              <a:latin typeface="Aptos"/>
              <a:ea typeface="Aptos"/>
              <a:cs typeface="Aptos"/>
            </a:endParaRPr>
          </a:p>
          <a:p>
            <a:pPr algn="ctr">
              <a:defRPr sz="975" b="0">
                <a:solidFill>
                  <a:srgbClr val="DCE7F0"/>
                </a:solidFill>
                <a:latin typeface="Aptos"/>
                <a:ea typeface="Aptos"/>
                <a:cs typeface="Aptos"/>
              </a:defRPr>
            </a:pPr>
            <a:r>
              <a:rPr sz="1200" b="0" dirty="0" err="1">
                <a:solidFill>
                  <a:srgbClr val="DCE7F0"/>
                </a:solidFill>
                <a:latin typeface="Aptos"/>
                <a:ea typeface="Aptos"/>
                <a:cs typeface="Aptos"/>
              </a:rPr>
              <a:t>UnitPrice</a:t>
            </a:r>
            <a:endParaRPr sz="1200" b="0" dirty="0">
              <a:solidFill>
                <a:srgbClr val="DCE7F0"/>
              </a:solidFill>
              <a:latin typeface="Aptos"/>
              <a:ea typeface="Aptos"/>
              <a:cs typeface="Aptos"/>
            </a:endParaRPr>
          </a:p>
          <a:p>
            <a:pPr algn="ctr">
              <a:defRPr sz="975" b="0">
                <a:solidFill>
                  <a:srgbClr val="DCE7F0"/>
                </a:solidFill>
                <a:latin typeface="Aptos"/>
                <a:ea typeface="Aptos"/>
                <a:cs typeface="Aptos"/>
              </a:defRPr>
            </a:pPr>
            <a:r>
              <a:rPr sz="1200" b="0" dirty="0">
                <a:solidFill>
                  <a:srgbClr val="DCE7F0"/>
                </a:solidFill>
                <a:latin typeface="Aptos"/>
                <a:ea typeface="Aptos"/>
                <a:cs typeface="Aptos"/>
              </a:rPr>
              <a:t>Discount</a:t>
            </a:r>
          </a:p>
          <a:p>
            <a:pPr algn="ctr">
              <a:defRPr sz="975" b="0">
                <a:solidFill>
                  <a:srgbClr val="DCE7F0"/>
                </a:solidFill>
                <a:latin typeface="Aptos"/>
                <a:ea typeface="Aptos"/>
                <a:cs typeface="Aptos"/>
              </a:defRPr>
            </a:pPr>
            <a:r>
              <a:rPr sz="1200" b="0" dirty="0" err="1">
                <a:solidFill>
                  <a:srgbClr val="DCE7F0"/>
                </a:solidFill>
                <a:latin typeface="Aptos"/>
                <a:ea typeface="Aptos"/>
                <a:cs typeface="Aptos"/>
              </a:rPr>
              <a:t>LineTotal</a:t>
            </a:r>
            <a:endParaRPr sz="1200" b="0" dirty="0">
              <a:solidFill>
                <a:srgbClr val="DCE7F0"/>
              </a:solidFill>
              <a:latin typeface="Aptos"/>
              <a:ea typeface="Aptos"/>
              <a:cs typeface="Aptos"/>
            </a:endParaRPr>
          </a:p>
          <a:p>
            <a:pPr algn="ctr">
              <a:defRPr sz="975" b="0">
                <a:solidFill>
                  <a:srgbClr val="DCE7F0"/>
                </a:solidFill>
                <a:latin typeface="Aptos"/>
                <a:ea typeface="Aptos"/>
                <a:cs typeface="Aptos"/>
              </a:defRPr>
            </a:pPr>
            <a:r>
              <a:rPr sz="1200" b="0" dirty="0" err="1">
                <a:solidFill>
                  <a:srgbClr val="DCE7F0"/>
                </a:solidFill>
                <a:latin typeface="Aptos"/>
                <a:ea typeface="Aptos"/>
                <a:cs typeface="Aptos"/>
              </a:rPr>
              <a:t>TotalSales</a:t>
            </a:r>
            <a:endParaRPr sz="1200" b="0" dirty="0">
              <a:solidFill>
                <a:srgbClr val="DCE7F0"/>
              </a:solidFill>
              <a:latin typeface="Aptos"/>
              <a:ea typeface="Aptos"/>
              <a:cs typeface="Aptos"/>
            </a:endParaRPr>
          </a:p>
          <a:p>
            <a:pPr algn="ctr">
              <a:defRPr sz="975" b="0">
                <a:solidFill>
                  <a:srgbClr val="DCE7F0"/>
                </a:solidFill>
                <a:latin typeface="Aptos"/>
                <a:ea typeface="Aptos"/>
                <a:cs typeface="Aptos"/>
              </a:defRPr>
            </a:pPr>
            <a:r>
              <a:rPr sz="1200" b="0" dirty="0">
                <a:solidFill>
                  <a:srgbClr val="DCE7F0"/>
                </a:solidFill>
                <a:latin typeface="Aptos"/>
                <a:ea typeface="Aptos"/>
                <a:cs typeface="Aptos"/>
              </a:rPr>
              <a:t>Margin</a:t>
            </a:r>
          </a:p>
        </p:txBody>
      </p:sp>
      <p:sp>
        <p:nvSpPr>
          <p:cNvPr id="10" name="Rectangle 9">
            <a:extLst>
              <a:ext uri="{FF2B5EF4-FFF2-40B4-BE49-F238E27FC236}">
                <a16:creationId xmlns:a16="http://schemas.microsoft.com/office/drawing/2014/main" id="{1121F29B-82FE-46A0-875B-BB7B850B7126}"/>
              </a:ext>
            </a:extLst>
          </p:cNvPr>
          <p:cNvSpPr>
            <a:spLocks noGrp="1"/>
          </p:cNvSpPr>
          <p:nvPr/>
        </p:nvSpPr>
        <p:spPr>
          <a:xfrm>
            <a:off x="506892" y="2118416"/>
            <a:ext cx="1271255" cy="711342"/>
          </a:xfrm>
          <a:prstGeom prst="rect">
            <a:avLst/>
          </a:prstGeom>
          <a:solidFill>
            <a:srgbClr val="FFFFFF"/>
          </a:solidFill>
          <a:ln w="9525">
            <a:solidFill>
              <a:srgbClr val="D4C7B6"/>
            </a:solidFill>
            <a:prstDash val="solid"/>
          </a:ln>
        </p:spPr>
        <p:txBody>
          <a:bodyPr/>
          <a:lstStyle/>
          <a:p>
            <a:endParaRPr lang="fr-TN"/>
          </a:p>
        </p:txBody>
      </p:sp>
      <p:sp>
        <p:nvSpPr>
          <p:cNvPr id="11" name="Rectangle 10">
            <a:extLst>
              <a:ext uri="{FF2B5EF4-FFF2-40B4-BE49-F238E27FC236}">
                <a16:creationId xmlns:a16="http://schemas.microsoft.com/office/drawing/2014/main" id="{F21E5A81-1D50-4FBD-A7B8-05D7B53DAB43}"/>
              </a:ext>
            </a:extLst>
          </p:cNvPr>
          <p:cNvSpPr>
            <a:spLocks noGrp="1"/>
          </p:cNvSpPr>
          <p:nvPr/>
        </p:nvSpPr>
        <p:spPr>
          <a:xfrm>
            <a:off x="678342" y="2181678"/>
            <a:ext cx="1256761" cy="45719"/>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2304C"/>
                </a:solidFill>
                <a:latin typeface="Aptos"/>
                <a:ea typeface="Aptos"/>
                <a:cs typeface="Aptos"/>
              </a:defRPr>
            </a:pPr>
            <a:r>
              <a:rPr sz="1350" b="1">
                <a:solidFill>
                  <a:srgbClr val="12304C"/>
                </a:solidFill>
                <a:latin typeface="Aptos"/>
                <a:ea typeface="Aptos"/>
                <a:cs typeface="Aptos"/>
              </a:rPr>
              <a:t>DimDate</a:t>
            </a:r>
          </a:p>
        </p:txBody>
      </p:sp>
      <p:sp>
        <p:nvSpPr>
          <p:cNvPr id="12" name="Rectangle 11">
            <a:extLst>
              <a:ext uri="{FF2B5EF4-FFF2-40B4-BE49-F238E27FC236}">
                <a16:creationId xmlns:a16="http://schemas.microsoft.com/office/drawing/2014/main" id="{93A0B0B6-2410-41E3-9C19-154E71291864}"/>
              </a:ext>
            </a:extLst>
          </p:cNvPr>
          <p:cNvSpPr>
            <a:spLocks noGrp="1"/>
          </p:cNvSpPr>
          <p:nvPr/>
        </p:nvSpPr>
        <p:spPr>
          <a:xfrm>
            <a:off x="678342" y="2467428"/>
            <a:ext cx="1256761" cy="45719"/>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5A6F7E"/>
                </a:solidFill>
                <a:latin typeface="Aptos"/>
                <a:ea typeface="Aptos"/>
                <a:cs typeface="Aptos"/>
              </a:defRPr>
            </a:pPr>
            <a:r>
              <a:rPr sz="1050" b="0">
                <a:solidFill>
                  <a:srgbClr val="5A6F7E"/>
                </a:solidFill>
                <a:latin typeface="Aptos"/>
                <a:ea typeface="Aptos"/>
                <a:cs typeface="Aptos"/>
              </a:rPr>
              <a:t>Temps, année,</a:t>
            </a:r>
          </a:p>
          <a:p>
            <a:pPr algn="l">
              <a:defRPr sz="1050" b="0">
                <a:solidFill>
                  <a:srgbClr val="5A6F7E"/>
                </a:solidFill>
                <a:latin typeface="Aptos"/>
                <a:ea typeface="Aptos"/>
                <a:cs typeface="Aptos"/>
              </a:defRPr>
            </a:pPr>
            <a:r>
              <a:rPr sz="1050" b="0">
                <a:solidFill>
                  <a:srgbClr val="5A6F7E"/>
                </a:solidFill>
                <a:latin typeface="Aptos"/>
                <a:ea typeface="Aptos"/>
                <a:cs typeface="Aptos"/>
              </a:rPr>
              <a:t>trimestre, mois</a:t>
            </a:r>
          </a:p>
        </p:txBody>
      </p:sp>
      <p:sp>
        <p:nvSpPr>
          <p:cNvPr id="13" name="Rectangle 12">
            <a:extLst>
              <a:ext uri="{FF2B5EF4-FFF2-40B4-BE49-F238E27FC236}">
                <a16:creationId xmlns:a16="http://schemas.microsoft.com/office/drawing/2014/main" id="{3E72B0E1-5C47-45ED-9E98-421E83E63902}"/>
              </a:ext>
            </a:extLst>
          </p:cNvPr>
          <p:cNvSpPr>
            <a:spLocks noGrp="1"/>
          </p:cNvSpPr>
          <p:nvPr/>
        </p:nvSpPr>
        <p:spPr>
          <a:xfrm>
            <a:off x="5360522" y="1828800"/>
            <a:ext cx="1333500" cy="990600"/>
          </a:xfrm>
          <a:prstGeom prst="rect">
            <a:avLst/>
          </a:prstGeom>
          <a:solidFill>
            <a:srgbClr val="E4EEF0"/>
          </a:solidFill>
          <a:ln w="9525">
            <a:solidFill>
              <a:srgbClr val="D4C7B6"/>
            </a:solidFill>
            <a:prstDash val="solid"/>
          </a:ln>
        </p:spPr>
        <p:txBody>
          <a:bodyPr/>
          <a:lstStyle/>
          <a:p>
            <a:endParaRPr lang="fr-TN"/>
          </a:p>
        </p:txBody>
      </p:sp>
      <p:sp>
        <p:nvSpPr>
          <p:cNvPr id="14" name="Rectangle 13">
            <a:extLst>
              <a:ext uri="{FF2B5EF4-FFF2-40B4-BE49-F238E27FC236}">
                <a16:creationId xmlns:a16="http://schemas.microsoft.com/office/drawing/2014/main" id="{78480C31-8754-4F83-9671-8A98545A13A1}"/>
              </a:ext>
            </a:extLst>
          </p:cNvPr>
          <p:cNvSpPr>
            <a:spLocks noGrp="1"/>
          </p:cNvSpPr>
          <p:nvPr/>
        </p:nvSpPr>
        <p:spPr>
          <a:xfrm>
            <a:off x="5531972" y="2000250"/>
            <a:ext cx="17526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2304C"/>
                </a:solidFill>
                <a:latin typeface="Aptos"/>
                <a:ea typeface="Aptos"/>
                <a:cs typeface="Aptos"/>
              </a:defRPr>
            </a:pPr>
            <a:r>
              <a:rPr sz="1350" b="1">
                <a:solidFill>
                  <a:srgbClr val="12304C"/>
                </a:solidFill>
                <a:latin typeface="Aptos"/>
                <a:ea typeface="Aptos"/>
                <a:cs typeface="Aptos"/>
              </a:rPr>
              <a:t>DimProduct</a:t>
            </a:r>
          </a:p>
        </p:txBody>
      </p:sp>
      <p:sp>
        <p:nvSpPr>
          <p:cNvPr id="15" name="Rectangle 14">
            <a:extLst>
              <a:ext uri="{FF2B5EF4-FFF2-40B4-BE49-F238E27FC236}">
                <a16:creationId xmlns:a16="http://schemas.microsoft.com/office/drawing/2014/main" id="{D63E2696-9FDF-4A6C-9CF7-6CAF0160A39D}"/>
              </a:ext>
            </a:extLst>
          </p:cNvPr>
          <p:cNvSpPr>
            <a:spLocks noGrp="1"/>
          </p:cNvSpPr>
          <p:nvPr/>
        </p:nvSpPr>
        <p:spPr>
          <a:xfrm>
            <a:off x="5531972" y="2286000"/>
            <a:ext cx="17526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5A6F7E"/>
                </a:solidFill>
                <a:latin typeface="Aptos"/>
                <a:ea typeface="Aptos"/>
                <a:cs typeface="Aptos"/>
              </a:defRPr>
            </a:pPr>
            <a:r>
              <a:rPr sz="1050" b="0">
                <a:solidFill>
                  <a:srgbClr val="5A6F7E"/>
                </a:solidFill>
                <a:latin typeface="Aptos"/>
                <a:ea typeface="Aptos"/>
                <a:cs typeface="Aptos"/>
              </a:rPr>
              <a:t>Catégorie,</a:t>
            </a:r>
          </a:p>
          <a:p>
            <a:pPr algn="l">
              <a:defRPr sz="1050" b="0">
                <a:solidFill>
                  <a:srgbClr val="5A6F7E"/>
                </a:solidFill>
                <a:latin typeface="Aptos"/>
                <a:ea typeface="Aptos"/>
                <a:cs typeface="Aptos"/>
              </a:defRPr>
            </a:pPr>
            <a:r>
              <a:rPr sz="1050" b="0">
                <a:solidFill>
                  <a:srgbClr val="5A6F7E"/>
                </a:solidFill>
                <a:latin typeface="Aptos"/>
                <a:ea typeface="Aptos"/>
                <a:cs typeface="Aptos"/>
              </a:rPr>
              <a:t>sous-catégorie,</a:t>
            </a:r>
          </a:p>
          <a:p>
            <a:pPr algn="l">
              <a:defRPr sz="1050" b="0">
                <a:solidFill>
                  <a:srgbClr val="5A6F7E"/>
                </a:solidFill>
                <a:latin typeface="Aptos"/>
                <a:ea typeface="Aptos"/>
                <a:cs typeface="Aptos"/>
              </a:defRPr>
            </a:pPr>
            <a:r>
              <a:rPr sz="1050" b="0">
                <a:solidFill>
                  <a:srgbClr val="5A6F7E"/>
                </a:solidFill>
                <a:latin typeface="Aptos"/>
                <a:ea typeface="Aptos"/>
                <a:cs typeface="Aptos"/>
              </a:rPr>
              <a:t>produit</a:t>
            </a:r>
          </a:p>
        </p:txBody>
      </p:sp>
      <p:sp>
        <p:nvSpPr>
          <p:cNvPr id="16" name="Rectangle 15">
            <a:extLst>
              <a:ext uri="{FF2B5EF4-FFF2-40B4-BE49-F238E27FC236}">
                <a16:creationId xmlns:a16="http://schemas.microsoft.com/office/drawing/2014/main" id="{6C69FDEA-44B4-4806-8A44-6C604C0A6B6A}"/>
              </a:ext>
            </a:extLst>
          </p:cNvPr>
          <p:cNvSpPr>
            <a:spLocks noGrp="1"/>
          </p:cNvSpPr>
          <p:nvPr/>
        </p:nvSpPr>
        <p:spPr>
          <a:xfrm>
            <a:off x="290061" y="3092306"/>
            <a:ext cx="1495425" cy="990600"/>
          </a:xfrm>
          <a:prstGeom prst="rect">
            <a:avLst/>
          </a:prstGeom>
          <a:solidFill>
            <a:srgbClr val="FFFFFF"/>
          </a:solidFill>
          <a:ln w="9525">
            <a:solidFill>
              <a:srgbClr val="D4C7B6"/>
            </a:solidFill>
            <a:prstDash val="solid"/>
          </a:ln>
        </p:spPr>
        <p:txBody>
          <a:bodyPr/>
          <a:lstStyle/>
          <a:p>
            <a:endParaRPr lang="fr-TN"/>
          </a:p>
        </p:txBody>
      </p:sp>
      <p:sp>
        <p:nvSpPr>
          <p:cNvPr id="17" name="Rectangle 16">
            <a:extLst>
              <a:ext uri="{FF2B5EF4-FFF2-40B4-BE49-F238E27FC236}">
                <a16:creationId xmlns:a16="http://schemas.microsoft.com/office/drawing/2014/main" id="{A9029DC6-5FA0-4104-A7B4-B672FF7C77A6}"/>
              </a:ext>
            </a:extLst>
          </p:cNvPr>
          <p:cNvSpPr>
            <a:spLocks noGrp="1"/>
          </p:cNvSpPr>
          <p:nvPr/>
        </p:nvSpPr>
        <p:spPr>
          <a:xfrm>
            <a:off x="461511" y="3263756"/>
            <a:ext cx="16954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2304C"/>
                </a:solidFill>
                <a:latin typeface="Aptos"/>
                <a:ea typeface="Aptos"/>
                <a:cs typeface="Aptos"/>
              </a:defRPr>
            </a:pPr>
            <a:r>
              <a:rPr sz="1350" b="1">
                <a:solidFill>
                  <a:srgbClr val="12304C"/>
                </a:solidFill>
                <a:latin typeface="Aptos"/>
                <a:ea typeface="Aptos"/>
                <a:cs typeface="Aptos"/>
              </a:rPr>
              <a:t>DimCustomer</a:t>
            </a:r>
          </a:p>
        </p:txBody>
      </p:sp>
      <p:sp>
        <p:nvSpPr>
          <p:cNvPr id="18" name="Rectangle 17">
            <a:extLst>
              <a:ext uri="{FF2B5EF4-FFF2-40B4-BE49-F238E27FC236}">
                <a16:creationId xmlns:a16="http://schemas.microsoft.com/office/drawing/2014/main" id="{6A737692-25A3-4B9B-9367-66D274EDD11B}"/>
              </a:ext>
            </a:extLst>
          </p:cNvPr>
          <p:cNvSpPr>
            <a:spLocks noGrp="1"/>
          </p:cNvSpPr>
          <p:nvPr/>
        </p:nvSpPr>
        <p:spPr>
          <a:xfrm>
            <a:off x="461511" y="3549506"/>
            <a:ext cx="169545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5A6F7E"/>
                </a:solidFill>
                <a:latin typeface="Aptos"/>
                <a:ea typeface="Aptos"/>
                <a:cs typeface="Aptos"/>
              </a:defRPr>
            </a:pPr>
            <a:r>
              <a:rPr sz="1050" b="0">
                <a:solidFill>
                  <a:srgbClr val="5A6F7E"/>
                </a:solidFill>
                <a:latin typeface="Aptos"/>
                <a:ea typeface="Aptos"/>
                <a:cs typeface="Aptos"/>
              </a:rPr>
              <a:t>Client, compte,</a:t>
            </a:r>
          </a:p>
          <a:p>
            <a:pPr algn="l">
              <a:defRPr sz="1050" b="0">
                <a:solidFill>
                  <a:srgbClr val="5A6F7E"/>
                </a:solidFill>
                <a:latin typeface="Aptos"/>
                <a:ea typeface="Aptos"/>
                <a:cs typeface="Aptos"/>
              </a:defRPr>
            </a:pPr>
            <a:r>
              <a:rPr sz="1050" b="0">
                <a:solidFill>
                  <a:srgbClr val="5A6F7E"/>
                </a:solidFill>
                <a:latin typeface="Aptos"/>
                <a:ea typeface="Aptos"/>
                <a:cs typeface="Aptos"/>
              </a:rPr>
              <a:t>coordonnées</a:t>
            </a:r>
          </a:p>
        </p:txBody>
      </p:sp>
      <p:sp>
        <p:nvSpPr>
          <p:cNvPr id="19" name="Rectangle 18">
            <a:extLst>
              <a:ext uri="{FF2B5EF4-FFF2-40B4-BE49-F238E27FC236}">
                <a16:creationId xmlns:a16="http://schemas.microsoft.com/office/drawing/2014/main" id="{BEB76AAA-BFFE-465D-AD02-D1A5D8F45E20}"/>
              </a:ext>
            </a:extLst>
          </p:cNvPr>
          <p:cNvSpPr>
            <a:spLocks noGrp="1"/>
          </p:cNvSpPr>
          <p:nvPr/>
        </p:nvSpPr>
        <p:spPr>
          <a:xfrm>
            <a:off x="5350221" y="3037642"/>
            <a:ext cx="1333500" cy="990600"/>
          </a:xfrm>
          <a:prstGeom prst="rect">
            <a:avLst/>
          </a:prstGeom>
          <a:solidFill>
            <a:srgbClr val="E4EEF0"/>
          </a:solidFill>
          <a:ln w="9525">
            <a:solidFill>
              <a:srgbClr val="D4C7B6"/>
            </a:solidFill>
            <a:prstDash val="solid"/>
          </a:ln>
        </p:spPr>
        <p:txBody>
          <a:bodyPr/>
          <a:lstStyle/>
          <a:p>
            <a:endParaRPr lang="fr-TN"/>
          </a:p>
        </p:txBody>
      </p:sp>
      <p:sp>
        <p:nvSpPr>
          <p:cNvPr id="20" name="Rectangle 19">
            <a:extLst>
              <a:ext uri="{FF2B5EF4-FFF2-40B4-BE49-F238E27FC236}">
                <a16:creationId xmlns:a16="http://schemas.microsoft.com/office/drawing/2014/main" id="{3A3C763A-2389-44E3-A01A-64ED72A74E3E}"/>
              </a:ext>
            </a:extLst>
          </p:cNvPr>
          <p:cNvSpPr>
            <a:spLocks noGrp="1"/>
          </p:cNvSpPr>
          <p:nvPr/>
        </p:nvSpPr>
        <p:spPr>
          <a:xfrm>
            <a:off x="5521671" y="3209092"/>
            <a:ext cx="1076556"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2304C"/>
                </a:solidFill>
                <a:latin typeface="Aptos"/>
                <a:ea typeface="Aptos"/>
                <a:cs typeface="Aptos"/>
              </a:defRPr>
            </a:pPr>
            <a:r>
              <a:rPr sz="1350" b="1">
                <a:solidFill>
                  <a:srgbClr val="12304C"/>
                </a:solidFill>
                <a:latin typeface="Aptos"/>
                <a:ea typeface="Aptos"/>
                <a:cs typeface="Aptos"/>
              </a:rPr>
              <a:t>DimTerritory</a:t>
            </a:r>
          </a:p>
        </p:txBody>
      </p:sp>
      <p:sp>
        <p:nvSpPr>
          <p:cNvPr id="21" name="Rectangle 20">
            <a:extLst>
              <a:ext uri="{FF2B5EF4-FFF2-40B4-BE49-F238E27FC236}">
                <a16:creationId xmlns:a16="http://schemas.microsoft.com/office/drawing/2014/main" id="{5AD70BD9-DE84-424F-9AC9-D3F22ABDA89B}"/>
              </a:ext>
            </a:extLst>
          </p:cNvPr>
          <p:cNvSpPr>
            <a:spLocks noGrp="1"/>
          </p:cNvSpPr>
          <p:nvPr/>
        </p:nvSpPr>
        <p:spPr>
          <a:xfrm>
            <a:off x="5521671" y="3494842"/>
            <a:ext cx="1076556"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5A6F7E"/>
                </a:solidFill>
                <a:latin typeface="Aptos"/>
                <a:ea typeface="Aptos"/>
                <a:cs typeface="Aptos"/>
              </a:defRPr>
            </a:pPr>
            <a:r>
              <a:rPr sz="1050" b="0">
                <a:solidFill>
                  <a:srgbClr val="5A6F7E"/>
                </a:solidFill>
                <a:latin typeface="Aptos"/>
                <a:ea typeface="Aptos"/>
                <a:cs typeface="Aptos"/>
              </a:rPr>
              <a:t>Territoire,</a:t>
            </a:r>
          </a:p>
          <a:p>
            <a:pPr algn="l">
              <a:defRPr sz="1050" b="0">
                <a:solidFill>
                  <a:srgbClr val="5A6F7E"/>
                </a:solidFill>
                <a:latin typeface="Aptos"/>
                <a:ea typeface="Aptos"/>
                <a:cs typeface="Aptos"/>
              </a:defRPr>
            </a:pPr>
            <a:r>
              <a:rPr sz="1050" b="0">
                <a:solidFill>
                  <a:srgbClr val="5A6F7E"/>
                </a:solidFill>
                <a:latin typeface="Aptos"/>
                <a:ea typeface="Aptos"/>
                <a:cs typeface="Aptos"/>
              </a:rPr>
              <a:t>région, pays</a:t>
            </a:r>
          </a:p>
        </p:txBody>
      </p:sp>
      <p:sp>
        <p:nvSpPr>
          <p:cNvPr id="22" name="Rectangle 21">
            <a:extLst>
              <a:ext uri="{FF2B5EF4-FFF2-40B4-BE49-F238E27FC236}">
                <a16:creationId xmlns:a16="http://schemas.microsoft.com/office/drawing/2014/main" id="{FB81CFF7-92E6-4FE2-8FFF-4F0C663DC84D}"/>
              </a:ext>
            </a:extLst>
          </p:cNvPr>
          <p:cNvSpPr>
            <a:spLocks noGrp="1"/>
          </p:cNvSpPr>
          <p:nvPr/>
        </p:nvSpPr>
        <p:spPr>
          <a:xfrm>
            <a:off x="1778148" y="2388668"/>
            <a:ext cx="743070" cy="45719"/>
          </a:xfrm>
          <a:prstGeom prst="rect">
            <a:avLst/>
          </a:prstGeom>
          <a:solidFill>
            <a:srgbClr val="E07A5F"/>
          </a:solidFill>
          <a:ln w="0">
            <a:solidFill>
              <a:srgbClr val="000000">
                <a:alpha val="0"/>
              </a:srgbClr>
            </a:solidFill>
            <a:prstDash val="solid"/>
          </a:ln>
        </p:spPr>
        <p:txBody>
          <a:bodyPr/>
          <a:lstStyle/>
          <a:p>
            <a:endParaRPr lang="fr-TN"/>
          </a:p>
        </p:txBody>
      </p:sp>
      <p:sp>
        <p:nvSpPr>
          <p:cNvPr id="23" name="Rectangle 22">
            <a:extLst>
              <a:ext uri="{FF2B5EF4-FFF2-40B4-BE49-F238E27FC236}">
                <a16:creationId xmlns:a16="http://schemas.microsoft.com/office/drawing/2014/main" id="{C56F9FF4-8CB1-45FD-AC11-2C32FFFEA5BF}"/>
              </a:ext>
            </a:extLst>
          </p:cNvPr>
          <p:cNvSpPr>
            <a:spLocks noGrp="1"/>
          </p:cNvSpPr>
          <p:nvPr/>
        </p:nvSpPr>
        <p:spPr>
          <a:xfrm>
            <a:off x="4631394" y="2286000"/>
            <a:ext cx="729128" cy="57150"/>
          </a:xfrm>
          <a:prstGeom prst="rect">
            <a:avLst/>
          </a:prstGeom>
          <a:solidFill>
            <a:srgbClr val="E07A5F"/>
          </a:solidFill>
          <a:ln w="0">
            <a:solidFill>
              <a:srgbClr val="000000">
                <a:alpha val="0"/>
              </a:srgbClr>
            </a:solidFill>
            <a:prstDash val="solid"/>
          </a:ln>
        </p:spPr>
        <p:txBody>
          <a:bodyPr/>
          <a:lstStyle/>
          <a:p>
            <a:endParaRPr lang="fr-TN"/>
          </a:p>
        </p:txBody>
      </p:sp>
      <p:sp>
        <p:nvSpPr>
          <p:cNvPr id="24" name="Rectangle 23">
            <a:extLst>
              <a:ext uri="{FF2B5EF4-FFF2-40B4-BE49-F238E27FC236}">
                <a16:creationId xmlns:a16="http://schemas.microsoft.com/office/drawing/2014/main" id="{25B73B9A-551A-4D10-94E0-69AA290832BE}"/>
              </a:ext>
            </a:extLst>
          </p:cNvPr>
          <p:cNvSpPr>
            <a:spLocks noGrp="1"/>
          </p:cNvSpPr>
          <p:nvPr/>
        </p:nvSpPr>
        <p:spPr>
          <a:xfrm>
            <a:off x="1785486" y="3429000"/>
            <a:ext cx="743069" cy="45719"/>
          </a:xfrm>
          <a:prstGeom prst="rect">
            <a:avLst/>
          </a:prstGeom>
          <a:solidFill>
            <a:srgbClr val="E07A5F"/>
          </a:solidFill>
          <a:ln w="0">
            <a:solidFill>
              <a:srgbClr val="000000">
                <a:alpha val="0"/>
              </a:srgbClr>
            </a:solidFill>
            <a:prstDash val="solid"/>
          </a:ln>
        </p:spPr>
        <p:txBody>
          <a:bodyPr/>
          <a:lstStyle/>
          <a:p>
            <a:endParaRPr lang="fr-TN"/>
          </a:p>
        </p:txBody>
      </p:sp>
      <p:sp>
        <p:nvSpPr>
          <p:cNvPr id="25" name="Rectangle 24">
            <a:extLst>
              <a:ext uri="{FF2B5EF4-FFF2-40B4-BE49-F238E27FC236}">
                <a16:creationId xmlns:a16="http://schemas.microsoft.com/office/drawing/2014/main" id="{6E21D89E-1D64-4BC3-BA17-ABB47E9912C5}"/>
              </a:ext>
            </a:extLst>
          </p:cNvPr>
          <p:cNvSpPr>
            <a:spLocks noGrp="1"/>
          </p:cNvSpPr>
          <p:nvPr/>
        </p:nvSpPr>
        <p:spPr>
          <a:xfrm>
            <a:off x="4621092" y="3506271"/>
            <a:ext cx="729128" cy="57150"/>
          </a:xfrm>
          <a:prstGeom prst="rect">
            <a:avLst/>
          </a:prstGeom>
          <a:solidFill>
            <a:srgbClr val="E07A5F"/>
          </a:solidFill>
          <a:ln w="0">
            <a:solidFill>
              <a:srgbClr val="000000">
                <a:alpha val="0"/>
              </a:srgbClr>
            </a:solidFill>
            <a:prstDash val="solid"/>
          </a:ln>
        </p:spPr>
        <p:txBody>
          <a:bodyPr/>
          <a:lstStyle/>
          <a:p>
            <a:endParaRPr lang="fr-TN"/>
          </a:p>
        </p:txBody>
      </p:sp>
      <p:sp>
        <p:nvSpPr>
          <p:cNvPr id="26" name="Rectangle 25">
            <a:extLst>
              <a:ext uri="{FF2B5EF4-FFF2-40B4-BE49-F238E27FC236}">
                <a16:creationId xmlns:a16="http://schemas.microsoft.com/office/drawing/2014/main" id="{6B538E6D-33A6-4A8B-9669-A5EE82CD7FF1}"/>
              </a:ext>
            </a:extLst>
          </p:cNvPr>
          <p:cNvSpPr>
            <a:spLocks noGrp="1"/>
          </p:cNvSpPr>
          <p:nvPr/>
        </p:nvSpPr>
        <p:spPr>
          <a:xfrm>
            <a:off x="704850" y="6515100"/>
            <a:ext cx="5715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5A6F7E"/>
                </a:solidFill>
                <a:latin typeface="Aptos"/>
                <a:ea typeface="Aptos"/>
                <a:cs typeface="Aptos"/>
              </a:defRPr>
            </a:pPr>
            <a:r>
              <a:rPr sz="825" b="0">
                <a:solidFill>
                  <a:srgbClr val="5A6F7E"/>
                </a:solidFill>
                <a:latin typeface="Aptos"/>
                <a:ea typeface="Aptos"/>
                <a:cs typeface="Aptos"/>
              </a:rPr>
              <a:t>Soutenance · modélisation du DW</a:t>
            </a:r>
          </a:p>
        </p:txBody>
      </p:sp>
      <p:sp>
        <p:nvSpPr>
          <p:cNvPr id="27" name="Rectangle 26">
            <a:extLst>
              <a:ext uri="{FF2B5EF4-FFF2-40B4-BE49-F238E27FC236}">
                <a16:creationId xmlns:a16="http://schemas.microsoft.com/office/drawing/2014/main" id="{32AB76FB-B773-4195-8868-26D7B83DD005}"/>
              </a:ext>
            </a:extLst>
          </p:cNvPr>
          <p:cNvSpPr>
            <a:spLocks noGrp="1"/>
          </p:cNvSpPr>
          <p:nvPr/>
        </p:nvSpPr>
        <p:spPr>
          <a:xfrm>
            <a:off x="9258300" y="6515100"/>
            <a:ext cx="2286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0">
                <a:solidFill>
                  <a:srgbClr val="5A6F7E"/>
                </a:solidFill>
                <a:latin typeface="Aptos"/>
                <a:ea typeface="Aptos"/>
                <a:cs typeface="Aptos"/>
              </a:defRPr>
            </a:pPr>
            <a:r>
              <a:rPr sz="825" b="0">
                <a:solidFill>
                  <a:srgbClr val="5A6F7E"/>
                </a:solidFill>
                <a:latin typeface="Aptos"/>
                <a:ea typeface="Aptos"/>
                <a:cs typeface="Aptos"/>
              </a:rPr>
              <a:t>Projet BI AdventureWorks</a:t>
            </a:r>
          </a:p>
        </p:txBody>
      </p:sp>
      <p:pic>
        <p:nvPicPr>
          <p:cNvPr id="30" name="Image 29">
            <a:extLst>
              <a:ext uri="{FF2B5EF4-FFF2-40B4-BE49-F238E27FC236}">
                <a16:creationId xmlns:a16="http://schemas.microsoft.com/office/drawing/2014/main" id="{32F607ED-A419-C669-0704-F5B2140B772A}"/>
              </a:ext>
            </a:extLst>
          </p:cNvPr>
          <p:cNvPicPr>
            <a:picLocks noChangeAspect="1"/>
          </p:cNvPicPr>
          <p:nvPr/>
        </p:nvPicPr>
        <p:blipFill>
          <a:blip r:embed="rId3"/>
          <a:stretch>
            <a:fillRect/>
          </a:stretch>
        </p:blipFill>
        <p:spPr>
          <a:xfrm>
            <a:off x="6890905" y="1111860"/>
            <a:ext cx="5153891" cy="5527964"/>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9" name="Ellipse 28">
            <a:extLst>
              <a:ext uri="{FF2B5EF4-FFF2-40B4-BE49-F238E27FC236}">
                <a16:creationId xmlns:a16="http://schemas.microsoft.com/office/drawing/2014/main" id="{5E4421DF-DA86-4180-3DA0-37AE818491E4}"/>
              </a:ext>
            </a:extLst>
          </p:cNvPr>
          <p:cNvSpPr/>
          <p:nvPr/>
        </p:nvSpPr>
        <p:spPr>
          <a:xfrm>
            <a:off x="11845290" y="6512560"/>
            <a:ext cx="304800" cy="30988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b="1" dirty="0">
                <a:ln w="22225">
                  <a:solidFill>
                    <a:schemeClr val="accent2"/>
                  </a:solidFill>
                  <a:prstDash val="solid"/>
                </a:ln>
                <a:solidFill>
                  <a:schemeClr val="accent2">
                    <a:lumMod val="40000"/>
                    <a:lumOff val="60000"/>
                  </a:schemeClr>
                </a:solidFill>
              </a:rPr>
              <a:t>4</a:t>
            </a:r>
            <a:endParaRPr lang="fr-TN" b="1" dirty="0">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15798897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heel(1)">
                                      <p:cBhvr>
                                        <p:cTn id="7" dur="20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C6CFDDD8-166D-4BA2-9F97-2CEA8AB893D9}"/>
              </a:ext>
            </a:extLst>
          </p:cNvPr>
          <p:cNvSpPr>
            <a:spLocks noGrp="1"/>
          </p:cNvSpPr>
          <p:nvPr/>
        </p:nvSpPr>
        <p:spPr>
          <a:xfrm>
            <a:off x="0" y="6096"/>
            <a:ext cx="12192000" cy="6858000"/>
          </a:xfrm>
          <a:prstGeom prst="rect">
            <a:avLst/>
          </a:prstGeom>
          <a:solidFill>
            <a:srgbClr val="F6F0E7"/>
          </a:solidFill>
          <a:ln w="0">
            <a:solidFill>
              <a:srgbClr val="000000">
                <a:alpha val="0"/>
              </a:srgbClr>
            </a:solidFill>
            <a:prstDash val="solid"/>
          </a:ln>
        </p:spPr>
        <p:txBody>
          <a:bodyPr/>
          <a:lstStyle/>
          <a:p>
            <a:endParaRPr lang="fr-TN"/>
          </a:p>
        </p:txBody>
      </p:sp>
      <p:sp>
        <p:nvSpPr>
          <p:cNvPr id="2" name="Rectangle 1">
            <a:extLst>
              <a:ext uri="{FF2B5EF4-FFF2-40B4-BE49-F238E27FC236}">
                <a16:creationId xmlns:a16="http://schemas.microsoft.com/office/drawing/2014/main" id="{A9DB12E2-E62E-4AA1-B8ED-B2768769C790}"/>
              </a:ext>
            </a:extLst>
          </p:cNvPr>
          <p:cNvSpPr>
            <a:spLocks noGrp="1"/>
          </p:cNvSpPr>
          <p:nvPr/>
        </p:nvSpPr>
        <p:spPr>
          <a:xfrm>
            <a:off x="0" y="0"/>
            <a:ext cx="12192000" cy="247650"/>
          </a:xfrm>
          <a:prstGeom prst="rect">
            <a:avLst/>
          </a:prstGeom>
          <a:solidFill>
            <a:srgbClr val="0A1A2F"/>
          </a:solidFill>
          <a:ln w="0">
            <a:solidFill>
              <a:srgbClr val="000000">
                <a:alpha val="0"/>
              </a:srgbClr>
            </a:solidFill>
            <a:prstDash val="solid"/>
          </a:ln>
        </p:spPr>
        <p:txBody>
          <a:bodyPr/>
          <a:lstStyle/>
          <a:p>
            <a:endParaRPr lang="fr-TN"/>
          </a:p>
        </p:txBody>
      </p:sp>
      <p:sp>
        <p:nvSpPr>
          <p:cNvPr id="3" name="Rectangle 2">
            <a:extLst>
              <a:ext uri="{FF2B5EF4-FFF2-40B4-BE49-F238E27FC236}">
                <a16:creationId xmlns:a16="http://schemas.microsoft.com/office/drawing/2014/main" id="{83997F93-3455-4993-9C35-D6E05B3AAE5C}"/>
              </a:ext>
            </a:extLst>
          </p:cNvPr>
          <p:cNvSpPr>
            <a:spLocks noGrp="1"/>
          </p:cNvSpPr>
          <p:nvPr/>
        </p:nvSpPr>
        <p:spPr>
          <a:xfrm>
            <a:off x="0" y="247650"/>
            <a:ext cx="2095500" cy="57150"/>
          </a:xfrm>
          <a:prstGeom prst="rect">
            <a:avLst/>
          </a:prstGeom>
          <a:solidFill>
            <a:srgbClr val="7A9E7E"/>
          </a:solidFill>
          <a:ln w="0">
            <a:solidFill>
              <a:srgbClr val="000000">
                <a:alpha val="0"/>
              </a:srgbClr>
            </a:solidFill>
            <a:prstDash val="solid"/>
          </a:ln>
        </p:spPr>
        <p:txBody>
          <a:bodyPr/>
          <a:lstStyle/>
          <a:p>
            <a:endParaRPr lang="fr-TN"/>
          </a:p>
        </p:txBody>
      </p:sp>
      <p:sp>
        <p:nvSpPr>
          <p:cNvPr id="4" name="Rectangle 3">
            <a:extLst>
              <a:ext uri="{FF2B5EF4-FFF2-40B4-BE49-F238E27FC236}">
                <a16:creationId xmlns:a16="http://schemas.microsoft.com/office/drawing/2014/main" id="{29E0167E-3D71-4F1E-B535-7BE9A973E555}"/>
              </a:ext>
            </a:extLst>
          </p:cNvPr>
          <p:cNvSpPr>
            <a:spLocks noGrp="1"/>
          </p:cNvSpPr>
          <p:nvPr/>
        </p:nvSpPr>
        <p:spPr>
          <a:xfrm>
            <a:off x="704850" y="552450"/>
            <a:ext cx="2095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0F8B8D"/>
                </a:solidFill>
                <a:latin typeface="Aptos"/>
                <a:ea typeface="Aptos"/>
                <a:cs typeface="Aptos"/>
              </a:defRPr>
            </a:pPr>
            <a:r>
              <a:rPr sz="900" b="1">
                <a:solidFill>
                  <a:srgbClr val="0F8B8D"/>
                </a:solidFill>
                <a:latin typeface="Aptos"/>
                <a:ea typeface="Aptos"/>
                <a:cs typeface="Aptos"/>
              </a:rPr>
              <a:t>ETL SSIS</a:t>
            </a:r>
          </a:p>
        </p:txBody>
      </p:sp>
      <p:sp>
        <p:nvSpPr>
          <p:cNvPr id="5" name="Rectangle 4">
            <a:extLst>
              <a:ext uri="{FF2B5EF4-FFF2-40B4-BE49-F238E27FC236}">
                <a16:creationId xmlns:a16="http://schemas.microsoft.com/office/drawing/2014/main" id="{F7523237-4D55-4190-BBA2-B0311BF48544}"/>
              </a:ext>
            </a:extLst>
          </p:cNvPr>
          <p:cNvSpPr>
            <a:spLocks noGrp="1"/>
          </p:cNvSpPr>
          <p:nvPr/>
        </p:nvSpPr>
        <p:spPr>
          <a:xfrm>
            <a:off x="685800" y="781050"/>
            <a:ext cx="8763000" cy="742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400" b="1">
                <a:solidFill>
                  <a:srgbClr val="12304C"/>
                </a:solidFill>
                <a:latin typeface="Aptos Display"/>
                <a:ea typeface="Aptos Display"/>
                <a:cs typeface="Aptos Display"/>
              </a:defRPr>
            </a:pPr>
            <a:r>
              <a:rPr sz="2400" b="1">
                <a:solidFill>
                  <a:srgbClr val="12304C"/>
                </a:solidFill>
                <a:latin typeface="Aptos Display"/>
                <a:ea typeface="Aptos Display"/>
                <a:cs typeface="Aptos Display"/>
              </a:rPr>
              <a:t>Le rôle de SSIS est d'automatiser et fiabiliser le chargement vers le Data Warehouse.</a:t>
            </a:r>
          </a:p>
        </p:txBody>
      </p:sp>
      <p:sp>
        <p:nvSpPr>
          <p:cNvPr id="6" name="Rectangle 5">
            <a:extLst>
              <a:ext uri="{FF2B5EF4-FFF2-40B4-BE49-F238E27FC236}">
                <a16:creationId xmlns:a16="http://schemas.microsoft.com/office/drawing/2014/main" id="{EE2871FC-AE23-456B-852E-D18B76D3F5EB}"/>
              </a:ext>
            </a:extLst>
          </p:cNvPr>
          <p:cNvSpPr>
            <a:spLocks noGrp="1"/>
          </p:cNvSpPr>
          <p:nvPr/>
        </p:nvSpPr>
        <p:spPr>
          <a:xfrm>
            <a:off x="704850" y="1562100"/>
            <a:ext cx="81915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5A6F7E"/>
                </a:solidFill>
                <a:latin typeface="Aptos"/>
                <a:ea typeface="Aptos"/>
                <a:cs typeface="Aptos"/>
              </a:defRPr>
            </a:pPr>
            <a:r>
              <a:rPr sz="1200" b="0">
                <a:solidFill>
                  <a:srgbClr val="5A6F7E"/>
                </a:solidFill>
                <a:latin typeface="Aptos"/>
                <a:ea typeface="Aptos"/>
                <a:cs typeface="Aptos"/>
              </a:rPr>
              <a:t>Le package met en œuvre un enchaînement logique : charger d'abord les dimensions, puis charger la table de faits.</a:t>
            </a:r>
          </a:p>
        </p:txBody>
      </p:sp>
      <p:sp>
        <p:nvSpPr>
          <p:cNvPr id="7" name="Rectangle 6">
            <a:extLst>
              <a:ext uri="{FF2B5EF4-FFF2-40B4-BE49-F238E27FC236}">
                <a16:creationId xmlns:a16="http://schemas.microsoft.com/office/drawing/2014/main" id="{BA4D9AD5-1059-41E5-8552-294C0EA87A5B}"/>
              </a:ext>
            </a:extLst>
          </p:cNvPr>
          <p:cNvSpPr>
            <a:spLocks noGrp="1"/>
          </p:cNvSpPr>
          <p:nvPr/>
        </p:nvSpPr>
        <p:spPr>
          <a:xfrm>
            <a:off x="704850" y="2286000"/>
            <a:ext cx="5143500" cy="933450"/>
          </a:xfrm>
          <a:prstGeom prst="rect">
            <a:avLst/>
          </a:prstGeom>
          <a:solidFill>
            <a:srgbClr val="FFFFFF"/>
          </a:solidFill>
          <a:ln w="9525">
            <a:solidFill>
              <a:srgbClr val="D4C7B6"/>
            </a:solidFill>
            <a:prstDash val="solid"/>
          </a:ln>
        </p:spPr>
        <p:txBody>
          <a:bodyPr/>
          <a:lstStyle/>
          <a:p>
            <a:endParaRPr lang="fr-TN"/>
          </a:p>
        </p:txBody>
      </p:sp>
      <p:sp>
        <p:nvSpPr>
          <p:cNvPr id="8" name="Rectangle 7">
            <a:extLst>
              <a:ext uri="{FF2B5EF4-FFF2-40B4-BE49-F238E27FC236}">
                <a16:creationId xmlns:a16="http://schemas.microsoft.com/office/drawing/2014/main" id="{42DAB825-C2E4-4E86-A7E5-EAD53BF5E796}"/>
              </a:ext>
            </a:extLst>
          </p:cNvPr>
          <p:cNvSpPr>
            <a:spLocks noGrp="1"/>
          </p:cNvSpPr>
          <p:nvPr/>
        </p:nvSpPr>
        <p:spPr>
          <a:xfrm>
            <a:off x="876300" y="2457450"/>
            <a:ext cx="342900" cy="342900"/>
          </a:xfrm>
          <a:prstGeom prst="rect">
            <a:avLst/>
          </a:prstGeom>
          <a:solidFill>
            <a:srgbClr val="0F8B8D"/>
          </a:solidFill>
          <a:ln w="0">
            <a:solidFill>
              <a:srgbClr val="000000">
                <a:alpha val="0"/>
              </a:srgbClr>
            </a:solidFill>
            <a:prstDash val="solid"/>
          </a:ln>
        </p:spPr>
        <p:txBody>
          <a:bodyPr/>
          <a:lstStyle/>
          <a:p>
            <a:endParaRPr lang="fr-TN"/>
          </a:p>
        </p:txBody>
      </p:sp>
      <p:sp>
        <p:nvSpPr>
          <p:cNvPr id="9" name="Rectangle 8">
            <a:extLst>
              <a:ext uri="{FF2B5EF4-FFF2-40B4-BE49-F238E27FC236}">
                <a16:creationId xmlns:a16="http://schemas.microsoft.com/office/drawing/2014/main" id="{71D553E6-B786-4EB5-8991-C1895240A1E9}"/>
              </a:ext>
            </a:extLst>
          </p:cNvPr>
          <p:cNvSpPr>
            <a:spLocks noGrp="1"/>
          </p:cNvSpPr>
          <p:nvPr/>
        </p:nvSpPr>
        <p:spPr>
          <a:xfrm>
            <a:off x="876300" y="2514600"/>
            <a:ext cx="342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FFFFFF"/>
                </a:solidFill>
                <a:latin typeface="Aptos"/>
                <a:ea typeface="Aptos"/>
                <a:cs typeface="Aptos"/>
              </a:defRPr>
            </a:pPr>
            <a:r>
              <a:rPr sz="1350" b="1">
                <a:solidFill>
                  <a:srgbClr val="FFFFFF"/>
                </a:solidFill>
                <a:latin typeface="Aptos"/>
                <a:ea typeface="Aptos"/>
                <a:cs typeface="Aptos"/>
              </a:rPr>
              <a:t>1</a:t>
            </a:r>
          </a:p>
        </p:txBody>
      </p:sp>
      <p:sp>
        <p:nvSpPr>
          <p:cNvPr id="10" name="Rectangle 9">
            <a:extLst>
              <a:ext uri="{FF2B5EF4-FFF2-40B4-BE49-F238E27FC236}">
                <a16:creationId xmlns:a16="http://schemas.microsoft.com/office/drawing/2014/main" id="{240E350C-0E5B-4EA3-85F2-846E5A0AE29B}"/>
              </a:ext>
            </a:extLst>
          </p:cNvPr>
          <p:cNvSpPr>
            <a:spLocks noGrp="1"/>
          </p:cNvSpPr>
          <p:nvPr/>
        </p:nvSpPr>
        <p:spPr>
          <a:xfrm>
            <a:off x="1352550" y="2457450"/>
            <a:ext cx="43243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12304C"/>
                </a:solidFill>
                <a:latin typeface="Aptos"/>
                <a:ea typeface="Aptos"/>
                <a:cs typeface="Aptos"/>
              </a:defRPr>
            </a:pPr>
            <a:r>
              <a:rPr sz="1200" b="1">
                <a:solidFill>
                  <a:srgbClr val="12304C"/>
                </a:solidFill>
                <a:latin typeface="Aptos"/>
                <a:ea typeface="Aptos"/>
                <a:cs typeface="Aptos"/>
              </a:rPr>
              <a:t>Load DimProduct</a:t>
            </a:r>
          </a:p>
        </p:txBody>
      </p:sp>
      <p:sp>
        <p:nvSpPr>
          <p:cNvPr id="11" name="Rectangle 10">
            <a:extLst>
              <a:ext uri="{FF2B5EF4-FFF2-40B4-BE49-F238E27FC236}">
                <a16:creationId xmlns:a16="http://schemas.microsoft.com/office/drawing/2014/main" id="{6B1ECC40-0AD8-4102-9B52-EFB481FF4CE1}"/>
              </a:ext>
            </a:extLst>
          </p:cNvPr>
          <p:cNvSpPr>
            <a:spLocks noGrp="1"/>
          </p:cNvSpPr>
          <p:nvPr/>
        </p:nvSpPr>
        <p:spPr>
          <a:xfrm>
            <a:off x="1352550" y="2762250"/>
            <a:ext cx="43243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0">
                <a:solidFill>
                  <a:srgbClr val="5A6F7E"/>
                </a:solidFill>
                <a:latin typeface="Aptos"/>
                <a:ea typeface="Aptos"/>
                <a:cs typeface="Aptos"/>
              </a:defRPr>
            </a:pPr>
            <a:r>
              <a:rPr sz="900" b="0">
                <a:solidFill>
                  <a:srgbClr val="5A6F7E"/>
                </a:solidFill>
                <a:latin typeface="Aptos"/>
                <a:ea typeface="Aptos"/>
                <a:cs typeface="Aptos"/>
              </a:rPr>
              <a:t>Création d'une vue analytique des produits avec catégories et sous-catégories.</a:t>
            </a:r>
          </a:p>
        </p:txBody>
      </p:sp>
      <p:sp>
        <p:nvSpPr>
          <p:cNvPr id="12" name="Rectangle 11">
            <a:extLst>
              <a:ext uri="{FF2B5EF4-FFF2-40B4-BE49-F238E27FC236}">
                <a16:creationId xmlns:a16="http://schemas.microsoft.com/office/drawing/2014/main" id="{E07B9F7A-C80F-4ABC-BC30-5DDE2AC5182A}"/>
              </a:ext>
            </a:extLst>
          </p:cNvPr>
          <p:cNvSpPr>
            <a:spLocks noGrp="1"/>
          </p:cNvSpPr>
          <p:nvPr/>
        </p:nvSpPr>
        <p:spPr>
          <a:xfrm>
            <a:off x="6324600" y="2286000"/>
            <a:ext cx="5143500" cy="933450"/>
          </a:xfrm>
          <a:prstGeom prst="rect">
            <a:avLst/>
          </a:prstGeom>
          <a:solidFill>
            <a:srgbClr val="E4EEF0"/>
          </a:solidFill>
          <a:ln w="9525">
            <a:solidFill>
              <a:srgbClr val="D4C7B6"/>
            </a:solidFill>
            <a:prstDash val="solid"/>
          </a:ln>
        </p:spPr>
        <p:txBody>
          <a:bodyPr/>
          <a:lstStyle/>
          <a:p>
            <a:endParaRPr lang="fr-TN"/>
          </a:p>
        </p:txBody>
      </p:sp>
      <p:sp>
        <p:nvSpPr>
          <p:cNvPr id="13" name="Rectangle 12">
            <a:extLst>
              <a:ext uri="{FF2B5EF4-FFF2-40B4-BE49-F238E27FC236}">
                <a16:creationId xmlns:a16="http://schemas.microsoft.com/office/drawing/2014/main" id="{5156F846-C815-4B54-8BEE-26C1DD2B0506}"/>
              </a:ext>
            </a:extLst>
          </p:cNvPr>
          <p:cNvSpPr>
            <a:spLocks noGrp="1"/>
          </p:cNvSpPr>
          <p:nvPr/>
        </p:nvSpPr>
        <p:spPr>
          <a:xfrm>
            <a:off x="6496050" y="2457450"/>
            <a:ext cx="342900" cy="342900"/>
          </a:xfrm>
          <a:prstGeom prst="rect">
            <a:avLst/>
          </a:prstGeom>
          <a:solidFill>
            <a:srgbClr val="E07A5F"/>
          </a:solidFill>
          <a:ln w="0">
            <a:solidFill>
              <a:srgbClr val="000000">
                <a:alpha val="0"/>
              </a:srgbClr>
            </a:solidFill>
            <a:prstDash val="solid"/>
          </a:ln>
        </p:spPr>
        <p:txBody>
          <a:bodyPr/>
          <a:lstStyle/>
          <a:p>
            <a:endParaRPr lang="fr-TN"/>
          </a:p>
        </p:txBody>
      </p:sp>
      <p:sp>
        <p:nvSpPr>
          <p:cNvPr id="14" name="Rectangle 13">
            <a:extLst>
              <a:ext uri="{FF2B5EF4-FFF2-40B4-BE49-F238E27FC236}">
                <a16:creationId xmlns:a16="http://schemas.microsoft.com/office/drawing/2014/main" id="{DE2FB97A-22C4-4EE5-90D9-8A535430EB93}"/>
              </a:ext>
            </a:extLst>
          </p:cNvPr>
          <p:cNvSpPr>
            <a:spLocks noGrp="1"/>
          </p:cNvSpPr>
          <p:nvPr/>
        </p:nvSpPr>
        <p:spPr>
          <a:xfrm>
            <a:off x="6496050" y="2514600"/>
            <a:ext cx="342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FFFFFF"/>
                </a:solidFill>
                <a:latin typeface="Aptos"/>
                <a:ea typeface="Aptos"/>
                <a:cs typeface="Aptos"/>
              </a:defRPr>
            </a:pPr>
            <a:r>
              <a:rPr sz="1350" b="1">
                <a:solidFill>
                  <a:srgbClr val="FFFFFF"/>
                </a:solidFill>
                <a:latin typeface="Aptos"/>
                <a:ea typeface="Aptos"/>
                <a:cs typeface="Aptos"/>
              </a:rPr>
              <a:t>2</a:t>
            </a:r>
          </a:p>
        </p:txBody>
      </p:sp>
      <p:sp>
        <p:nvSpPr>
          <p:cNvPr id="15" name="Rectangle 14">
            <a:extLst>
              <a:ext uri="{FF2B5EF4-FFF2-40B4-BE49-F238E27FC236}">
                <a16:creationId xmlns:a16="http://schemas.microsoft.com/office/drawing/2014/main" id="{36CEAFDC-BDD2-410B-BFC5-F2266FCB0D61}"/>
              </a:ext>
            </a:extLst>
          </p:cNvPr>
          <p:cNvSpPr>
            <a:spLocks noGrp="1"/>
          </p:cNvSpPr>
          <p:nvPr/>
        </p:nvSpPr>
        <p:spPr>
          <a:xfrm>
            <a:off x="6972300" y="2457450"/>
            <a:ext cx="43243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12304C"/>
                </a:solidFill>
                <a:latin typeface="Aptos"/>
                <a:ea typeface="Aptos"/>
                <a:cs typeface="Aptos"/>
              </a:defRPr>
            </a:pPr>
            <a:r>
              <a:rPr sz="1200" b="1">
                <a:solidFill>
                  <a:srgbClr val="12304C"/>
                </a:solidFill>
                <a:latin typeface="Aptos"/>
                <a:ea typeface="Aptos"/>
                <a:cs typeface="Aptos"/>
              </a:rPr>
              <a:t>Load DimCustomer</a:t>
            </a:r>
          </a:p>
        </p:txBody>
      </p:sp>
      <p:sp>
        <p:nvSpPr>
          <p:cNvPr id="16" name="Rectangle 15">
            <a:extLst>
              <a:ext uri="{FF2B5EF4-FFF2-40B4-BE49-F238E27FC236}">
                <a16:creationId xmlns:a16="http://schemas.microsoft.com/office/drawing/2014/main" id="{E38A3737-9119-4112-9C06-5A7A7B8B485E}"/>
              </a:ext>
            </a:extLst>
          </p:cNvPr>
          <p:cNvSpPr>
            <a:spLocks noGrp="1"/>
          </p:cNvSpPr>
          <p:nvPr/>
        </p:nvSpPr>
        <p:spPr>
          <a:xfrm>
            <a:off x="6972300" y="2762250"/>
            <a:ext cx="43243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0">
                <a:solidFill>
                  <a:srgbClr val="5A6F7E"/>
                </a:solidFill>
                <a:latin typeface="Aptos"/>
                <a:ea typeface="Aptos"/>
                <a:cs typeface="Aptos"/>
              </a:defRPr>
            </a:pPr>
            <a:r>
              <a:rPr sz="900" b="0">
                <a:solidFill>
                  <a:srgbClr val="5A6F7E"/>
                </a:solidFill>
                <a:latin typeface="Aptos"/>
                <a:ea typeface="Aptos"/>
                <a:cs typeface="Aptos"/>
              </a:rPr>
              <a:t>Consolidation des clients avec identité, email et téléphone.</a:t>
            </a:r>
          </a:p>
        </p:txBody>
      </p:sp>
      <p:sp>
        <p:nvSpPr>
          <p:cNvPr id="17" name="Rectangle 16">
            <a:extLst>
              <a:ext uri="{FF2B5EF4-FFF2-40B4-BE49-F238E27FC236}">
                <a16:creationId xmlns:a16="http://schemas.microsoft.com/office/drawing/2014/main" id="{1BBA668C-A691-4FF1-9959-C152C17A1C4F}"/>
              </a:ext>
            </a:extLst>
          </p:cNvPr>
          <p:cNvSpPr>
            <a:spLocks noGrp="1"/>
          </p:cNvSpPr>
          <p:nvPr/>
        </p:nvSpPr>
        <p:spPr>
          <a:xfrm>
            <a:off x="704850" y="3448050"/>
            <a:ext cx="5143500" cy="933450"/>
          </a:xfrm>
          <a:prstGeom prst="rect">
            <a:avLst/>
          </a:prstGeom>
          <a:solidFill>
            <a:srgbClr val="FFFFFF"/>
          </a:solidFill>
          <a:ln w="9525">
            <a:solidFill>
              <a:srgbClr val="D4C7B6"/>
            </a:solidFill>
            <a:prstDash val="solid"/>
          </a:ln>
        </p:spPr>
        <p:txBody>
          <a:bodyPr/>
          <a:lstStyle/>
          <a:p>
            <a:endParaRPr lang="fr-TN"/>
          </a:p>
        </p:txBody>
      </p:sp>
      <p:sp>
        <p:nvSpPr>
          <p:cNvPr id="18" name="Rectangle 17">
            <a:extLst>
              <a:ext uri="{FF2B5EF4-FFF2-40B4-BE49-F238E27FC236}">
                <a16:creationId xmlns:a16="http://schemas.microsoft.com/office/drawing/2014/main" id="{41406B17-76F2-4053-9812-0C07B58B1C89}"/>
              </a:ext>
            </a:extLst>
          </p:cNvPr>
          <p:cNvSpPr>
            <a:spLocks noGrp="1"/>
          </p:cNvSpPr>
          <p:nvPr/>
        </p:nvSpPr>
        <p:spPr>
          <a:xfrm>
            <a:off x="876300" y="3619500"/>
            <a:ext cx="342900" cy="342900"/>
          </a:xfrm>
          <a:prstGeom prst="rect">
            <a:avLst/>
          </a:prstGeom>
          <a:solidFill>
            <a:srgbClr val="7A9E7E"/>
          </a:solidFill>
          <a:ln w="0">
            <a:solidFill>
              <a:srgbClr val="000000">
                <a:alpha val="0"/>
              </a:srgbClr>
            </a:solidFill>
            <a:prstDash val="solid"/>
          </a:ln>
        </p:spPr>
        <p:txBody>
          <a:bodyPr/>
          <a:lstStyle/>
          <a:p>
            <a:endParaRPr lang="fr-TN"/>
          </a:p>
        </p:txBody>
      </p:sp>
      <p:sp>
        <p:nvSpPr>
          <p:cNvPr id="19" name="Rectangle 18">
            <a:extLst>
              <a:ext uri="{FF2B5EF4-FFF2-40B4-BE49-F238E27FC236}">
                <a16:creationId xmlns:a16="http://schemas.microsoft.com/office/drawing/2014/main" id="{17B70468-3797-42AB-8234-A7DF2EE7FE90}"/>
              </a:ext>
            </a:extLst>
          </p:cNvPr>
          <p:cNvSpPr>
            <a:spLocks noGrp="1"/>
          </p:cNvSpPr>
          <p:nvPr/>
        </p:nvSpPr>
        <p:spPr>
          <a:xfrm>
            <a:off x="876300" y="3676650"/>
            <a:ext cx="342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FFFFFF"/>
                </a:solidFill>
                <a:latin typeface="Aptos"/>
                <a:ea typeface="Aptos"/>
                <a:cs typeface="Aptos"/>
              </a:defRPr>
            </a:pPr>
            <a:r>
              <a:rPr sz="1350" b="1">
                <a:solidFill>
                  <a:srgbClr val="FFFFFF"/>
                </a:solidFill>
                <a:latin typeface="Aptos"/>
                <a:ea typeface="Aptos"/>
                <a:cs typeface="Aptos"/>
              </a:rPr>
              <a:t>3</a:t>
            </a:r>
          </a:p>
        </p:txBody>
      </p:sp>
      <p:sp>
        <p:nvSpPr>
          <p:cNvPr id="20" name="Rectangle 19">
            <a:extLst>
              <a:ext uri="{FF2B5EF4-FFF2-40B4-BE49-F238E27FC236}">
                <a16:creationId xmlns:a16="http://schemas.microsoft.com/office/drawing/2014/main" id="{6274C433-CCA2-45E0-938A-CFE078E4B638}"/>
              </a:ext>
            </a:extLst>
          </p:cNvPr>
          <p:cNvSpPr>
            <a:spLocks noGrp="1"/>
          </p:cNvSpPr>
          <p:nvPr/>
        </p:nvSpPr>
        <p:spPr>
          <a:xfrm>
            <a:off x="1352550" y="3619500"/>
            <a:ext cx="43243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12304C"/>
                </a:solidFill>
                <a:latin typeface="Aptos"/>
                <a:ea typeface="Aptos"/>
                <a:cs typeface="Aptos"/>
              </a:defRPr>
            </a:pPr>
            <a:r>
              <a:rPr sz="1200" b="1">
                <a:solidFill>
                  <a:srgbClr val="12304C"/>
                </a:solidFill>
                <a:latin typeface="Aptos"/>
                <a:ea typeface="Aptos"/>
                <a:cs typeface="Aptos"/>
              </a:rPr>
              <a:t>Load DimTerritory</a:t>
            </a:r>
          </a:p>
        </p:txBody>
      </p:sp>
      <p:sp>
        <p:nvSpPr>
          <p:cNvPr id="21" name="Rectangle 20">
            <a:extLst>
              <a:ext uri="{FF2B5EF4-FFF2-40B4-BE49-F238E27FC236}">
                <a16:creationId xmlns:a16="http://schemas.microsoft.com/office/drawing/2014/main" id="{4B773EF0-9DA4-4502-AC5B-7D23911A732D}"/>
              </a:ext>
            </a:extLst>
          </p:cNvPr>
          <p:cNvSpPr>
            <a:spLocks noGrp="1"/>
          </p:cNvSpPr>
          <p:nvPr/>
        </p:nvSpPr>
        <p:spPr>
          <a:xfrm>
            <a:off x="1352550" y="3924300"/>
            <a:ext cx="43243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0">
                <a:solidFill>
                  <a:srgbClr val="5A6F7E"/>
                </a:solidFill>
                <a:latin typeface="Aptos"/>
                <a:ea typeface="Aptos"/>
                <a:cs typeface="Aptos"/>
              </a:defRPr>
            </a:pPr>
            <a:r>
              <a:rPr sz="900" b="0">
                <a:solidFill>
                  <a:srgbClr val="5A6F7E"/>
                </a:solidFill>
                <a:latin typeface="Aptos"/>
                <a:ea typeface="Aptos"/>
                <a:cs typeface="Aptos"/>
              </a:rPr>
              <a:t>Chargement des territoires, régions et groupes commerciaux.</a:t>
            </a:r>
          </a:p>
        </p:txBody>
      </p:sp>
      <p:sp>
        <p:nvSpPr>
          <p:cNvPr id="22" name="Rectangle 21">
            <a:extLst>
              <a:ext uri="{FF2B5EF4-FFF2-40B4-BE49-F238E27FC236}">
                <a16:creationId xmlns:a16="http://schemas.microsoft.com/office/drawing/2014/main" id="{94124E07-18E1-43E1-A2F2-C0D99479DEA1}"/>
              </a:ext>
            </a:extLst>
          </p:cNvPr>
          <p:cNvSpPr>
            <a:spLocks noGrp="1"/>
          </p:cNvSpPr>
          <p:nvPr/>
        </p:nvSpPr>
        <p:spPr>
          <a:xfrm>
            <a:off x="6324600" y="3448050"/>
            <a:ext cx="5143500" cy="933450"/>
          </a:xfrm>
          <a:prstGeom prst="rect">
            <a:avLst/>
          </a:prstGeom>
          <a:solidFill>
            <a:srgbClr val="FFFFFF"/>
          </a:solidFill>
          <a:ln w="9525">
            <a:solidFill>
              <a:srgbClr val="D4C7B6"/>
            </a:solidFill>
            <a:prstDash val="solid"/>
          </a:ln>
        </p:spPr>
        <p:txBody>
          <a:bodyPr/>
          <a:lstStyle/>
          <a:p>
            <a:endParaRPr lang="fr-TN"/>
          </a:p>
        </p:txBody>
      </p:sp>
      <p:sp>
        <p:nvSpPr>
          <p:cNvPr id="23" name="Rectangle 22">
            <a:extLst>
              <a:ext uri="{FF2B5EF4-FFF2-40B4-BE49-F238E27FC236}">
                <a16:creationId xmlns:a16="http://schemas.microsoft.com/office/drawing/2014/main" id="{D1C377EB-3077-4CBD-9633-4B9DBE65CD9F}"/>
              </a:ext>
            </a:extLst>
          </p:cNvPr>
          <p:cNvSpPr>
            <a:spLocks noGrp="1"/>
          </p:cNvSpPr>
          <p:nvPr/>
        </p:nvSpPr>
        <p:spPr>
          <a:xfrm>
            <a:off x="6496050" y="3619500"/>
            <a:ext cx="342900" cy="342900"/>
          </a:xfrm>
          <a:prstGeom prst="rect">
            <a:avLst/>
          </a:prstGeom>
          <a:solidFill>
            <a:srgbClr val="0A1A2F"/>
          </a:solidFill>
          <a:ln w="0">
            <a:solidFill>
              <a:srgbClr val="000000">
                <a:alpha val="0"/>
              </a:srgbClr>
            </a:solidFill>
            <a:prstDash val="solid"/>
          </a:ln>
        </p:spPr>
        <p:txBody>
          <a:bodyPr/>
          <a:lstStyle/>
          <a:p>
            <a:endParaRPr lang="fr-TN"/>
          </a:p>
        </p:txBody>
      </p:sp>
      <p:sp>
        <p:nvSpPr>
          <p:cNvPr id="24" name="Rectangle 23">
            <a:extLst>
              <a:ext uri="{FF2B5EF4-FFF2-40B4-BE49-F238E27FC236}">
                <a16:creationId xmlns:a16="http://schemas.microsoft.com/office/drawing/2014/main" id="{F96D6B64-AE99-449C-BD7A-79D62B1DEAE2}"/>
              </a:ext>
            </a:extLst>
          </p:cNvPr>
          <p:cNvSpPr>
            <a:spLocks noGrp="1"/>
          </p:cNvSpPr>
          <p:nvPr/>
        </p:nvSpPr>
        <p:spPr>
          <a:xfrm>
            <a:off x="6496050" y="3676650"/>
            <a:ext cx="3429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FFFFFF"/>
                </a:solidFill>
                <a:latin typeface="Aptos"/>
                <a:ea typeface="Aptos"/>
                <a:cs typeface="Aptos"/>
              </a:defRPr>
            </a:pPr>
            <a:r>
              <a:rPr sz="1350" b="1">
                <a:solidFill>
                  <a:srgbClr val="FFFFFF"/>
                </a:solidFill>
                <a:latin typeface="Aptos"/>
                <a:ea typeface="Aptos"/>
                <a:cs typeface="Aptos"/>
              </a:rPr>
              <a:t>4</a:t>
            </a:r>
          </a:p>
        </p:txBody>
      </p:sp>
      <p:sp>
        <p:nvSpPr>
          <p:cNvPr id="25" name="Rectangle 24">
            <a:extLst>
              <a:ext uri="{FF2B5EF4-FFF2-40B4-BE49-F238E27FC236}">
                <a16:creationId xmlns:a16="http://schemas.microsoft.com/office/drawing/2014/main" id="{206FBE69-7B6E-4976-A05A-C07EA8902216}"/>
              </a:ext>
            </a:extLst>
          </p:cNvPr>
          <p:cNvSpPr>
            <a:spLocks noGrp="1"/>
          </p:cNvSpPr>
          <p:nvPr/>
        </p:nvSpPr>
        <p:spPr>
          <a:xfrm>
            <a:off x="6972300" y="3619500"/>
            <a:ext cx="43243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12304C"/>
                </a:solidFill>
                <a:latin typeface="Aptos"/>
                <a:ea typeface="Aptos"/>
                <a:cs typeface="Aptos"/>
              </a:defRPr>
            </a:pPr>
            <a:r>
              <a:rPr sz="1200" b="1">
                <a:solidFill>
                  <a:srgbClr val="12304C"/>
                </a:solidFill>
                <a:latin typeface="Aptos"/>
                <a:ea typeface="Aptos"/>
                <a:cs typeface="Aptos"/>
              </a:rPr>
              <a:t>Load FactSales</a:t>
            </a:r>
          </a:p>
        </p:txBody>
      </p:sp>
      <p:sp>
        <p:nvSpPr>
          <p:cNvPr id="26" name="Rectangle 25">
            <a:extLst>
              <a:ext uri="{FF2B5EF4-FFF2-40B4-BE49-F238E27FC236}">
                <a16:creationId xmlns:a16="http://schemas.microsoft.com/office/drawing/2014/main" id="{8ABAFEA9-7F04-4502-ABFD-FCD4FA7AA781}"/>
              </a:ext>
            </a:extLst>
          </p:cNvPr>
          <p:cNvSpPr>
            <a:spLocks noGrp="1"/>
          </p:cNvSpPr>
          <p:nvPr/>
        </p:nvSpPr>
        <p:spPr>
          <a:xfrm>
            <a:off x="6972300" y="3924300"/>
            <a:ext cx="43243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0">
                <a:solidFill>
                  <a:srgbClr val="5A6F7E"/>
                </a:solidFill>
                <a:latin typeface="Aptos"/>
                <a:ea typeface="Aptos"/>
                <a:cs typeface="Aptos"/>
              </a:defRPr>
            </a:pPr>
            <a:r>
              <a:rPr sz="900" b="0">
                <a:solidFill>
                  <a:srgbClr val="5A6F7E"/>
                </a:solidFill>
                <a:latin typeface="Aptos"/>
                <a:ea typeface="Aptos"/>
                <a:cs typeface="Aptos"/>
              </a:rPr>
              <a:t>Jointure des ventes et filtrage sur les commandes livrées avec Status = 5.</a:t>
            </a:r>
          </a:p>
        </p:txBody>
      </p:sp>
      <p:sp>
        <p:nvSpPr>
          <p:cNvPr id="27" name="Rectangle 26">
            <a:extLst>
              <a:ext uri="{FF2B5EF4-FFF2-40B4-BE49-F238E27FC236}">
                <a16:creationId xmlns:a16="http://schemas.microsoft.com/office/drawing/2014/main" id="{48F2D778-A86C-4550-A2AB-BDD48FA78528}"/>
              </a:ext>
            </a:extLst>
          </p:cNvPr>
          <p:cNvSpPr>
            <a:spLocks noGrp="1"/>
          </p:cNvSpPr>
          <p:nvPr/>
        </p:nvSpPr>
        <p:spPr>
          <a:xfrm>
            <a:off x="704850" y="4876800"/>
            <a:ext cx="10763250" cy="1123950"/>
          </a:xfrm>
          <a:prstGeom prst="rect">
            <a:avLst/>
          </a:prstGeom>
          <a:solidFill>
            <a:srgbClr val="0A1A2F"/>
          </a:solidFill>
          <a:ln w="0">
            <a:solidFill>
              <a:srgbClr val="000000">
                <a:alpha val="0"/>
              </a:srgbClr>
            </a:solidFill>
            <a:prstDash val="solid"/>
          </a:ln>
        </p:spPr>
        <p:txBody>
          <a:bodyPr/>
          <a:lstStyle/>
          <a:p>
            <a:endParaRPr lang="fr-TN"/>
          </a:p>
        </p:txBody>
      </p:sp>
      <p:sp>
        <p:nvSpPr>
          <p:cNvPr id="28" name="Rectangle 27">
            <a:extLst>
              <a:ext uri="{FF2B5EF4-FFF2-40B4-BE49-F238E27FC236}">
                <a16:creationId xmlns:a16="http://schemas.microsoft.com/office/drawing/2014/main" id="{5363002B-20F3-40E2-B097-3735DB24BBDC}"/>
              </a:ext>
            </a:extLst>
          </p:cNvPr>
          <p:cNvSpPr>
            <a:spLocks noGrp="1"/>
          </p:cNvSpPr>
          <p:nvPr/>
        </p:nvSpPr>
        <p:spPr>
          <a:xfrm>
            <a:off x="952499" y="5132438"/>
            <a:ext cx="3186881" cy="182511"/>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FFFFFF"/>
                </a:solidFill>
                <a:latin typeface="Aptos"/>
                <a:ea typeface="Aptos"/>
                <a:cs typeface="Aptos"/>
              </a:defRPr>
            </a:pPr>
            <a:r>
              <a:rPr sz="1350" b="1">
                <a:solidFill>
                  <a:srgbClr val="FFFFFF"/>
                </a:solidFill>
                <a:latin typeface="Aptos"/>
                <a:ea typeface="Aptos"/>
                <a:cs typeface="Aptos"/>
              </a:rPr>
              <a:t>Pourquoi cette étape est importante</a:t>
            </a:r>
          </a:p>
        </p:txBody>
      </p:sp>
      <p:sp>
        <p:nvSpPr>
          <p:cNvPr id="29" name="Rectangle 28">
            <a:extLst>
              <a:ext uri="{FF2B5EF4-FFF2-40B4-BE49-F238E27FC236}">
                <a16:creationId xmlns:a16="http://schemas.microsoft.com/office/drawing/2014/main" id="{274CA76F-48D8-4872-B694-B2A733BC8C48}"/>
              </a:ext>
            </a:extLst>
          </p:cNvPr>
          <p:cNvSpPr>
            <a:spLocks noGrp="1"/>
          </p:cNvSpPr>
          <p:nvPr/>
        </p:nvSpPr>
        <p:spPr>
          <a:xfrm>
            <a:off x="952500" y="5410200"/>
            <a:ext cx="4572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DCE7F0"/>
                </a:solidFill>
                <a:latin typeface="Aptos"/>
                <a:ea typeface="Aptos"/>
                <a:cs typeface="Aptos"/>
              </a:defRPr>
            </a:pPr>
            <a:r>
              <a:rPr sz="1050" b="0">
                <a:solidFill>
                  <a:srgbClr val="DCE7F0"/>
                </a:solidFill>
                <a:latin typeface="Aptos"/>
                <a:ea typeface="Aptos"/>
                <a:cs typeface="Aptos"/>
              </a:rPr>
              <a:t>SSIS rend le chargement répétable, réduit les manipulations manuelles et garantit un flux cohérent entre la base source et l'entrepôt de données.</a:t>
            </a:r>
          </a:p>
        </p:txBody>
      </p:sp>
      <p:sp>
        <p:nvSpPr>
          <p:cNvPr id="31" name="Rectangle 30">
            <a:extLst>
              <a:ext uri="{FF2B5EF4-FFF2-40B4-BE49-F238E27FC236}">
                <a16:creationId xmlns:a16="http://schemas.microsoft.com/office/drawing/2014/main" id="{DFAC9024-0180-430F-9242-0A28A503FDDF}"/>
              </a:ext>
            </a:extLst>
          </p:cNvPr>
          <p:cNvSpPr>
            <a:spLocks noGrp="1"/>
          </p:cNvSpPr>
          <p:nvPr/>
        </p:nvSpPr>
        <p:spPr>
          <a:xfrm>
            <a:off x="704850" y="6515100"/>
            <a:ext cx="5715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5A6F7E"/>
                </a:solidFill>
                <a:latin typeface="Aptos"/>
                <a:ea typeface="Aptos"/>
                <a:cs typeface="Aptos"/>
              </a:defRPr>
            </a:pPr>
            <a:r>
              <a:rPr sz="825" b="0">
                <a:solidFill>
                  <a:srgbClr val="5A6F7E"/>
                </a:solidFill>
                <a:latin typeface="Aptos"/>
                <a:ea typeface="Aptos"/>
                <a:cs typeface="Aptos"/>
              </a:rPr>
              <a:t>Soutenance · processus ETL</a:t>
            </a:r>
          </a:p>
        </p:txBody>
      </p:sp>
      <p:sp>
        <p:nvSpPr>
          <p:cNvPr id="32" name="Rectangle 31">
            <a:extLst>
              <a:ext uri="{FF2B5EF4-FFF2-40B4-BE49-F238E27FC236}">
                <a16:creationId xmlns:a16="http://schemas.microsoft.com/office/drawing/2014/main" id="{9BA22FCD-0EA2-436C-949C-D029325B3ADB}"/>
              </a:ext>
            </a:extLst>
          </p:cNvPr>
          <p:cNvSpPr>
            <a:spLocks noGrp="1"/>
          </p:cNvSpPr>
          <p:nvPr/>
        </p:nvSpPr>
        <p:spPr>
          <a:xfrm>
            <a:off x="9258300" y="6515100"/>
            <a:ext cx="2286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0">
                <a:solidFill>
                  <a:srgbClr val="5A6F7E"/>
                </a:solidFill>
                <a:latin typeface="Aptos"/>
                <a:ea typeface="Aptos"/>
                <a:cs typeface="Aptos"/>
              </a:defRPr>
            </a:pPr>
            <a:r>
              <a:rPr sz="825" b="0">
                <a:solidFill>
                  <a:srgbClr val="5A6F7E"/>
                </a:solidFill>
                <a:latin typeface="Aptos"/>
                <a:ea typeface="Aptos"/>
                <a:cs typeface="Aptos"/>
              </a:rPr>
              <a:t>Projet BI AdventureWorks</a:t>
            </a:r>
          </a:p>
        </p:txBody>
      </p:sp>
      <p:sp>
        <p:nvSpPr>
          <p:cNvPr id="30" name="Ellipse 29">
            <a:extLst>
              <a:ext uri="{FF2B5EF4-FFF2-40B4-BE49-F238E27FC236}">
                <a16:creationId xmlns:a16="http://schemas.microsoft.com/office/drawing/2014/main" id="{190B2355-19BA-9E3A-E6A6-0339F73021D5}"/>
              </a:ext>
            </a:extLst>
          </p:cNvPr>
          <p:cNvSpPr/>
          <p:nvPr/>
        </p:nvSpPr>
        <p:spPr>
          <a:xfrm>
            <a:off x="11845290" y="6512560"/>
            <a:ext cx="304800" cy="30988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b="1" dirty="0">
                <a:ln w="22225">
                  <a:solidFill>
                    <a:schemeClr val="accent2"/>
                  </a:solidFill>
                  <a:prstDash val="solid"/>
                </a:ln>
                <a:solidFill>
                  <a:schemeClr val="accent2">
                    <a:lumMod val="40000"/>
                    <a:lumOff val="60000"/>
                  </a:schemeClr>
                </a:solidFill>
              </a:rPr>
              <a:t>5</a:t>
            </a:r>
            <a:endParaRPr lang="fr-TN" b="1" dirty="0">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19999826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39C6B264-7F7F-416D-ABB1-3B05D241E299}"/>
              </a:ext>
            </a:extLst>
          </p:cNvPr>
          <p:cNvSpPr>
            <a:spLocks noGrp="1"/>
          </p:cNvSpPr>
          <p:nvPr/>
        </p:nvSpPr>
        <p:spPr>
          <a:xfrm>
            <a:off x="0" y="0"/>
            <a:ext cx="12192000" cy="6858000"/>
          </a:xfrm>
          <a:prstGeom prst="rect">
            <a:avLst/>
          </a:prstGeom>
          <a:solidFill>
            <a:srgbClr val="F6F0E7"/>
          </a:solidFill>
          <a:ln w="0">
            <a:solidFill>
              <a:srgbClr val="000000">
                <a:alpha val="0"/>
              </a:srgbClr>
            </a:solidFill>
            <a:prstDash val="solid"/>
          </a:ln>
        </p:spPr>
        <p:txBody>
          <a:bodyPr/>
          <a:lstStyle/>
          <a:p>
            <a:endParaRPr lang="fr-TN"/>
          </a:p>
        </p:txBody>
      </p:sp>
      <p:sp>
        <p:nvSpPr>
          <p:cNvPr id="2" name="Rectangle 1">
            <a:extLst>
              <a:ext uri="{FF2B5EF4-FFF2-40B4-BE49-F238E27FC236}">
                <a16:creationId xmlns:a16="http://schemas.microsoft.com/office/drawing/2014/main" id="{BB05172B-CC80-4227-8FA5-CD2526DBF053}"/>
              </a:ext>
            </a:extLst>
          </p:cNvPr>
          <p:cNvSpPr>
            <a:spLocks noGrp="1"/>
          </p:cNvSpPr>
          <p:nvPr/>
        </p:nvSpPr>
        <p:spPr>
          <a:xfrm>
            <a:off x="0" y="0"/>
            <a:ext cx="12192000" cy="247650"/>
          </a:xfrm>
          <a:prstGeom prst="rect">
            <a:avLst/>
          </a:prstGeom>
          <a:solidFill>
            <a:srgbClr val="0A1A2F"/>
          </a:solidFill>
          <a:ln w="0">
            <a:solidFill>
              <a:srgbClr val="000000">
                <a:alpha val="0"/>
              </a:srgbClr>
            </a:solidFill>
            <a:prstDash val="solid"/>
          </a:ln>
        </p:spPr>
        <p:txBody>
          <a:bodyPr/>
          <a:lstStyle/>
          <a:p>
            <a:endParaRPr lang="fr-TN"/>
          </a:p>
        </p:txBody>
      </p:sp>
      <p:sp>
        <p:nvSpPr>
          <p:cNvPr id="3" name="Rectangle 2">
            <a:extLst>
              <a:ext uri="{FF2B5EF4-FFF2-40B4-BE49-F238E27FC236}">
                <a16:creationId xmlns:a16="http://schemas.microsoft.com/office/drawing/2014/main" id="{A1B0FEA8-5547-42A0-ABFA-41176FA6E373}"/>
              </a:ext>
            </a:extLst>
          </p:cNvPr>
          <p:cNvSpPr>
            <a:spLocks noGrp="1"/>
          </p:cNvSpPr>
          <p:nvPr/>
        </p:nvSpPr>
        <p:spPr>
          <a:xfrm>
            <a:off x="0" y="247650"/>
            <a:ext cx="2095500" cy="57150"/>
          </a:xfrm>
          <a:prstGeom prst="rect">
            <a:avLst/>
          </a:prstGeom>
          <a:solidFill>
            <a:srgbClr val="0F8B8D"/>
          </a:solidFill>
          <a:ln w="0">
            <a:solidFill>
              <a:srgbClr val="000000">
                <a:alpha val="0"/>
              </a:srgbClr>
            </a:solidFill>
            <a:prstDash val="solid"/>
          </a:ln>
        </p:spPr>
        <p:txBody>
          <a:bodyPr/>
          <a:lstStyle/>
          <a:p>
            <a:endParaRPr lang="fr-TN"/>
          </a:p>
        </p:txBody>
      </p:sp>
      <p:sp>
        <p:nvSpPr>
          <p:cNvPr id="4" name="Rectangle 3">
            <a:extLst>
              <a:ext uri="{FF2B5EF4-FFF2-40B4-BE49-F238E27FC236}">
                <a16:creationId xmlns:a16="http://schemas.microsoft.com/office/drawing/2014/main" id="{511B1EA8-3F47-47A3-8DEC-6457DA658F59}"/>
              </a:ext>
            </a:extLst>
          </p:cNvPr>
          <p:cNvSpPr>
            <a:spLocks noGrp="1"/>
          </p:cNvSpPr>
          <p:nvPr/>
        </p:nvSpPr>
        <p:spPr>
          <a:xfrm>
            <a:off x="704850" y="552450"/>
            <a:ext cx="2095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0F8B8D"/>
                </a:solidFill>
                <a:latin typeface="Aptos"/>
                <a:ea typeface="Aptos"/>
                <a:cs typeface="Aptos"/>
              </a:defRPr>
            </a:pPr>
            <a:r>
              <a:rPr sz="900" b="1">
                <a:solidFill>
                  <a:srgbClr val="0F8B8D"/>
                </a:solidFill>
                <a:latin typeface="Aptos"/>
                <a:ea typeface="Aptos"/>
                <a:cs typeface="Aptos"/>
              </a:rPr>
              <a:t>SSAS ET POWER BI</a:t>
            </a:r>
          </a:p>
        </p:txBody>
      </p:sp>
      <p:sp>
        <p:nvSpPr>
          <p:cNvPr id="5" name="Rectangle 4">
            <a:extLst>
              <a:ext uri="{FF2B5EF4-FFF2-40B4-BE49-F238E27FC236}">
                <a16:creationId xmlns:a16="http://schemas.microsoft.com/office/drawing/2014/main" id="{C44053BF-A515-4FED-BC87-66DDBE983A92}"/>
              </a:ext>
            </a:extLst>
          </p:cNvPr>
          <p:cNvSpPr>
            <a:spLocks noGrp="1"/>
          </p:cNvSpPr>
          <p:nvPr/>
        </p:nvSpPr>
        <p:spPr>
          <a:xfrm>
            <a:off x="685800" y="781050"/>
            <a:ext cx="8763000" cy="742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400" b="1">
                <a:solidFill>
                  <a:srgbClr val="12304C"/>
                </a:solidFill>
                <a:latin typeface="Aptos Display"/>
                <a:ea typeface="Aptos Display"/>
                <a:cs typeface="Aptos Display"/>
              </a:defRPr>
            </a:pPr>
            <a:r>
              <a:rPr sz="2400" b="1">
                <a:solidFill>
                  <a:srgbClr val="12304C"/>
                </a:solidFill>
                <a:latin typeface="Aptos Display"/>
                <a:ea typeface="Aptos Display"/>
                <a:cs typeface="Aptos Display"/>
              </a:rPr>
              <a:t>La partie analytique du projet repose sur le cube OLAP, puis sur une restitution interactive dans Power BI.</a:t>
            </a:r>
          </a:p>
        </p:txBody>
      </p:sp>
      <p:sp>
        <p:nvSpPr>
          <p:cNvPr id="6" name="Rectangle 5">
            <a:extLst>
              <a:ext uri="{FF2B5EF4-FFF2-40B4-BE49-F238E27FC236}">
                <a16:creationId xmlns:a16="http://schemas.microsoft.com/office/drawing/2014/main" id="{CDA3BEDB-68BE-41DC-A45E-E6C854B7213A}"/>
              </a:ext>
            </a:extLst>
          </p:cNvPr>
          <p:cNvSpPr>
            <a:spLocks noGrp="1"/>
          </p:cNvSpPr>
          <p:nvPr/>
        </p:nvSpPr>
        <p:spPr>
          <a:xfrm>
            <a:off x="704850" y="1562100"/>
            <a:ext cx="81915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5A6F7E"/>
                </a:solidFill>
                <a:latin typeface="Aptos"/>
                <a:ea typeface="Aptos"/>
                <a:cs typeface="Aptos"/>
              </a:defRPr>
            </a:pPr>
            <a:r>
              <a:rPr sz="1200" b="0">
                <a:solidFill>
                  <a:srgbClr val="5A6F7E"/>
                </a:solidFill>
                <a:latin typeface="Aptos"/>
                <a:ea typeface="Aptos"/>
                <a:cs typeface="Aptos"/>
              </a:rPr>
              <a:t>Cette double couche permet à la fois des agrégations rapides et une visualisation orientée utilisateur.</a:t>
            </a:r>
          </a:p>
        </p:txBody>
      </p:sp>
      <p:sp>
        <p:nvSpPr>
          <p:cNvPr id="7" name="Rectangle 6">
            <a:extLst>
              <a:ext uri="{FF2B5EF4-FFF2-40B4-BE49-F238E27FC236}">
                <a16:creationId xmlns:a16="http://schemas.microsoft.com/office/drawing/2014/main" id="{CEAB97CB-8B86-45A9-B3A6-62C0FFCC8483}"/>
              </a:ext>
            </a:extLst>
          </p:cNvPr>
          <p:cNvSpPr>
            <a:spLocks noGrp="1"/>
          </p:cNvSpPr>
          <p:nvPr/>
        </p:nvSpPr>
        <p:spPr>
          <a:xfrm>
            <a:off x="258956" y="2114551"/>
            <a:ext cx="5161190" cy="4229099"/>
          </a:xfrm>
          <a:prstGeom prst="rect">
            <a:avLst/>
          </a:prstGeom>
          <a:solidFill>
            <a:srgbClr val="FFFFFF"/>
          </a:solidFill>
          <a:ln w="9525">
            <a:solidFill>
              <a:srgbClr val="D4C7B6"/>
            </a:solidFill>
            <a:prstDash val="solid"/>
          </a:ln>
        </p:spPr>
        <p:txBody>
          <a:bodyPr/>
          <a:lstStyle/>
          <a:p>
            <a:endParaRPr lang="fr-TN"/>
          </a:p>
        </p:txBody>
      </p:sp>
      <p:sp>
        <p:nvSpPr>
          <p:cNvPr id="15" name="Rectangle 14">
            <a:extLst>
              <a:ext uri="{FF2B5EF4-FFF2-40B4-BE49-F238E27FC236}">
                <a16:creationId xmlns:a16="http://schemas.microsoft.com/office/drawing/2014/main" id="{1FC08374-3F2D-479D-AD3A-FC4047B7C9EA}"/>
              </a:ext>
            </a:extLst>
          </p:cNvPr>
          <p:cNvSpPr>
            <a:spLocks noGrp="1"/>
          </p:cNvSpPr>
          <p:nvPr/>
        </p:nvSpPr>
        <p:spPr>
          <a:xfrm>
            <a:off x="704850" y="6515100"/>
            <a:ext cx="5715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5A6F7E"/>
                </a:solidFill>
                <a:latin typeface="Aptos"/>
                <a:ea typeface="Aptos"/>
                <a:cs typeface="Aptos"/>
              </a:defRPr>
            </a:pPr>
            <a:r>
              <a:rPr sz="825" b="0">
                <a:solidFill>
                  <a:srgbClr val="5A6F7E"/>
                </a:solidFill>
                <a:latin typeface="Aptos"/>
                <a:ea typeface="Aptos"/>
                <a:cs typeface="Aptos"/>
              </a:rPr>
              <a:t>Soutenance · analyse et restitution</a:t>
            </a:r>
          </a:p>
        </p:txBody>
      </p:sp>
      <p:sp>
        <p:nvSpPr>
          <p:cNvPr id="16" name="Rectangle 15">
            <a:extLst>
              <a:ext uri="{FF2B5EF4-FFF2-40B4-BE49-F238E27FC236}">
                <a16:creationId xmlns:a16="http://schemas.microsoft.com/office/drawing/2014/main" id="{F31794F9-0826-43B8-87D5-FC21055DC446}"/>
              </a:ext>
            </a:extLst>
          </p:cNvPr>
          <p:cNvSpPr>
            <a:spLocks noGrp="1"/>
          </p:cNvSpPr>
          <p:nvPr/>
        </p:nvSpPr>
        <p:spPr>
          <a:xfrm>
            <a:off x="9258300" y="6515100"/>
            <a:ext cx="2286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0">
                <a:solidFill>
                  <a:srgbClr val="5A6F7E"/>
                </a:solidFill>
                <a:latin typeface="Aptos"/>
                <a:ea typeface="Aptos"/>
                <a:cs typeface="Aptos"/>
              </a:defRPr>
            </a:pPr>
            <a:r>
              <a:rPr sz="825" b="0" dirty="0" err="1">
                <a:solidFill>
                  <a:srgbClr val="5A6F7E"/>
                </a:solidFill>
                <a:latin typeface="Aptos"/>
                <a:ea typeface="Aptos"/>
                <a:cs typeface="Aptos"/>
              </a:rPr>
              <a:t>Projet</a:t>
            </a:r>
            <a:r>
              <a:rPr sz="825" b="0" dirty="0">
                <a:solidFill>
                  <a:srgbClr val="5A6F7E"/>
                </a:solidFill>
                <a:latin typeface="Aptos"/>
                <a:ea typeface="Aptos"/>
                <a:cs typeface="Aptos"/>
              </a:rPr>
              <a:t> BI </a:t>
            </a:r>
            <a:r>
              <a:rPr sz="825" b="0" dirty="0" err="1">
                <a:solidFill>
                  <a:srgbClr val="5A6F7E"/>
                </a:solidFill>
                <a:latin typeface="Aptos"/>
                <a:ea typeface="Aptos"/>
                <a:cs typeface="Aptos"/>
              </a:rPr>
              <a:t>AdventureWorks</a:t>
            </a:r>
            <a:endParaRPr sz="825" b="0" dirty="0">
              <a:solidFill>
                <a:srgbClr val="5A6F7E"/>
              </a:solidFill>
              <a:latin typeface="Aptos"/>
              <a:ea typeface="Aptos"/>
              <a:cs typeface="Aptos"/>
            </a:endParaRPr>
          </a:p>
        </p:txBody>
      </p:sp>
      <p:sp>
        <p:nvSpPr>
          <p:cNvPr id="23" name="Rectangle 22">
            <a:extLst>
              <a:ext uri="{FF2B5EF4-FFF2-40B4-BE49-F238E27FC236}">
                <a16:creationId xmlns:a16="http://schemas.microsoft.com/office/drawing/2014/main" id="{FBC32DA0-E946-9CDF-F970-F2836D76380C}"/>
              </a:ext>
            </a:extLst>
          </p:cNvPr>
          <p:cNvSpPr>
            <a:spLocks noGrp="1"/>
          </p:cNvSpPr>
          <p:nvPr/>
        </p:nvSpPr>
        <p:spPr>
          <a:xfrm>
            <a:off x="6021300" y="2114550"/>
            <a:ext cx="5828501" cy="3775855"/>
          </a:xfrm>
          <a:prstGeom prst="rect">
            <a:avLst/>
          </a:prstGeom>
          <a:solidFill>
            <a:srgbClr val="FFFFFF"/>
          </a:solidFill>
          <a:ln w="9525">
            <a:solidFill>
              <a:srgbClr val="D4C7B6"/>
            </a:solidFill>
            <a:prstDash val="solid"/>
          </a:ln>
        </p:spPr>
        <p:txBody>
          <a:bodyPr/>
          <a:lstStyle/>
          <a:p>
            <a:endParaRPr lang="fr-TN"/>
          </a:p>
        </p:txBody>
      </p:sp>
      <p:pic>
        <p:nvPicPr>
          <p:cNvPr id="33" name="Image 32">
            <a:extLst>
              <a:ext uri="{FF2B5EF4-FFF2-40B4-BE49-F238E27FC236}">
                <a16:creationId xmlns:a16="http://schemas.microsoft.com/office/drawing/2014/main" id="{638D248E-4A47-774F-CFFB-8D11E6FA43F3}"/>
              </a:ext>
            </a:extLst>
          </p:cNvPr>
          <p:cNvPicPr>
            <a:picLocks noChangeAspect="1"/>
          </p:cNvPicPr>
          <p:nvPr/>
        </p:nvPicPr>
        <p:blipFill>
          <a:blip r:embed="rId3"/>
          <a:stretch>
            <a:fillRect/>
          </a:stretch>
        </p:blipFill>
        <p:spPr>
          <a:xfrm>
            <a:off x="230924" y="2114550"/>
            <a:ext cx="5318700" cy="4190999"/>
          </a:xfrm>
          <a:prstGeom prst="rect">
            <a:avLst/>
          </a:prstGeom>
        </p:spPr>
      </p:pic>
      <p:pic>
        <p:nvPicPr>
          <p:cNvPr id="35" name="Image 34">
            <a:extLst>
              <a:ext uri="{FF2B5EF4-FFF2-40B4-BE49-F238E27FC236}">
                <a16:creationId xmlns:a16="http://schemas.microsoft.com/office/drawing/2014/main" id="{A2EB8708-30E3-0217-8C69-D26B9E4FF444}"/>
              </a:ext>
            </a:extLst>
          </p:cNvPr>
          <p:cNvPicPr>
            <a:picLocks noChangeAspect="1"/>
          </p:cNvPicPr>
          <p:nvPr/>
        </p:nvPicPr>
        <p:blipFill>
          <a:blip r:embed="rId4"/>
          <a:stretch>
            <a:fillRect/>
          </a:stretch>
        </p:blipFill>
        <p:spPr>
          <a:xfrm>
            <a:off x="6021300" y="2114550"/>
            <a:ext cx="5828501" cy="3775855"/>
          </a:xfrm>
          <a:prstGeom prst="rect">
            <a:avLst/>
          </a:prstGeom>
        </p:spPr>
      </p:pic>
      <p:sp>
        <p:nvSpPr>
          <p:cNvPr id="36" name="Ellipse 35">
            <a:extLst>
              <a:ext uri="{FF2B5EF4-FFF2-40B4-BE49-F238E27FC236}">
                <a16:creationId xmlns:a16="http://schemas.microsoft.com/office/drawing/2014/main" id="{A186CE05-4F6C-A6B7-F9A6-57893E2D7E4C}"/>
              </a:ext>
            </a:extLst>
          </p:cNvPr>
          <p:cNvSpPr/>
          <p:nvPr/>
        </p:nvSpPr>
        <p:spPr>
          <a:xfrm>
            <a:off x="11845290" y="6512560"/>
            <a:ext cx="304800" cy="30988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b="1" dirty="0">
                <a:ln w="22225">
                  <a:solidFill>
                    <a:schemeClr val="accent2"/>
                  </a:solidFill>
                  <a:prstDash val="solid"/>
                </a:ln>
                <a:solidFill>
                  <a:schemeClr val="accent2">
                    <a:lumMod val="40000"/>
                    <a:lumOff val="60000"/>
                  </a:schemeClr>
                </a:solidFill>
              </a:rPr>
              <a:t>6</a:t>
            </a:r>
            <a:endParaRPr lang="fr-TN" b="1" dirty="0">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1600126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10EE2-C894-EC6E-F4F5-CBDD62F4C3F0}"/>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311F89F5-7653-CB99-6F0E-8A1904E7F163}"/>
              </a:ext>
            </a:extLst>
          </p:cNvPr>
          <p:cNvSpPr>
            <a:spLocks noGrp="1"/>
          </p:cNvSpPr>
          <p:nvPr/>
        </p:nvSpPr>
        <p:spPr>
          <a:xfrm>
            <a:off x="0" y="0"/>
            <a:ext cx="12192000" cy="6858000"/>
          </a:xfrm>
          <a:prstGeom prst="rect">
            <a:avLst/>
          </a:prstGeom>
          <a:solidFill>
            <a:srgbClr val="F6F0E7"/>
          </a:solidFill>
          <a:ln w="0">
            <a:solidFill>
              <a:srgbClr val="000000">
                <a:alpha val="0"/>
              </a:srgbClr>
            </a:solidFill>
            <a:prstDash val="solid"/>
          </a:ln>
        </p:spPr>
        <p:txBody>
          <a:bodyPr/>
          <a:lstStyle/>
          <a:p>
            <a:endParaRPr lang="fr-TN"/>
          </a:p>
        </p:txBody>
      </p:sp>
      <p:sp>
        <p:nvSpPr>
          <p:cNvPr id="2" name="Rectangle 1">
            <a:extLst>
              <a:ext uri="{FF2B5EF4-FFF2-40B4-BE49-F238E27FC236}">
                <a16:creationId xmlns:a16="http://schemas.microsoft.com/office/drawing/2014/main" id="{AF3D25F4-C90F-3414-2C96-3900A6FCC0E1}"/>
              </a:ext>
            </a:extLst>
          </p:cNvPr>
          <p:cNvSpPr>
            <a:spLocks noGrp="1"/>
          </p:cNvSpPr>
          <p:nvPr/>
        </p:nvSpPr>
        <p:spPr>
          <a:xfrm>
            <a:off x="0" y="0"/>
            <a:ext cx="12192000" cy="247650"/>
          </a:xfrm>
          <a:prstGeom prst="rect">
            <a:avLst/>
          </a:prstGeom>
          <a:solidFill>
            <a:srgbClr val="0A1A2F"/>
          </a:solidFill>
          <a:ln w="0">
            <a:solidFill>
              <a:srgbClr val="000000">
                <a:alpha val="0"/>
              </a:srgbClr>
            </a:solidFill>
            <a:prstDash val="solid"/>
          </a:ln>
        </p:spPr>
        <p:txBody>
          <a:bodyPr/>
          <a:lstStyle/>
          <a:p>
            <a:endParaRPr lang="fr-TN"/>
          </a:p>
        </p:txBody>
      </p:sp>
      <p:sp>
        <p:nvSpPr>
          <p:cNvPr id="3" name="Rectangle 2">
            <a:extLst>
              <a:ext uri="{FF2B5EF4-FFF2-40B4-BE49-F238E27FC236}">
                <a16:creationId xmlns:a16="http://schemas.microsoft.com/office/drawing/2014/main" id="{7F380639-92EC-4961-6084-9331B383AB0F}"/>
              </a:ext>
            </a:extLst>
          </p:cNvPr>
          <p:cNvSpPr>
            <a:spLocks noGrp="1"/>
          </p:cNvSpPr>
          <p:nvPr/>
        </p:nvSpPr>
        <p:spPr>
          <a:xfrm>
            <a:off x="0" y="247650"/>
            <a:ext cx="2095500" cy="57150"/>
          </a:xfrm>
          <a:prstGeom prst="rect">
            <a:avLst/>
          </a:prstGeom>
          <a:solidFill>
            <a:srgbClr val="0F8B8D"/>
          </a:solidFill>
          <a:ln w="0">
            <a:solidFill>
              <a:srgbClr val="000000">
                <a:alpha val="0"/>
              </a:srgbClr>
            </a:solidFill>
            <a:prstDash val="solid"/>
          </a:ln>
        </p:spPr>
        <p:txBody>
          <a:bodyPr/>
          <a:lstStyle/>
          <a:p>
            <a:endParaRPr lang="fr-TN"/>
          </a:p>
        </p:txBody>
      </p:sp>
      <p:sp>
        <p:nvSpPr>
          <p:cNvPr id="4" name="Rectangle 3">
            <a:extLst>
              <a:ext uri="{FF2B5EF4-FFF2-40B4-BE49-F238E27FC236}">
                <a16:creationId xmlns:a16="http://schemas.microsoft.com/office/drawing/2014/main" id="{1A4D2093-AE1B-EE2E-5A79-1A70A9256F61}"/>
              </a:ext>
            </a:extLst>
          </p:cNvPr>
          <p:cNvSpPr>
            <a:spLocks noGrp="1"/>
          </p:cNvSpPr>
          <p:nvPr/>
        </p:nvSpPr>
        <p:spPr>
          <a:xfrm>
            <a:off x="704850" y="552450"/>
            <a:ext cx="2095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0F8B8D"/>
                </a:solidFill>
                <a:latin typeface="Aptos"/>
                <a:ea typeface="Aptos"/>
                <a:cs typeface="Aptos"/>
              </a:defRPr>
            </a:pPr>
            <a:r>
              <a:rPr sz="900" b="1">
                <a:solidFill>
                  <a:srgbClr val="0F8B8D"/>
                </a:solidFill>
                <a:latin typeface="Aptos"/>
                <a:ea typeface="Aptos"/>
                <a:cs typeface="Aptos"/>
              </a:rPr>
              <a:t>SSAS ET POWER BI</a:t>
            </a:r>
          </a:p>
        </p:txBody>
      </p:sp>
      <p:sp>
        <p:nvSpPr>
          <p:cNvPr id="5" name="Rectangle 4">
            <a:extLst>
              <a:ext uri="{FF2B5EF4-FFF2-40B4-BE49-F238E27FC236}">
                <a16:creationId xmlns:a16="http://schemas.microsoft.com/office/drawing/2014/main" id="{373E1C3B-A7E1-2687-18C8-FF8090D5D9A7}"/>
              </a:ext>
            </a:extLst>
          </p:cNvPr>
          <p:cNvSpPr>
            <a:spLocks noGrp="1"/>
          </p:cNvSpPr>
          <p:nvPr/>
        </p:nvSpPr>
        <p:spPr>
          <a:xfrm>
            <a:off x="685800" y="781050"/>
            <a:ext cx="8763000" cy="742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400" b="1">
                <a:solidFill>
                  <a:srgbClr val="12304C"/>
                </a:solidFill>
                <a:latin typeface="Aptos Display"/>
                <a:ea typeface="Aptos Display"/>
                <a:cs typeface="Aptos Display"/>
              </a:defRPr>
            </a:pPr>
            <a:r>
              <a:rPr sz="2400" b="1">
                <a:solidFill>
                  <a:srgbClr val="12304C"/>
                </a:solidFill>
                <a:latin typeface="Aptos Display"/>
                <a:ea typeface="Aptos Display"/>
                <a:cs typeface="Aptos Display"/>
              </a:rPr>
              <a:t>La partie analytique du projet repose sur le cube OLAP, puis sur une restitution interactive dans Power BI.</a:t>
            </a:r>
          </a:p>
        </p:txBody>
      </p:sp>
      <p:sp>
        <p:nvSpPr>
          <p:cNvPr id="6" name="Rectangle 5">
            <a:extLst>
              <a:ext uri="{FF2B5EF4-FFF2-40B4-BE49-F238E27FC236}">
                <a16:creationId xmlns:a16="http://schemas.microsoft.com/office/drawing/2014/main" id="{920B5D81-45C9-5C5A-B495-7115E6249601}"/>
              </a:ext>
            </a:extLst>
          </p:cNvPr>
          <p:cNvSpPr>
            <a:spLocks noGrp="1"/>
          </p:cNvSpPr>
          <p:nvPr/>
        </p:nvSpPr>
        <p:spPr>
          <a:xfrm>
            <a:off x="704850" y="1562100"/>
            <a:ext cx="81915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5A6F7E"/>
                </a:solidFill>
                <a:latin typeface="Aptos"/>
                <a:ea typeface="Aptos"/>
                <a:cs typeface="Aptos"/>
              </a:defRPr>
            </a:pPr>
            <a:r>
              <a:rPr sz="1200" b="0">
                <a:solidFill>
                  <a:srgbClr val="5A6F7E"/>
                </a:solidFill>
                <a:latin typeface="Aptos"/>
                <a:ea typeface="Aptos"/>
                <a:cs typeface="Aptos"/>
              </a:rPr>
              <a:t>Cette double couche permet à la fois des agrégations rapides et une visualisation orientée utilisateur.</a:t>
            </a:r>
          </a:p>
        </p:txBody>
      </p:sp>
      <p:sp>
        <p:nvSpPr>
          <p:cNvPr id="7" name="Rectangle 6">
            <a:extLst>
              <a:ext uri="{FF2B5EF4-FFF2-40B4-BE49-F238E27FC236}">
                <a16:creationId xmlns:a16="http://schemas.microsoft.com/office/drawing/2014/main" id="{BEAF43BB-B946-1FD1-6F2B-6F4852017544}"/>
              </a:ext>
            </a:extLst>
          </p:cNvPr>
          <p:cNvSpPr>
            <a:spLocks noGrp="1"/>
          </p:cNvSpPr>
          <p:nvPr/>
        </p:nvSpPr>
        <p:spPr>
          <a:xfrm>
            <a:off x="258956" y="2000251"/>
            <a:ext cx="5290977" cy="2914650"/>
          </a:xfrm>
          <a:prstGeom prst="rect">
            <a:avLst/>
          </a:prstGeom>
          <a:solidFill>
            <a:srgbClr val="FFFFFF"/>
          </a:solidFill>
          <a:ln w="9525">
            <a:solidFill>
              <a:srgbClr val="D4C7B6"/>
            </a:solidFill>
            <a:prstDash val="solid"/>
          </a:ln>
        </p:spPr>
        <p:txBody>
          <a:bodyPr/>
          <a:lstStyle/>
          <a:p>
            <a:endParaRPr lang="fr-TN"/>
          </a:p>
        </p:txBody>
      </p:sp>
      <p:sp>
        <p:nvSpPr>
          <p:cNvPr id="10" name="Rectangle 9">
            <a:extLst>
              <a:ext uri="{FF2B5EF4-FFF2-40B4-BE49-F238E27FC236}">
                <a16:creationId xmlns:a16="http://schemas.microsoft.com/office/drawing/2014/main" id="{0E249954-A859-BC86-9E45-FB59B701F409}"/>
              </a:ext>
            </a:extLst>
          </p:cNvPr>
          <p:cNvSpPr>
            <a:spLocks noGrp="1"/>
          </p:cNvSpPr>
          <p:nvPr/>
        </p:nvSpPr>
        <p:spPr>
          <a:xfrm>
            <a:off x="3036879" y="5191602"/>
            <a:ext cx="5290976" cy="1212532"/>
          </a:xfrm>
          <a:prstGeom prst="rect">
            <a:avLst/>
          </a:prstGeom>
          <a:solidFill>
            <a:srgbClr val="0A1A2F"/>
          </a:solidFill>
          <a:ln w="0">
            <a:solidFill>
              <a:srgbClr val="000000">
                <a:alpha val="0"/>
              </a:srgbClr>
            </a:solidFill>
            <a:prstDash val="solid"/>
          </a:ln>
        </p:spPr>
        <p:txBody>
          <a:bodyPr/>
          <a:lstStyle/>
          <a:p>
            <a:endParaRPr lang="fr-TN"/>
          </a:p>
        </p:txBody>
      </p:sp>
      <p:sp>
        <p:nvSpPr>
          <p:cNvPr id="13" name="Rectangle 12">
            <a:extLst>
              <a:ext uri="{FF2B5EF4-FFF2-40B4-BE49-F238E27FC236}">
                <a16:creationId xmlns:a16="http://schemas.microsoft.com/office/drawing/2014/main" id="{D7C9D728-9A4B-E2D6-79B7-A28AB4DD194B}"/>
              </a:ext>
            </a:extLst>
          </p:cNvPr>
          <p:cNvSpPr>
            <a:spLocks noGrp="1"/>
          </p:cNvSpPr>
          <p:nvPr/>
        </p:nvSpPr>
        <p:spPr>
          <a:xfrm>
            <a:off x="3245797" y="5400199"/>
            <a:ext cx="2316701"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E07A5F"/>
                </a:solidFill>
                <a:latin typeface="Aptos"/>
                <a:ea typeface="Aptos"/>
                <a:cs typeface="Aptos"/>
              </a:defRPr>
            </a:pPr>
            <a:r>
              <a:rPr sz="1275" b="1" dirty="0">
                <a:solidFill>
                  <a:srgbClr val="E07A5F"/>
                </a:solidFill>
                <a:latin typeface="Aptos"/>
                <a:ea typeface="Aptos"/>
                <a:cs typeface="Aptos"/>
              </a:rPr>
              <a:t>Message à faire passer</a:t>
            </a:r>
          </a:p>
        </p:txBody>
      </p:sp>
      <p:sp>
        <p:nvSpPr>
          <p:cNvPr id="14" name="Rectangle 13">
            <a:extLst>
              <a:ext uri="{FF2B5EF4-FFF2-40B4-BE49-F238E27FC236}">
                <a16:creationId xmlns:a16="http://schemas.microsoft.com/office/drawing/2014/main" id="{50E076F2-716B-8556-DD55-CD209A1F1F67}"/>
              </a:ext>
            </a:extLst>
          </p:cNvPr>
          <p:cNvSpPr>
            <a:spLocks noGrp="1"/>
          </p:cNvSpPr>
          <p:nvPr/>
        </p:nvSpPr>
        <p:spPr>
          <a:xfrm>
            <a:off x="3245797" y="5778135"/>
            <a:ext cx="4537124"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FFFFFF"/>
                </a:solidFill>
                <a:latin typeface="Aptos"/>
                <a:ea typeface="Aptos"/>
                <a:cs typeface="Aptos"/>
              </a:defRPr>
            </a:pPr>
            <a:r>
              <a:rPr sz="1125" b="0" dirty="0">
                <a:solidFill>
                  <a:srgbClr val="FFFFFF"/>
                </a:solidFill>
                <a:latin typeface="Aptos"/>
                <a:ea typeface="Aptos"/>
                <a:cs typeface="Aptos"/>
              </a:rPr>
              <a:t>Le cube structure </a:t>
            </a:r>
            <a:r>
              <a:rPr sz="1125" b="0" dirty="0" err="1">
                <a:solidFill>
                  <a:srgbClr val="FFFFFF"/>
                </a:solidFill>
                <a:latin typeface="Aptos"/>
                <a:ea typeface="Aptos"/>
                <a:cs typeface="Aptos"/>
              </a:rPr>
              <a:t>l'analyse</a:t>
            </a:r>
            <a:r>
              <a:rPr sz="1125" b="0" dirty="0">
                <a:solidFill>
                  <a:srgbClr val="FFFFFF"/>
                </a:solidFill>
                <a:latin typeface="Aptos"/>
                <a:ea typeface="Aptos"/>
                <a:cs typeface="Aptos"/>
              </a:rPr>
              <a:t>. Power BI la rend </a:t>
            </a:r>
            <a:r>
              <a:rPr sz="1125" b="0" dirty="0" err="1">
                <a:solidFill>
                  <a:srgbClr val="FFFFFF"/>
                </a:solidFill>
                <a:latin typeface="Aptos"/>
                <a:ea typeface="Aptos"/>
                <a:cs typeface="Aptos"/>
              </a:rPr>
              <a:t>compréhensible</a:t>
            </a:r>
            <a:r>
              <a:rPr sz="1125" b="0" dirty="0">
                <a:solidFill>
                  <a:srgbClr val="FFFFFF"/>
                </a:solidFill>
                <a:latin typeface="Aptos"/>
                <a:ea typeface="Aptos"/>
                <a:cs typeface="Aptos"/>
              </a:rPr>
              <a:t> et exploitable.</a:t>
            </a:r>
          </a:p>
        </p:txBody>
      </p:sp>
      <p:sp>
        <p:nvSpPr>
          <p:cNvPr id="15" name="Rectangle 14">
            <a:extLst>
              <a:ext uri="{FF2B5EF4-FFF2-40B4-BE49-F238E27FC236}">
                <a16:creationId xmlns:a16="http://schemas.microsoft.com/office/drawing/2014/main" id="{762E0553-DD99-411B-03A3-A80B503B9B84}"/>
              </a:ext>
            </a:extLst>
          </p:cNvPr>
          <p:cNvSpPr>
            <a:spLocks noGrp="1"/>
          </p:cNvSpPr>
          <p:nvPr/>
        </p:nvSpPr>
        <p:spPr>
          <a:xfrm>
            <a:off x="704850" y="6515100"/>
            <a:ext cx="5715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5A6F7E"/>
                </a:solidFill>
                <a:latin typeface="Aptos"/>
                <a:ea typeface="Aptos"/>
                <a:cs typeface="Aptos"/>
              </a:defRPr>
            </a:pPr>
            <a:r>
              <a:rPr sz="825" b="0">
                <a:solidFill>
                  <a:srgbClr val="5A6F7E"/>
                </a:solidFill>
                <a:latin typeface="Aptos"/>
                <a:ea typeface="Aptos"/>
                <a:cs typeface="Aptos"/>
              </a:rPr>
              <a:t>Soutenance · analyse et restitution</a:t>
            </a:r>
          </a:p>
        </p:txBody>
      </p:sp>
      <p:sp>
        <p:nvSpPr>
          <p:cNvPr id="16" name="Rectangle 15">
            <a:extLst>
              <a:ext uri="{FF2B5EF4-FFF2-40B4-BE49-F238E27FC236}">
                <a16:creationId xmlns:a16="http://schemas.microsoft.com/office/drawing/2014/main" id="{22C848C6-0915-245D-2E08-D4958EF0FD12}"/>
              </a:ext>
            </a:extLst>
          </p:cNvPr>
          <p:cNvSpPr>
            <a:spLocks noGrp="1"/>
          </p:cNvSpPr>
          <p:nvPr/>
        </p:nvSpPr>
        <p:spPr>
          <a:xfrm>
            <a:off x="9258300" y="6515100"/>
            <a:ext cx="2286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0">
                <a:solidFill>
                  <a:srgbClr val="5A6F7E"/>
                </a:solidFill>
                <a:latin typeface="Aptos"/>
                <a:ea typeface="Aptos"/>
                <a:cs typeface="Aptos"/>
              </a:defRPr>
            </a:pPr>
            <a:r>
              <a:rPr sz="825" b="0" dirty="0" err="1">
                <a:solidFill>
                  <a:srgbClr val="5A6F7E"/>
                </a:solidFill>
                <a:latin typeface="Aptos"/>
                <a:ea typeface="Aptos"/>
                <a:cs typeface="Aptos"/>
              </a:rPr>
              <a:t>Projet</a:t>
            </a:r>
            <a:r>
              <a:rPr sz="825" b="0" dirty="0">
                <a:solidFill>
                  <a:srgbClr val="5A6F7E"/>
                </a:solidFill>
                <a:latin typeface="Aptos"/>
                <a:ea typeface="Aptos"/>
                <a:cs typeface="Aptos"/>
              </a:rPr>
              <a:t> BI </a:t>
            </a:r>
            <a:r>
              <a:rPr sz="825" b="0" dirty="0" err="1">
                <a:solidFill>
                  <a:srgbClr val="5A6F7E"/>
                </a:solidFill>
                <a:latin typeface="Aptos"/>
                <a:ea typeface="Aptos"/>
                <a:cs typeface="Aptos"/>
              </a:rPr>
              <a:t>AdventureWorks</a:t>
            </a:r>
            <a:endParaRPr sz="825" b="0" dirty="0">
              <a:solidFill>
                <a:srgbClr val="5A6F7E"/>
              </a:solidFill>
              <a:latin typeface="Aptos"/>
              <a:ea typeface="Aptos"/>
              <a:cs typeface="Aptos"/>
            </a:endParaRPr>
          </a:p>
        </p:txBody>
      </p:sp>
      <p:sp>
        <p:nvSpPr>
          <p:cNvPr id="23" name="Rectangle 22">
            <a:extLst>
              <a:ext uri="{FF2B5EF4-FFF2-40B4-BE49-F238E27FC236}">
                <a16:creationId xmlns:a16="http://schemas.microsoft.com/office/drawing/2014/main" id="{524FD9CF-EBE9-2FE2-9DAD-8683683DFE0D}"/>
              </a:ext>
            </a:extLst>
          </p:cNvPr>
          <p:cNvSpPr>
            <a:spLocks noGrp="1"/>
          </p:cNvSpPr>
          <p:nvPr/>
        </p:nvSpPr>
        <p:spPr>
          <a:xfrm>
            <a:off x="5958756" y="1981200"/>
            <a:ext cx="6147900" cy="2999232"/>
          </a:xfrm>
          <a:prstGeom prst="rect">
            <a:avLst/>
          </a:prstGeom>
          <a:solidFill>
            <a:srgbClr val="FFFFFF"/>
          </a:solidFill>
          <a:ln w="9525">
            <a:solidFill>
              <a:srgbClr val="D4C7B6"/>
            </a:solidFill>
            <a:prstDash val="solid"/>
          </a:ln>
        </p:spPr>
        <p:txBody>
          <a:bodyPr/>
          <a:lstStyle/>
          <a:p>
            <a:endParaRPr lang="fr-TN"/>
          </a:p>
        </p:txBody>
      </p:sp>
      <p:pic>
        <p:nvPicPr>
          <p:cNvPr id="25" name="Image 24">
            <a:extLst>
              <a:ext uri="{FF2B5EF4-FFF2-40B4-BE49-F238E27FC236}">
                <a16:creationId xmlns:a16="http://schemas.microsoft.com/office/drawing/2014/main" id="{F7EC1FA1-4248-5411-7A22-03AD1C4403DD}"/>
              </a:ext>
            </a:extLst>
          </p:cNvPr>
          <p:cNvPicPr>
            <a:picLocks noChangeAspect="1"/>
          </p:cNvPicPr>
          <p:nvPr/>
        </p:nvPicPr>
        <p:blipFill>
          <a:blip r:embed="rId3"/>
          <a:stretch>
            <a:fillRect/>
          </a:stretch>
        </p:blipFill>
        <p:spPr>
          <a:xfrm>
            <a:off x="173611" y="1982253"/>
            <a:ext cx="5563159" cy="2929856"/>
          </a:xfrm>
          <a:prstGeom prst="rect">
            <a:avLst/>
          </a:prstGeom>
        </p:spPr>
      </p:pic>
      <p:pic>
        <p:nvPicPr>
          <p:cNvPr id="31" name="Image 30">
            <a:extLst>
              <a:ext uri="{FF2B5EF4-FFF2-40B4-BE49-F238E27FC236}">
                <a16:creationId xmlns:a16="http://schemas.microsoft.com/office/drawing/2014/main" id="{D83EF198-F4DF-1BDD-4071-62B67387B798}"/>
              </a:ext>
            </a:extLst>
          </p:cNvPr>
          <p:cNvPicPr>
            <a:picLocks noChangeAspect="1"/>
          </p:cNvPicPr>
          <p:nvPr/>
        </p:nvPicPr>
        <p:blipFill>
          <a:blip r:embed="rId4"/>
          <a:stretch>
            <a:fillRect/>
          </a:stretch>
        </p:blipFill>
        <p:spPr>
          <a:xfrm>
            <a:off x="5958755" y="1981199"/>
            <a:ext cx="6147901" cy="2999232"/>
          </a:xfrm>
          <a:prstGeom prst="rect">
            <a:avLst/>
          </a:prstGeom>
        </p:spPr>
      </p:pic>
      <p:sp>
        <p:nvSpPr>
          <p:cNvPr id="8" name="Ellipse 7">
            <a:extLst>
              <a:ext uri="{FF2B5EF4-FFF2-40B4-BE49-F238E27FC236}">
                <a16:creationId xmlns:a16="http://schemas.microsoft.com/office/drawing/2014/main" id="{B75A6657-3930-61CB-05E6-1551ACB2C885}"/>
              </a:ext>
            </a:extLst>
          </p:cNvPr>
          <p:cNvSpPr/>
          <p:nvPr/>
        </p:nvSpPr>
        <p:spPr>
          <a:xfrm>
            <a:off x="11845290" y="6512560"/>
            <a:ext cx="304800" cy="30988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b="1" dirty="0">
                <a:ln w="22225">
                  <a:solidFill>
                    <a:schemeClr val="accent2"/>
                  </a:solidFill>
                  <a:prstDash val="solid"/>
                </a:ln>
                <a:solidFill>
                  <a:schemeClr val="accent2">
                    <a:lumMod val="40000"/>
                    <a:lumOff val="60000"/>
                  </a:schemeClr>
                </a:solidFill>
              </a:rPr>
              <a:t>7</a:t>
            </a:r>
            <a:endParaRPr lang="fr-TN" b="1" dirty="0">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22519082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3" grpId="0" animBg="1"/>
      <p:bldP spid="1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9105DBD9-000F-4A71-ACD9-4A47AF3CF91D}"/>
              </a:ext>
            </a:extLst>
          </p:cNvPr>
          <p:cNvSpPr>
            <a:spLocks noGrp="1"/>
          </p:cNvSpPr>
          <p:nvPr/>
        </p:nvSpPr>
        <p:spPr>
          <a:xfrm>
            <a:off x="0" y="0"/>
            <a:ext cx="12192000" cy="6858000"/>
          </a:xfrm>
          <a:prstGeom prst="rect">
            <a:avLst/>
          </a:prstGeom>
          <a:solidFill>
            <a:srgbClr val="F6F0E7"/>
          </a:solidFill>
          <a:ln w="0">
            <a:solidFill>
              <a:srgbClr val="000000">
                <a:alpha val="0"/>
              </a:srgbClr>
            </a:solidFill>
            <a:prstDash val="solid"/>
          </a:ln>
        </p:spPr>
        <p:txBody>
          <a:bodyPr/>
          <a:lstStyle/>
          <a:p>
            <a:endParaRPr lang="fr-TN"/>
          </a:p>
        </p:txBody>
      </p:sp>
      <p:sp>
        <p:nvSpPr>
          <p:cNvPr id="2" name="Rectangle 1">
            <a:extLst>
              <a:ext uri="{FF2B5EF4-FFF2-40B4-BE49-F238E27FC236}">
                <a16:creationId xmlns:a16="http://schemas.microsoft.com/office/drawing/2014/main" id="{13E0C55C-06C7-45DD-9D18-B6D1C3BAA2FE}"/>
              </a:ext>
            </a:extLst>
          </p:cNvPr>
          <p:cNvSpPr>
            <a:spLocks noGrp="1"/>
          </p:cNvSpPr>
          <p:nvPr/>
        </p:nvSpPr>
        <p:spPr>
          <a:xfrm>
            <a:off x="0" y="0"/>
            <a:ext cx="12192000" cy="247650"/>
          </a:xfrm>
          <a:prstGeom prst="rect">
            <a:avLst/>
          </a:prstGeom>
          <a:solidFill>
            <a:srgbClr val="0A1A2F"/>
          </a:solidFill>
          <a:ln w="0">
            <a:solidFill>
              <a:srgbClr val="000000">
                <a:alpha val="0"/>
              </a:srgbClr>
            </a:solidFill>
            <a:prstDash val="solid"/>
          </a:ln>
        </p:spPr>
        <p:txBody>
          <a:bodyPr/>
          <a:lstStyle/>
          <a:p>
            <a:endParaRPr lang="fr-TN"/>
          </a:p>
        </p:txBody>
      </p:sp>
      <p:sp>
        <p:nvSpPr>
          <p:cNvPr id="3" name="Rectangle 2">
            <a:extLst>
              <a:ext uri="{FF2B5EF4-FFF2-40B4-BE49-F238E27FC236}">
                <a16:creationId xmlns:a16="http://schemas.microsoft.com/office/drawing/2014/main" id="{B9F38EF1-4819-4A1A-9908-4F0C6D78D3FF}"/>
              </a:ext>
            </a:extLst>
          </p:cNvPr>
          <p:cNvSpPr>
            <a:spLocks noGrp="1"/>
          </p:cNvSpPr>
          <p:nvPr/>
        </p:nvSpPr>
        <p:spPr>
          <a:xfrm>
            <a:off x="0" y="247650"/>
            <a:ext cx="2095500" cy="57150"/>
          </a:xfrm>
          <a:prstGeom prst="rect">
            <a:avLst/>
          </a:prstGeom>
          <a:solidFill>
            <a:srgbClr val="E07A5F"/>
          </a:solidFill>
          <a:ln w="0">
            <a:solidFill>
              <a:srgbClr val="000000">
                <a:alpha val="0"/>
              </a:srgbClr>
            </a:solidFill>
            <a:prstDash val="solid"/>
          </a:ln>
        </p:spPr>
        <p:txBody>
          <a:bodyPr/>
          <a:lstStyle/>
          <a:p>
            <a:endParaRPr lang="fr-TN"/>
          </a:p>
        </p:txBody>
      </p:sp>
      <p:sp>
        <p:nvSpPr>
          <p:cNvPr id="4" name="Rectangle 3">
            <a:extLst>
              <a:ext uri="{FF2B5EF4-FFF2-40B4-BE49-F238E27FC236}">
                <a16:creationId xmlns:a16="http://schemas.microsoft.com/office/drawing/2014/main" id="{E0416B77-6302-4D79-A240-5FE002C1D645}"/>
              </a:ext>
            </a:extLst>
          </p:cNvPr>
          <p:cNvSpPr>
            <a:spLocks noGrp="1"/>
          </p:cNvSpPr>
          <p:nvPr/>
        </p:nvSpPr>
        <p:spPr>
          <a:xfrm>
            <a:off x="704850" y="552450"/>
            <a:ext cx="2095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0F8B8D"/>
                </a:solidFill>
                <a:latin typeface="Aptos"/>
                <a:ea typeface="Aptos"/>
                <a:cs typeface="Aptos"/>
              </a:defRPr>
            </a:pPr>
            <a:r>
              <a:rPr sz="900" b="1">
                <a:solidFill>
                  <a:srgbClr val="0F8B8D"/>
                </a:solidFill>
                <a:latin typeface="Aptos"/>
                <a:ea typeface="Aptos"/>
                <a:cs typeface="Aptos"/>
              </a:rPr>
              <a:t>RÉSULTATS</a:t>
            </a:r>
          </a:p>
        </p:txBody>
      </p:sp>
      <p:sp>
        <p:nvSpPr>
          <p:cNvPr id="5" name="Rectangle 4">
            <a:extLst>
              <a:ext uri="{FF2B5EF4-FFF2-40B4-BE49-F238E27FC236}">
                <a16:creationId xmlns:a16="http://schemas.microsoft.com/office/drawing/2014/main" id="{12189EBA-4879-491C-BE13-4E747106FCB4}"/>
              </a:ext>
            </a:extLst>
          </p:cNvPr>
          <p:cNvSpPr>
            <a:spLocks noGrp="1"/>
          </p:cNvSpPr>
          <p:nvPr/>
        </p:nvSpPr>
        <p:spPr>
          <a:xfrm>
            <a:off x="685800" y="781050"/>
            <a:ext cx="8763000" cy="742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400" b="1">
                <a:solidFill>
                  <a:srgbClr val="12304C"/>
                </a:solidFill>
                <a:latin typeface="Aptos Display"/>
                <a:ea typeface="Aptos Display"/>
                <a:cs typeface="Aptos Display"/>
              </a:defRPr>
            </a:pPr>
            <a:r>
              <a:rPr sz="2400" b="1">
                <a:solidFill>
                  <a:srgbClr val="12304C"/>
                </a:solidFill>
                <a:latin typeface="Aptos Display"/>
                <a:ea typeface="Aptos Display"/>
                <a:cs typeface="Aptos Display"/>
              </a:rPr>
              <a:t>Le projet aboutit à un système réellement peuplé, cohérent et prêt pour l'analyse.</a:t>
            </a:r>
          </a:p>
        </p:txBody>
      </p:sp>
      <p:sp>
        <p:nvSpPr>
          <p:cNvPr id="6" name="Rectangle 5">
            <a:extLst>
              <a:ext uri="{FF2B5EF4-FFF2-40B4-BE49-F238E27FC236}">
                <a16:creationId xmlns:a16="http://schemas.microsoft.com/office/drawing/2014/main" id="{6556C284-DE57-46D6-A3FA-D0A133D6EE40}"/>
              </a:ext>
            </a:extLst>
          </p:cNvPr>
          <p:cNvSpPr>
            <a:spLocks noGrp="1"/>
          </p:cNvSpPr>
          <p:nvPr/>
        </p:nvSpPr>
        <p:spPr>
          <a:xfrm>
            <a:off x="704850" y="1562100"/>
            <a:ext cx="81915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5A6F7E"/>
                </a:solidFill>
                <a:latin typeface="Aptos"/>
                <a:ea typeface="Aptos"/>
                <a:cs typeface="Aptos"/>
              </a:defRPr>
            </a:pPr>
            <a:r>
              <a:rPr sz="1200" b="0">
                <a:solidFill>
                  <a:srgbClr val="5A6F7E"/>
                </a:solidFill>
                <a:latin typeface="Aptos"/>
                <a:ea typeface="Aptos"/>
                <a:cs typeface="Aptos"/>
              </a:rPr>
              <a:t>Ces chiffres servent de preuve finale que toute la chaîne BI a bien fonctionné.</a:t>
            </a:r>
          </a:p>
        </p:txBody>
      </p:sp>
      <p:sp>
        <p:nvSpPr>
          <p:cNvPr id="7" name="Rectangle 6">
            <a:extLst>
              <a:ext uri="{FF2B5EF4-FFF2-40B4-BE49-F238E27FC236}">
                <a16:creationId xmlns:a16="http://schemas.microsoft.com/office/drawing/2014/main" id="{F4AF2213-53D4-49FB-929E-264D61D14F69}"/>
              </a:ext>
            </a:extLst>
          </p:cNvPr>
          <p:cNvSpPr>
            <a:spLocks noGrp="1"/>
          </p:cNvSpPr>
          <p:nvPr/>
        </p:nvSpPr>
        <p:spPr>
          <a:xfrm>
            <a:off x="876300" y="2324100"/>
            <a:ext cx="1924050" cy="1028700"/>
          </a:xfrm>
          <a:prstGeom prst="rect">
            <a:avLst/>
          </a:prstGeom>
          <a:solidFill>
            <a:srgbClr val="FFFFFF"/>
          </a:solidFill>
          <a:ln w="9525">
            <a:solidFill>
              <a:srgbClr val="D4C7B6"/>
            </a:solidFill>
            <a:prstDash val="solid"/>
          </a:ln>
        </p:spPr>
        <p:txBody>
          <a:bodyPr/>
          <a:lstStyle/>
          <a:p>
            <a:endParaRPr lang="fr-TN"/>
          </a:p>
        </p:txBody>
      </p:sp>
      <p:sp>
        <p:nvSpPr>
          <p:cNvPr id="8" name="Rectangle 7">
            <a:extLst>
              <a:ext uri="{FF2B5EF4-FFF2-40B4-BE49-F238E27FC236}">
                <a16:creationId xmlns:a16="http://schemas.microsoft.com/office/drawing/2014/main" id="{FC6CF777-B1A2-42B9-82AE-DD1811DAE348}"/>
              </a:ext>
            </a:extLst>
          </p:cNvPr>
          <p:cNvSpPr>
            <a:spLocks noGrp="1"/>
          </p:cNvSpPr>
          <p:nvPr/>
        </p:nvSpPr>
        <p:spPr>
          <a:xfrm>
            <a:off x="876300" y="2324100"/>
            <a:ext cx="57150" cy="1028700"/>
          </a:xfrm>
          <a:prstGeom prst="rect">
            <a:avLst/>
          </a:prstGeom>
          <a:solidFill>
            <a:srgbClr val="0F8B8D"/>
          </a:solidFill>
          <a:ln w="0">
            <a:solidFill>
              <a:srgbClr val="000000">
                <a:alpha val="0"/>
              </a:srgbClr>
            </a:solidFill>
            <a:prstDash val="solid"/>
          </a:ln>
        </p:spPr>
        <p:txBody>
          <a:bodyPr/>
          <a:lstStyle/>
          <a:p>
            <a:endParaRPr lang="fr-TN"/>
          </a:p>
        </p:txBody>
      </p:sp>
      <p:sp>
        <p:nvSpPr>
          <p:cNvPr id="9" name="Rectangle 8">
            <a:extLst>
              <a:ext uri="{FF2B5EF4-FFF2-40B4-BE49-F238E27FC236}">
                <a16:creationId xmlns:a16="http://schemas.microsoft.com/office/drawing/2014/main" id="{CAA07192-E3CF-4F0C-9972-B1C22F36A071}"/>
              </a:ext>
            </a:extLst>
          </p:cNvPr>
          <p:cNvSpPr>
            <a:spLocks noGrp="1"/>
          </p:cNvSpPr>
          <p:nvPr/>
        </p:nvSpPr>
        <p:spPr>
          <a:xfrm>
            <a:off x="1066800" y="2476500"/>
            <a:ext cx="16573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5A6F7E"/>
                </a:solidFill>
                <a:latin typeface="Aptos"/>
                <a:ea typeface="Aptos"/>
                <a:cs typeface="Aptos"/>
              </a:defRPr>
            </a:pPr>
            <a:r>
              <a:rPr sz="975" b="0">
                <a:solidFill>
                  <a:srgbClr val="5A6F7E"/>
                </a:solidFill>
                <a:latin typeface="Aptos"/>
                <a:ea typeface="Aptos"/>
                <a:cs typeface="Aptos"/>
              </a:rPr>
              <a:t>DimDate</a:t>
            </a:r>
          </a:p>
        </p:txBody>
      </p:sp>
      <p:sp>
        <p:nvSpPr>
          <p:cNvPr id="10" name="Rectangle 9">
            <a:extLst>
              <a:ext uri="{FF2B5EF4-FFF2-40B4-BE49-F238E27FC236}">
                <a16:creationId xmlns:a16="http://schemas.microsoft.com/office/drawing/2014/main" id="{83D1C414-C112-4BCC-96CC-9EBFD101A98C}"/>
              </a:ext>
            </a:extLst>
          </p:cNvPr>
          <p:cNvSpPr>
            <a:spLocks noGrp="1"/>
          </p:cNvSpPr>
          <p:nvPr/>
        </p:nvSpPr>
        <p:spPr>
          <a:xfrm>
            <a:off x="1066800" y="2743200"/>
            <a:ext cx="16573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12304C"/>
                </a:solidFill>
                <a:latin typeface="Aptos Display"/>
                <a:ea typeface="Aptos Display"/>
                <a:cs typeface="Aptos Display"/>
              </a:defRPr>
            </a:pPr>
            <a:r>
              <a:rPr sz="1950" b="1">
                <a:solidFill>
                  <a:srgbClr val="12304C"/>
                </a:solidFill>
                <a:latin typeface="Aptos Display"/>
                <a:ea typeface="Aptos Display"/>
                <a:cs typeface="Aptos Display"/>
              </a:rPr>
              <a:t>5 844</a:t>
            </a:r>
          </a:p>
        </p:txBody>
      </p:sp>
      <p:sp>
        <p:nvSpPr>
          <p:cNvPr id="11" name="Rectangle 10">
            <a:extLst>
              <a:ext uri="{FF2B5EF4-FFF2-40B4-BE49-F238E27FC236}">
                <a16:creationId xmlns:a16="http://schemas.microsoft.com/office/drawing/2014/main" id="{22D5CFD8-DD04-4A84-BECA-9C994C3CFB55}"/>
              </a:ext>
            </a:extLst>
          </p:cNvPr>
          <p:cNvSpPr>
            <a:spLocks noGrp="1"/>
          </p:cNvSpPr>
          <p:nvPr/>
        </p:nvSpPr>
        <p:spPr>
          <a:xfrm>
            <a:off x="1066800" y="3086100"/>
            <a:ext cx="16573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5A6F7E"/>
                </a:solidFill>
                <a:latin typeface="Aptos"/>
                <a:ea typeface="Aptos"/>
                <a:cs typeface="Aptos"/>
              </a:defRPr>
            </a:pPr>
            <a:r>
              <a:rPr sz="825" b="0">
                <a:solidFill>
                  <a:srgbClr val="5A6F7E"/>
                </a:solidFill>
                <a:latin typeface="Aptos"/>
                <a:ea typeface="Aptos"/>
                <a:cs typeface="Aptos"/>
              </a:rPr>
              <a:t>calendrier chargé</a:t>
            </a:r>
          </a:p>
        </p:txBody>
      </p:sp>
      <p:sp>
        <p:nvSpPr>
          <p:cNvPr id="12" name="Rectangle 11">
            <a:extLst>
              <a:ext uri="{FF2B5EF4-FFF2-40B4-BE49-F238E27FC236}">
                <a16:creationId xmlns:a16="http://schemas.microsoft.com/office/drawing/2014/main" id="{FAFF8ABA-B761-4859-ADAA-04D1C4F19894}"/>
              </a:ext>
            </a:extLst>
          </p:cNvPr>
          <p:cNvSpPr>
            <a:spLocks noGrp="1"/>
          </p:cNvSpPr>
          <p:nvPr/>
        </p:nvSpPr>
        <p:spPr>
          <a:xfrm>
            <a:off x="2990850" y="2324100"/>
            <a:ext cx="1924050" cy="1028700"/>
          </a:xfrm>
          <a:prstGeom prst="rect">
            <a:avLst/>
          </a:prstGeom>
          <a:solidFill>
            <a:srgbClr val="FFFFFF"/>
          </a:solidFill>
          <a:ln w="9525">
            <a:solidFill>
              <a:srgbClr val="D4C7B6"/>
            </a:solidFill>
            <a:prstDash val="solid"/>
          </a:ln>
        </p:spPr>
        <p:txBody>
          <a:bodyPr/>
          <a:lstStyle/>
          <a:p>
            <a:endParaRPr lang="fr-TN"/>
          </a:p>
        </p:txBody>
      </p:sp>
      <p:sp>
        <p:nvSpPr>
          <p:cNvPr id="13" name="Rectangle 12">
            <a:extLst>
              <a:ext uri="{FF2B5EF4-FFF2-40B4-BE49-F238E27FC236}">
                <a16:creationId xmlns:a16="http://schemas.microsoft.com/office/drawing/2014/main" id="{B250F6E0-D9FD-4056-ADA1-DEB13DAD2133}"/>
              </a:ext>
            </a:extLst>
          </p:cNvPr>
          <p:cNvSpPr>
            <a:spLocks noGrp="1"/>
          </p:cNvSpPr>
          <p:nvPr/>
        </p:nvSpPr>
        <p:spPr>
          <a:xfrm>
            <a:off x="2990850" y="2324100"/>
            <a:ext cx="57150" cy="1028700"/>
          </a:xfrm>
          <a:prstGeom prst="rect">
            <a:avLst/>
          </a:prstGeom>
          <a:solidFill>
            <a:srgbClr val="E07A5F"/>
          </a:solidFill>
          <a:ln w="0">
            <a:solidFill>
              <a:srgbClr val="000000">
                <a:alpha val="0"/>
              </a:srgbClr>
            </a:solidFill>
            <a:prstDash val="solid"/>
          </a:ln>
        </p:spPr>
        <p:txBody>
          <a:bodyPr/>
          <a:lstStyle/>
          <a:p>
            <a:endParaRPr lang="fr-TN"/>
          </a:p>
        </p:txBody>
      </p:sp>
      <p:sp>
        <p:nvSpPr>
          <p:cNvPr id="14" name="Rectangle 13">
            <a:extLst>
              <a:ext uri="{FF2B5EF4-FFF2-40B4-BE49-F238E27FC236}">
                <a16:creationId xmlns:a16="http://schemas.microsoft.com/office/drawing/2014/main" id="{60E19946-6806-4F6D-827D-7077C1873F40}"/>
              </a:ext>
            </a:extLst>
          </p:cNvPr>
          <p:cNvSpPr>
            <a:spLocks noGrp="1"/>
          </p:cNvSpPr>
          <p:nvPr/>
        </p:nvSpPr>
        <p:spPr>
          <a:xfrm>
            <a:off x="3181350" y="2476500"/>
            <a:ext cx="16573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5A6F7E"/>
                </a:solidFill>
                <a:latin typeface="Aptos"/>
                <a:ea typeface="Aptos"/>
                <a:cs typeface="Aptos"/>
              </a:defRPr>
            </a:pPr>
            <a:r>
              <a:rPr sz="975" b="0">
                <a:solidFill>
                  <a:srgbClr val="5A6F7E"/>
                </a:solidFill>
                <a:latin typeface="Aptos"/>
                <a:ea typeface="Aptos"/>
                <a:cs typeface="Aptos"/>
              </a:rPr>
              <a:t>DimProduct</a:t>
            </a:r>
          </a:p>
        </p:txBody>
      </p:sp>
      <p:sp>
        <p:nvSpPr>
          <p:cNvPr id="15" name="Rectangle 14">
            <a:extLst>
              <a:ext uri="{FF2B5EF4-FFF2-40B4-BE49-F238E27FC236}">
                <a16:creationId xmlns:a16="http://schemas.microsoft.com/office/drawing/2014/main" id="{990E0976-FFA1-498F-9541-463BB601938B}"/>
              </a:ext>
            </a:extLst>
          </p:cNvPr>
          <p:cNvSpPr>
            <a:spLocks noGrp="1"/>
          </p:cNvSpPr>
          <p:nvPr/>
        </p:nvSpPr>
        <p:spPr>
          <a:xfrm>
            <a:off x="3181350" y="2743200"/>
            <a:ext cx="16573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12304C"/>
                </a:solidFill>
                <a:latin typeface="Aptos Display"/>
                <a:ea typeface="Aptos Display"/>
                <a:cs typeface="Aptos Display"/>
              </a:defRPr>
            </a:pPr>
            <a:r>
              <a:rPr sz="1950" b="1">
                <a:solidFill>
                  <a:srgbClr val="12304C"/>
                </a:solidFill>
                <a:latin typeface="Aptos Display"/>
                <a:ea typeface="Aptos Display"/>
                <a:cs typeface="Aptos Display"/>
              </a:rPr>
              <a:t>504</a:t>
            </a:r>
          </a:p>
        </p:txBody>
      </p:sp>
      <p:sp>
        <p:nvSpPr>
          <p:cNvPr id="16" name="Rectangle 15">
            <a:extLst>
              <a:ext uri="{FF2B5EF4-FFF2-40B4-BE49-F238E27FC236}">
                <a16:creationId xmlns:a16="http://schemas.microsoft.com/office/drawing/2014/main" id="{B38C1040-0FFA-4B76-ACF4-0BF1D038A19B}"/>
              </a:ext>
            </a:extLst>
          </p:cNvPr>
          <p:cNvSpPr>
            <a:spLocks noGrp="1"/>
          </p:cNvSpPr>
          <p:nvPr/>
        </p:nvSpPr>
        <p:spPr>
          <a:xfrm>
            <a:off x="3181350" y="3086100"/>
            <a:ext cx="16573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5A6F7E"/>
                </a:solidFill>
                <a:latin typeface="Aptos"/>
                <a:ea typeface="Aptos"/>
                <a:cs typeface="Aptos"/>
              </a:defRPr>
            </a:pPr>
            <a:r>
              <a:rPr sz="825" b="0">
                <a:solidFill>
                  <a:srgbClr val="5A6F7E"/>
                </a:solidFill>
                <a:latin typeface="Aptos"/>
                <a:ea typeface="Aptos"/>
                <a:cs typeface="Aptos"/>
              </a:rPr>
              <a:t>produits</a:t>
            </a:r>
          </a:p>
        </p:txBody>
      </p:sp>
      <p:sp>
        <p:nvSpPr>
          <p:cNvPr id="17" name="Rectangle 16">
            <a:extLst>
              <a:ext uri="{FF2B5EF4-FFF2-40B4-BE49-F238E27FC236}">
                <a16:creationId xmlns:a16="http://schemas.microsoft.com/office/drawing/2014/main" id="{80E249AB-6584-4F14-94E4-0F37E8A3AAF6}"/>
              </a:ext>
            </a:extLst>
          </p:cNvPr>
          <p:cNvSpPr>
            <a:spLocks noGrp="1"/>
          </p:cNvSpPr>
          <p:nvPr/>
        </p:nvSpPr>
        <p:spPr>
          <a:xfrm>
            <a:off x="5105400" y="2324100"/>
            <a:ext cx="1924050" cy="1028700"/>
          </a:xfrm>
          <a:prstGeom prst="rect">
            <a:avLst/>
          </a:prstGeom>
          <a:solidFill>
            <a:srgbClr val="FFFFFF"/>
          </a:solidFill>
          <a:ln w="9525">
            <a:solidFill>
              <a:srgbClr val="D4C7B6"/>
            </a:solidFill>
            <a:prstDash val="solid"/>
          </a:ln>
        </p:spPr>
        <p:txBody>
          <a:bodyPr/>
          <a:lstStyle/>
          <a:p>
            <a:endParaRPr lang="fr-TN"/>
          </a:p>
        </p:txBody>
      </p:sp>
      <p:sp>
        <p:nvSpPr>
          <p:cNvPr id="18" name="Rectangle 17">
            <a:extLst>
              <a:ext uri="{FF2B5EF4-FFF2-40B4-BE49-F238E27FC236}">
                <a16:creationId xmlns:a16="http://schemas.microsoft.com/office/drawing/2014/main" id="{D101A1A2-94C3-4202-8FBC-CE9952DC8E97}"/>
              </a:ext>
            </a:extLst>
          </p:cNvPr>
          <p:cNvSpPr>
            <a:spLocks noGrp="1"/>
          </p:cNvSpPr>
          <p:nvPr/>
        </p:nvSpPr>
        <p:spPr>
          <a:xfrm>
            <a:off x="5105400" y="2324100"/>
            <a:ext cx="57150" cy="1028700"/>
          </a:xfrm>
          <a:prstGeom prst="rect">
            <a:avLst/>
          </a:prstGeom>
          <a:solidFill>
            <a:srgbClr val="7A9E7E"/>
          </a:solidFill>
          <a:ln w="0">
            <a:solidFill>
              <a:srgbClr val="000000">
                <a:alpha val="0"/>
              </a:srgbClr>
            </a:solidFill>
            <a:prstDash val="solid"/>
          </a:ln>
        </p:spPr>
        <p:txBody>
          <a:bodyPr/>
          <a:lstStyle/>
          <a:p>
            <a:endParaRPr lang="fr-TN"/>
          </a:p>
        </p:txBody>
      </p:sp>
      <p:sp>
        <p:nvSpPr>
          <p:cNvPr id="19" name="Rectangle 18">
            <a:extLst>
              <a:ext uri="{FF2B5EF4-FFF2-40B4-BE49-F238E27FC236}">
                <a16:creationId xmlns:a16="http://schemas.microsoft.com/office/drawing/2014/main" id="{D1B2CE38-B95E-471C-AD52-C9A2B65A9B8E}"/>
              </a:ext>
            </a:extLst>
          </p:cNvPr>
          <p:cNvSpPr>
            <a:spLocks noGrp="1"/>
          </p:cNvSpPr>
          <p:nvPr/>
        </p:nvSpPr>
        <p:spPr>
          <a:xfrm>
            <a:off x="5295900" y="2476500"/>
            <a:ext cx="16573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5A6F7E"/>
                </a:solidFill>
                <a:latin typeface="Aptos"/>
                <a:ea typeface="Aptos"/>
                <a:cs typeface="Aptos"/>
              </a:defRPr>
            </a:pPr>
            <a:r>
              <a:rPr sz="975" b="0">
                <a:solidFill>
                  <a:srgbClr val="5A6F7E"/>
                </a:solidFill>
                <a:latin typeface="Aptos"/>
                <a:ea typeface="Aptos"/>
                <a:cs typeface="Aptos"/>
              </a:rPr>
              <a:t>DimCustomer</a:t>
            </a:r>
          </a:p>
        </p:txBody>
      </p:sp>
      <p:sp>
        <p:nvSpPr>
          <p:cNvPr id="20" name="Rectangle 19">
            <a:extLst>
              <a:ext uri="{FF2B5EF4-FFF2-40B4-BE49-F238E27FC236}">
                <a16:creationId xmlns:a16="http://schemas.microsoft.com/office/drawing/2014/main" id="{096FDBEB-B223-4499-B3D1-BCACC5D64755}"/>
              </a:ext>
            </a:extLst>
          </p:cNvPr>
          <p:cNvSpPr>
            <a:spLocks noGrp="1"/>
          </p:cNvSpPr>
          <p:nvPr/>
        </p:nvSpPr>
        <p:spPr>
          <a:xfrm>
            <a:off x="5295900" y="2743200"/>
            <a:ext cx="16573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12304C"/>
                </a:solidFill>
                <a:latin typeface="Aptos Display"/>
                <a:ea typeface="Aptos Display"/>
                <a:cs typeface="Aptos Display"/>
              </a:defRPr>
            </a:pPr>
            <a:r>
              <a:rPr sz="1950" b="1">
                <a:solidFill>
                  <a:srgbClr val="12304C"/>
                </a:solidFill>
                <a:latin typeface="Aptos Display"/>
                <a:ea typeface="Aptos Display"/>
                <a:cs typeface="Aptos Display"/>
              </a:rPr>
              <a:t>~19 119</a:t>
            </a:r>
          </a:p>
        </p:txBody>
      </p:sp>
      <p:sp>
        <p:nvSpPr>
          <p:cNvPr id="21" name="Rectangle 20">
            <a:extLst>
              <a:ext uri="{FF2B5EF4-FFF2-40B4-BE49-F238E27FC236}">
                <a16:creationId xmlns:a16="http://schemas.microsoft.com/office/drawing/2014/main" id="{082A014C-253F-4BD2-A5F7-30CEE81DE1EC}"/>
              </a:ext>
            </a:extLst>
          </p:cNvPr>
          <p:cNvSpPr>
            <a:spLocks noGrp="1"/>
          </p:cNvSpPr>
          <p:nvPr/>
        </p:nvSpPr>
        <p:spPr>
          <a:xfrm>
            <a:off x="5295900" y="3086100"/>
            <a:ext cx="16573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5A6F7E"/>
                </a:solidFill>
                <a:latin typeface="Aptos"/>
                <a:ea typeface="Aptos"/>
                <a:cs typeface="Aptos"/>
              </a:defRPr>
            </a:pPr>
            <a:r>
              <a:rPr sz="825" b="0">
                <a:solidFill>
                  <a:srgbClr val="5A6F7E"/>
                </a:solidFill>
                <a:latin typeface="Aptos"/>
                <a:ea typeface="Aptos"/>
                <a:cs typeface="Aptos"/>
              </a:rPr>
              <a:t>clients</a:t>
            </a:r>
          </a:p>
        </p:txBody>
      </p:sp>
      <p:sp>
        <p:nvSpPr>
          <p:cNvPr id="22" name="Rectangle 21">
            <a:extLst>
              <a:ext uri="{FF2B5EF4-FFF2-40B4-BE49-F238E27FC236}">
                <a16:creationId xmlns:a16="http://schemas.microsoft.com/office/drawing/2014/main" id="{E76B5809-487B-4489-BBB2-C3631F70CBE0}"/>
              </a:ext>
            </a:extLst>
          </p:cNvPr>
          <p:cNvSpPr>
            <a:spLocks noGrp="1"/>
          </p:cNvSpPr>
          <p:nvPr/>
        </p:nvSpPr>
        <p:spPr>
          <a:xfrm>
            <a:off x="7219950" y="2324100"/>
            <a:ext cx="1924050" cy="1028700"/>
          </a:xfrm>
          <a:prstGeom prst="rect">
            <a:avLst/>
          </a:prstGeom>
          <a:solidFill>
            <a:srgbClr val="FFFFFF"/>
          </a:solidFill>
          <a:ln w="9525">
            <a:solidFill>
              <a:srgbClr val="D4C7B6"/>
            </a:solidFill>
            <a:prstDash val="solid"/>
          </a:ln>
        </p:spPr>
        <p:txBody>
          <a:bodyPr/>
          <a:lstStyle/>
          <a:p>
            <a:endParaRPr lang="fr-TN"/>
          </a:p>
        </p:txBody>
      </p:sp>
      <p:sp>
        <p:nvSpPr>
          <p:cNvPr id="23" name="Rectangle 22">
            <a:extLst>
              <a:ext uri="{FF2B5EF4-FFF2-40B4-BE49-F238E27FC236}">
                <a16:creationId xmlns:a16="http://schemas.microsoft.com/office/drawing/2014/main" id="{F8AAD31D-35DD-4A0C-873D-8CFF6FB1FF2E}"/>
              </a:ext>
            </a:extLst>
          </p:cNvPr>
          <p:cNvSpPr>
            <a:spLocks noGrp="1"/>
          </p:cNvSpPr>
          <p:nvPr/>
        </p:nvSpPr>
        <p:spPr>
          <a:xfrm>
            <a:off x="7219950" y="2324100"/>
            <a:ext cx="57150" cy="1028700"/>
          </a:xfrm>
          <a:prstGeom prst="rect">
            <a:avLst/>
          </a:prstGeom>
          <a:solidFill>
            <a:srgbClr val="0A1A2F"/>
          </a:solidFill>
          <a:ln w="0">
            <a:solidFill>
              <a:srgbClr val="000000">
                <a:alpha val="0"/>
              </a:srgbClr>
            </a:solidFill>
            <a:prstDash val="solid"/>
          </a:ln>
        </p:spPr>
        <p:txBody>
          <a:bodyPr/>
          <a:lstStyle/>
          <a:p>
            <a:endParaRPr lang="fr-TN"/>
          </a:p>
        </p:txBody>
      </p:sp>
      <p:sp>
        <p:nvSpPr>
          <p:cNvPr id="24" name="Rectangle 23">
            <a:extLst>
              <a:ext uri="{FF2B5EF4-FFF2-40B4-BE49-F238E27FC236}">
                <a16:creationId xmlns:a16="http://schemas.microsoft.com/office/drawing/2014/main" id="{1D7D6A86-D58E-46C3-925B-E90E21DF031A}"/>
              </a:ext>
            </a:extLst>
          </p:cNvPr>
          <p:cNvSpPr>
            <a:spLocks noGrp="1"/>
          </p:cNvSpPr>
          <p:nvPr/>
        </p:nvSpPr>
        <p:spPr>
          <a:xfrm>
            <a:off x="7410450" y="2476500"/>
            <a:ext cx="16573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5A6F7E"/>
                </a:solidFill>
                <a:latin typeface="Aptos"/>
                <a:ea typeface="Aptos"/>
                <a:cs typeface="Aptos"/>
              </a:defRPr>
            </a:pPr>
            <a:r>
              <a:rPr sz="975" b="0">
                <a:solidFill>
                  <a:srgbClr val="5A6F7E"/>
                </a:solidFill>
                <a:latin typeface="Aptos"/>
                <a:ea typeface="Aptos"/>
                <a:cs typeface="Aptos"/>
              </a:rPr>
              <a:t>DimTerritory</a:t>
            </a:r>
          </a:p>
        </p:txBody>
      </p:sp>
      <p:sp>
        <p:nvSpPr>
          <p:cNvPr id="25" name="Rectangle 24">
            <a:extLst>
              <a:ext uri="{FF2B5EF4-FFF2-40B4-BE49-F238E27FC236}">
                <a16:creationId xmlns:a16="http://schemas.microsoft.com/office/drawing/2014/main" id="{D514BE8B-8F5D-4B9F-9C96-7D5AA2C21B7A}"/>
              </a:ext>
            </a:extLst>
          </p:cNvPr>
          <p:cNvSpPr>
            <a:spLocks noGrp="1"/>
          </p:cNvSpPr>
          <p:nvPr/>
        </p:nvSpPr>
        <p:spPr>
          <a:xfrm>
            <a:off x="7410450" y="2743200"/>
            <a:ext cx="16573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12304C"/>
                </a:solidFill>
                <a:latin typeface="Aptos Display"/>
                <a:ea typeface="Aptos Display"/>
                <a:cs typeface="Aptos Display"/>
              </a:defRPr>
            </a:pPr>
            <a:r>
              <a:rPr sz="1950" b="1">
                <a:solidFill>
                  <a:srgbClr val="12304C"/>
                </a:solidFill>
                <a:latin typeface="Aptos Display"/>
                <a:ea typeface="Aptos Display"/>
                <a:cs typeface="Aptos Display"/>
              </a:rPr>
              <a:t>10</a:t>
            </a:r>
          </a:p>
        </p:txBody>
      </p:sp>
      <p:sp>
        <p:nvSpPr>
          <p:cNvPr id="26" name="Rectangle 25">
            <a:extLst>
              <a:ext uri="{FF2B5EF4-FFF2-40B4-BE49-F238E27FC236}">
                <a16:creationId xmlns:a16="http://schemas.microsoft.com/office/drawing/2014/main" id="{82B1DAAB-DCCE-4409-8B01-B5E0BDE91CCB}"/>
              </a:ext>
            </a:extLst>
          </p:cNvPr>
          <p:cNvSpPr>
            <a:spLocks noGrp="1"/>
          </p:cNvSpPr>
          <p:nvPr/>
        </p:nvSpPr>
        <p:spPr>
          <a:xfrm>
            <a:off x="7410450" y="3086100"/>
            <a:ext cx="16573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5A6F7E"/>
                </a:solidFill>
                <a:latin typeface="Aptos"/>
                <a:ea typeface="Aptos"/>
                <a:cs typeface="Aptos"/>
              </a:defRPr>
            </a:pPr>
            <a:r>
              <a:rPr sz="825" b="0">
                <a:solidFill>
                  <a:srgbClr val="5A6F7E"/>
                </a:solidFill>
                <a:latin typeface="Aptos"/>
                <a:ea typeface="Aptos"/>
                <a:cs typeface="Aptos"/>
              </a:rPr>
              <a:t>territoires</a:t>
            </a:r>
          </a:p>
        </p:txBody>
      </p:sp>
      <p:sp>
        <p:nvSpPr>
          <p:cNvPr id="27" name="Rectangle 26">
            <a:extLst>
              <a:ext uri="{FF2B5EF4-FFF2-40B4-BE49-F238E27FC236}">
                <a16:creationId xmlns:a16="http://schemas.microsoft.com/office/drawing/2014/main" id="{ECED19D4-1FC7-4651-BF80-DE9361EE1D25}"/>
              </a:ext>
            </a:extLst>
          </p:cNvPr>
          <p:cNvSpPr>
            <a:spLocks noGrp="1"/>
          </p:cNvSpPr>
          <p:nvPr/>
        </p:nvSpPr>
        <p:spPr>
          <a:xfrm>
            <a:off x="9334500" y="2324100"/>
            <a:ext cx="1771650" cy="1028700"/>
          </a:xfrm>
          <a:prstGeom prst="rect">
            <a:avLst/>
          </a:prstGeom>
          <a:solidFill>
            <a:srgbClr val="FFFFFF"/>
          </a:solidFill>
          <a:ln w="9525">
            <a:solidFill>
              <a:srgbClr val="D4C7B6"/>
            </a:solidFill>
            <a:prstDash val="solid"/>
          </a:ln>
        </p:spPr>
        <p:txBody>
          <a:bodyPr/>
          <a:lstStyle/>
          <a:p>
            <a:endParaRPr lang="fr-TN"/>
          </a:p>
        </p:txBody>
      </p:sp>
      <p:sp>
        <p:nvSpPr>
          <p:cNvPr id="28" name="Rectangle 27">
            <a:extLst>
              <a:ext uri="{FF2B5EF4-FFF2-40B4-BE49-F238E27FC236}">
                <a16:creationId xmlns:a16="http://schemas.microsoft.com/office/drawing/2014/main" id="{2D583EB5-382A-42D1-AFAA-E7A8C28B7AF3}"/>
              </a:ext>
            </a:extLst>
          </p:cNvPr>
          <p:cNvSpPr>
            <a:spLocks noGrp="1"/>
          </p:cNvSpPr>
          <p:nvPr/>
        </p:nvSpPr>
        <p:spPr>
          <a:xfrm>
            <a:off x="9334500" y="2324100"/>
            <a:ext cx="57150" cy="1028700"/>
          </a:xfrm>
          <a:prstGeom prst="rect">
            <a:avLst/>
          </a:prstGeom>
          <a:solidFill>
            <a:srgbClr val="0F8B8D"/>
          </a:solidFill>
          <a:ln w="0">
            <a:solidFill>
              <a:srgbClr val="000000">
                <a:alpha val="0"/>
              </a:srgbClr>
            </a:solidFill>
            <a:prstDash val="solid"/>
          </a:ln>
        </p:spPr>
        <p:txBody>
          <a:bodyPr/>
          <a:lstStyle/>
          <a:p>
            <a:endParaRPr lang="fr-TN"/>
          </a:p>
        </p:txBody>
      </p:sp>
      <p:sp>
        <p:nvSpPr>
          <p:cNvPr id="29" name="Rectangle 28">
            <a:extLst>
              <a:ext uri="{FF2B5EF4-FFF2-40B4-BE49-F238E27FC236}">
                <a16:creationId xmlns:a16="http://schemas.microsoft.com/office/drawing/2014/main" id="{7AAE729F-104F-4925-A706-AC5AA8D33016}"/>
              </a:ext>
            </a:extLst>
          </p:cNvPr>
          <p:cNvSpPr>
            <a:spLocks noGrp="1"/>
          </p:cNvSpPr>
          <p:nvPr/>
        </p:nvSpPr>
        <p:spPr>
          <a:xfrm>
            <a:off x="9525000" y="2476500"/>
            <a:ext cx="15049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5A6F7E"/>
                </a:solidFill>
                <a:latin typeface="Aptos"/>
                <a:ea typeface="Aptos"/>
                <a:cs typeface="Aptos"/>
              </a:defRPr>
            </a:pPr>
            <a:r>
              <a:rPr sz="975" b="0">
                <a:solidFill>
                  <a:srgbClr val="5A6F7E"/>
                </a:solidFill>
                <a:latin typeface="Aptos"/>
                <a:ea typeface="Aptos"/>
                <a:cs typeface="Aptos"/>
              </a:rPr>
              <a:t>FactSales</a:t>
            </a:r>
          </a:p>
        </p:txBody>
      </p:sp>
      <p:sp>
        <p:nvSpPr>
          <p:cNvPr id="30" name="Rectangle 29">
            <a:extLst>
              <a:ext uri="{FF2B5EF4-FFF2-40B4-BE49-F238E27FC236}">
                <a16:creationId xmlns:a16="http://schemas.microsoft.com/office/drawing/2014/main" id="{D2BF7576-DB80-4427-8737-8490CE58FB2E}"/>
              </a:ext>
            </a:extLst>
          </p:cNvPr>
          <p:cNvSpPr>
            <a:spLocks noGrp="1"/>
          </p:cNvSpPr>
          <p:nvPr/>
        </p:nvSpPr>
        <p:spPr>
          <a:xfrm>
            <a:off x="9525000" y="2743200"/>
            <a:ext cx="15049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12304C"/>
                </a:solidFill>
                <a:latin typeface="Aptos Display"/>
                <a:ea typeface="Aptos Display"/>
                <a:cs typeface="Aptos Display"/>
              </a:defRPr>
            </a:pPr>
            <a:r>
              <a:rPr sz="1950" b="1">
                <a:solidFill>
                  <a:srgbClr val="12304C"/>
                </a:solidFill>
                <a:latin typeface="Aptos Display"/>
                <a:ea typeface="Aptos Display"/>
                <a:cs typeface="Aptos Display"/>
              </a:rPr>
              <a:t>~60 855</a:t>
            </a:r>
          </a:p>
        </p:txBody>
      </p:sp>
      <p:sp>
        <p:nvSpPr>
          <p:cNvPr id="31" name="Rectangle 30">
            <a:extLst>
              <a:ext uri="{FF2B5EF4-FFF2-40B4-BE49-F238E27FC236}">
                <a16:creationId xmlns:a16="http://schemas.microsoft.com/office/drawing/2014/main" id="{7A78EAAA-A3B7-4B05-95AD-5886C7457AC8}"/>
              </a:ext>
            </a:extLst>
          </p:cNvPr>
          <p:cNvSpPr>
            <a:spLocks noGrp="1"/>
          </p:cNvSpPr>
          <p:nvPr/>
        </p:nvSpPr>
        <p:spPr>
          <a:xfrm>
            <a:off x="9525000" y="3086100"/>
            <a:ext cx="15049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5A6F7E"/>
                </a:solidFill>
                <a:latin typeface="Aptos"/>
                <a:ea typeface="Aptos"/>
                <a:cs typeface="Aptos"/>
              </a:defRPr>
            </a:pPr>
            <a:r>
              <a:rPr sz="825" b="0">
                <a:solidFill>
                  <a:srgbClr val="5A6F7E"/>
                </a:solidFill>
                <a:latin typeface="Aptos"/>
                <a:ea typeface="Aptos"/>
                <a:cs typeface="Aptos"/>
              </a:rPr>
              <a:t>ventes livrées</a:t>
            </a:r>
          </a:p>
        </p:txBody>
      </p:sp>
      <p:sp>
        <p:nvSpPr>
          <p:cNvPr id="32" name="Rectangle 31">
            <a:extLst>
              <a:ext uri="{FF2B5EF4-FFF2-40B4-BE49-F238E27FC236}">
                <a16:creationId xmlns:a16="http://schemas.microsoft.com/office/drawing/2014/main" id="{65E7E598-4DE8-49EA-BAAA-C541890CE2F0}"/>
              </a:ext>
            </a:extLst>
          </p:cNvPr>
          <p:cNvSpPr>
            <a:spLocks noGrp="1"/>
          </p:cNvSpPr>
          <p:nvPr/>
        </p:nvSpPr>
        <p:spPr>
          <a:xfrm>
            <a:off x="876300" y="3848100"/>
            <a:ext cx="4610100" cy="1924050"/>
          </a:xfrm>
          <a:prstGeom prst="rect">
            <a:avLst/>
          </a:prstGeom>
          <a:solidFill>
            <a:srgbClr val="FFFFFF"/>
          </a:solidFill>
          <a:ln w="9525">
            <a:solidFill>
              <a:srgbClr val="D4C7B6"/>
            </a:solidFill>
            <a:prstDash val="solid"/>
          </a:ln>
        </p:spPr>
        <p:txBody>
          <a:bodyPr/>
          <a:lstStyle/>
          <a:p>
            <a:endParaRPr lang="fr-TN"/>
          </a:p>
        </p:txBody>
      </p:sp>
      <p:sp>
        <p:nvSpPr>
          <p:cNvPr id="33" name="Rectangle 32">
            <a:extLst>
              <a:ext uri="{FF2B5EF4-FFF2-40B4-BE49-F238E27FC236}">
                <a16:creationId xmlns:a16="http://schemas.microsoft.com/office/drawing/2014/main" id="{3F89938C-F3C1-48E1-A1EB-4DE75832D0CE}"/>
              </a:ext>
            </a:extLst>
          </p:cNvPr>
          <p:cNvSpPr>
            <a:spLocks noGrp="1"/>
          </p:cNvSpPr>
          <p:nvPr/>
        </p:nvSpPr>
        <p:spPr>
          <a:xfrm>
            <a:off x="1123950" y="4114800"/>
            <a:ext cx="1905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2304C"/>
                </a:solidFill>
                <a:latin typeface="Aptos"/>
                <a:ea typeface="Aptos"/>
                <a:cs typeface="Aptos"/>
              </a:defRPr>
            </a:pPr>
            <a:r>
              <a:rPr sz="1350" b="1">
                <a:solidFill>
                  <a:srgbClr val="12304C"/>
                </a:solidFill>
                <a:latin typeface="Aptos"/>
                <a:ea typeface="Aptos"/>
                <a:cs typeface="Aptos"/>
              </a:rPr>
              <a:t>Ce que cela prouve</a:t>
            </a:r>
          </a:p>
        </p:txBody>
      </p:sp>
      <p:sp>
        <p:nvSpPr>
          <p:cNvPr id="34" name="Rectangle 33">
            <a:extLst>
              <a:ext uri="{FF2B5EF4-FFF2-40B4-BE49-F238E27FC236}">
                <a16:creationId xmlns:a16="http://schemas.microsoft.com/office/drawing/2014/main" id="{85E39CA4-467A-4BF6-8DC7-A35DF4AF0788}"/>
              </a:ext>
            </a:extLst>
          </p:cNvPr>
          <p:cNvSpPr>
            <a:spLocks noGrp="1"/>
          </p:cNvSpPr>
          <p:nvPr/>
        </p:nvSpPr>
        <p:spPr>
          <a:xfrm>
            <a:off x="1123950" y="4495800"/>
            <a:ext cx="3733800" cy="990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5A6F7E"/>
                </a:solidFill>
                <a:latin typeface="Aptos"/>
                <a:ea typeface="Aptos"/>
                <a:cs typeface="Aptos"/>
              </a:defRPr>
            </a:pPr>
            <a:r>
              <a:rPr sz="1125" b="0">
                <a:solidFill>
                  <a:srgbClr val="5A6F7E"/>
                </a:solidFill>
                <a:latin typeface="Aptos"/>
                <a:ea typeface="Aptos"/>
                <a:cs typeface="Aptos"/>
              </a:rPr>
              <a:t>Le DW est correctement alimenté.</a:t>
            </a:r>
          </a:p>
          <a:p>
            <a:pPr algn="l">
              <a:defRPr sz="1125" b="0">
                <a:solidFill>
                  <a:srgbClr val="5A6F7E"/>
                </a:solidFill>
                <a:latin typeface="Aptos"/>
                <a:ea typeface="Aptos"/>
                <a:cs typeface="Aptos"/>
              </a:defRPr>
            </a:pPr>
            <a:r>
              <a:rPr sz="1125" b="0">
                <a:solidFill>
                  <a:srgbClr val="5A6F7E"/>
                </a:solidFill>
                <a:latin typeface="Aptos"/>
                <a:ea typeface="Aptos"/>
                <a:cs typeface="Aptos"/>
              </a:rPr>
              <a:t>Les dimensions couvrent les axes métier utiles.</a:t>
            </a:r>
          </a:p>
          <a:p>
            <a:pPr algn="l">
              <a:defRPr sz="1125" b="0">
                <a:solidFill>
                  <a:srgbClr val="5A6F7E"/>
                </a:solidFill>
                <a:latin typeface="Aptos"/>
                <a:ea typeface="Aptos"/>
                <a:cs typeface="Aptos"/>
              </a:defRPr>
            </a:pPr>
            <a:r>
              <a:rPr sz="1125" b="0">
                <a:solidFill>
                  <a:srgbClr val="5A6F7E"/>
                </a:solidFill>
                <a:latin typeface="Aptos"/>
                <a:ea typeface="Aptos"/>
                <a:cs typeface="Aptos"/>
              </a:rPr>
              <a:t>La table de faits a un volume suffisant pour des analyses crédibles.</a:t>
            </a:r>
          </a:p>
          <a:p>
            <a:pPr algn="l">
              <a:defRPr sz="1125" b="0">
                <a:solidFill>
                  <a:srgbClr val="5A6F7E"/>
                </a:solidFill>
                <a:latin typeface="Aptos"/>
                <a:ea typeface="Aptos"/>
                <a:cs typeface="Aptos"/>
              </a:defRPr>
            </a:pPr>
            <a:r>
              <a:rPr sz="1125" b="0">
                <a:solidFill>
                  <a:srgbClr val="5A6F7E"/>
                </a:solidFill>
                <a:latin typeface="Aptos"/>
                <a:ea typeface="Aptos"/>
                <a:cs typeface="Aptos"/>
              </a:rPr>
              <a:t>Le cube et le dashboard reposent sur une base stable.</a:t>
            </a:r>
          </a:p>
        </p:txBody>
      </p:sp>
      <p:sp>
        <p:nvSpPr>
          <p:cNvPr id="35" name="Rectangle 34">
            <a:extLst>
              <a:ext uri="{FF2B5EF4-FFF2-40B4-BE49-F238E27FC236}">
                <a16:creationId xmlns:a16="http://schemas.microsoft.com/office/drawing/2014/main" id="{C35C91C1-B3B9-4203-BFBB-3EDA91503143}"/>
              </a:ext>
            </a:extLst>
          </p:cNvPr>
          <p:cNvSpPr>
            <a:spLocks noGrp="1"/>
          </p:cNvSpPr>
          <p:nvPr/>
        </p:nvSpPr>
        <p:spPr>
          <a:xfrm>
            <a:off x="6096000" y="3848100"/>
            <a:ext cx="5010150" cy="2075180"/>
          </a:xfrm>
          <a:prstGeom prst="rect">
            <a:avLst/>
          </a:prstGeom>
          <a:solidFill>
            <a:srgbClr val="0A1A2F"/>
          </a:solidFill>
          <a:ln w="0">
            <a:solidFill>
              <a:srgbClr val="000000">
                <a:alpha val="0"/>
              </a:srgbClr>
            </a:solidFill>
            <a:prstDash val="solid"/>
          </a:ln>
        </p:spPr>
        <p:txBody>
          <a:bodyPr/>
          <a:lstStyle/>
          <a:p>
            <a:endParaRPr lang="fr-TN"/>
          </a:p>
        </p:txBody>
      </p:sp>
      <p:sp>
        <p:nvSpPr>
          <p:cNvPr id="36" name="Rectangle 35">
            <a:extLst>
              <a:ext uri="{FF2B5EF4-FFF2-40B4-BE49-F238E27FC236}">
                <a16:creationId xmlns:a16="http://schemas.microsoft.com/office/drawing/2014/main" id="{D8A79D90-8E51-4145-A180-43D8A0555561}"/>
              </a:ext>
            </a:extLst>
          </p:cNvPr>
          <p:cNvSpPr>
            <a:spLocks noGrp="1"/>
          </p:cNvSpPr>
          <p:nvPr/>
        </p:nvSpPr>
        <p:spPr>
          <a:xfrm>
            <a:off x="6400800" y="4114800"/>
            <a:ext cx="21907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FFFFFF"/>
                </a:solidFill>
                <a:latin typeface="Aptos"/>
                <a:ea typeface="Aptos"/>
                <a:cs typeface="Aptos"/>
              </a:defRPr>
            </a:pPr>
            <a:r>
              <a:rPr sz="1350" b="1">
                <a:solidFill>
                  <a:srgbClr val="FFFFFF"/>
                </a:solidFill>
                <a:latin typeface="Aptos"/>
                <a:ea typeface="Aptos"/>
                <a:cs typeface="Aptos"/>
              </a:rPr>
              <a:t>Conclusion à prononcer</a:t>
            </a:r>
          </a:p>
        </p:txBody>
      </p:sp>
      <p:sp>
        <p:nvSpPr>
          <p:cNvPr id="37" name="Rectangle 36">
            <a:extLst>
              <a:ext uri="{FF2B5EF4-FFF2-40B4-BE49-F238E27FC236}">
                <a16:creationId xmlns:a16="http://schemas.microsoft.com/office/drawing/2014/main" id="{2E558DF3-087F-41CC-B0BA-1F14EF43819C}"/>
              </a:ext>
            </a:extLst>
          </p:cNvPr>
          <p:cNvSpPr>
            <a:spLocks noGrp="1"/>
          </p:cNvSpPr>
          <p:nvPr/>
        </p:nvSpPr>
        <p:spPr>
          <a:xfrm>
            <a:off x="6400800" y="4495800"/>
            <a:ext cx="4133850" cy="723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DCE7F0"/>
                </a:solidFill>
                <a:latin typeface="Aptos"/>
                <a:ea typeface="Aptos"/>
                <a:cs typeface="Aptos"/>
              </a:defRPr>
            </a:pPr>
            <a:r>
              <a:rPr sz="1200" b="0" dirty="0">
                <a:solidFill>
                  <a:srgbClr val="DCE7F0"/>
                </a:solidFill>
                <a:latin typeface="Aptos"/>
                <a:ea typeface="Aptos"/>
                <a:cs typeface="Aptos"/>
              </a:rPr>
              <a:t>En conclusion, </a:t>
            </a:r>
            <a:r>
              <a:rPr lang="fr-FR" sz="1200" b="0" dirty="0">
                <a:solidFill>
                  <a:srgbClr val="DCE7F0"/>
                </a:solidFill>
                <a:latin typeface="Aptos"/>
                <a:ea typeface="Aptos"/>
                <a:cs typeface="Aptos"/>
              </a:rPr>
              <a:t>mon</a:t>
            </a:r>
            <a:r>
              <a:rPr sz="1200" b="0" dirty="0">
                <a:solidFill>
                  <a:srgbClr val="DCE7F0"/>
                </a:solidFill>
                <a:latin typeface="Aptos"/>
                <a:ea typeface="Aptos"/>
                <a:cs typeface="Aptos"/>
              </a:rPr>
              <a:t> </a:t>
            </a:r>
            <a:r>
              <a:rPr sz="1200" b="0" dirty="0" err="1">
                <a:solidFill>
                  <a:srgbClr val="DCE7F0"/>
                </a:solidFill>
                <a:latin typeface="Aptos"/>
                <a:ea typeface="Aptos"/>
                <a:cs typeface="Aptos"/>
              </a:rPr>
              <a:t>projet</a:t>
            </a:r>
            <a:r>
              <a:rPr sz="1200" b="0" dirty="0">
                <a:solidFill>
                  <a:srgbClr val="DCE7F0"/>
                </a:solidFill>
                <a:latin typeface="Aptos"/>
                <a:ea typeface="Aptos"/>
                <a:cs typeface="Aptos"/>
              </a:rPr>
              <a:t> montre comment transformer </a:t>
            </a:r>
            <a:r>
              <a:rPr sz="1200" b="0" dirty="0" err="1">
                <a:solidFill>
                  <a:srgbClr val="DCE7F0"/>
                </a:solidFill>
                <a:latin typeface="Aptos"/>
                <a:ea typeface="Aptos"/>
                <a:cs typeface="Aptos"/>
              </a:rPr>
              <a:t>une</a:t>
            </a:r>
            <a:r>
              <a:rPr sz="1200" b="0" dirty="0">
                <a:solidFill>
                  <a:srgbClr val="DCE7F0"/>
                </a:solidFill>
                <a:latin typeface="Aptos"/>
                <a:ea typeface="Aptos"/>
                <a:cs typeface="Aptos"/>
              </a:rPr>
              <a:t> base </a:t>
            </a:r>
            <a:r>
              <a:rPr sz="1200" b="0" dirty="0" err="1">
                <a:solidFill>
                  <a:srgbClr val="DCE7F0"/>
                </a:solidFill>
                <a:latin typeface="Aptos"/>
                <a:ea typeface="Aptos"/>
                <a:cs typeface="Aptos"/>
              </a:rPr>
              <a:t>transactionnelle</a:t>
            </a:r>
            <a:r>
              <a:rPr sz="1200" b="0" dirty="0">
                <a:solidFill>
                  <a:srgbClr val="DCE7F0"/>
                </a:solidFill>
                <a:latin typeface="Aptos"/>
                <a:ea typeface="Aptos"/>
                <a:cs typeface="Aptos"/>
              </a:rPr>
              <a:t> </a:t>
            </a:r>
            <a:r>
              <a:rPr sz="1200" b="0" dirty="0" err="1">
                <a:solidFill>
                  <a:srgbClr val="DCE7F0"/>
                </a:solidFill>
                <a:latin typeface="Aptos"/>
                <a:ea typeface="Aptos"/>
                <a:cs typeface="Aptos"/>
              </a:rPr>
              <a:t>en</a:t>
            </a:r>
            <a:r>
              <a:rPr sz="1200" b="0" dirty="0">
                <a:solidFill>
                  <a:srgbClr val="DCE7F0"/>
                </a:solidFill>
                <a:latin typeface="Aptos"/>
                <a:ea typeface="Aptos"/>
                <a:cs typeface="Aptos"/>
              </a:rPr>
              <a:t> un </a:t>
            </a:r>
            <a:r>
              <a:rPr sz="1200" b="0" dirty="0" err="1">
                <a:solidFill>
                  <a:srgbClr val="DCE7F0"/>
                </a:solidFill>
                <a:latin typeface="Aptos"/>
                <a:ea typeface="Aptos"/>
                <a:cs typeface="Aptos"/>
              </a:rPr>
              <a:t>système</a:t>
            </a:r>
            <a:r>
              <a:rPr sz="1200" b="0" dirty="0">
                <a:solidFill>
                  <a:srgbClr val="DCE7F0"/>
                </a:solidFill>
                <a:latin typeface="Aptos"/>
                <a:ea typeface="Aptos"/>
                <a:cs typeface="Aptos"/>
              </a:rPr>
              <a:t> </a:t>
            </a:r>
            <a:r>
              <a:rPr sz="1200" b="0" dirty="0" err="1">
                <a:solidFill>
                  <a:srgbClr val="DCE7F0"/>
                </a:solidFill>
                <a:latin typeface="Aptos"/>
                <a:ea typeface="Aptos"/>
                <a:cs typeface="Aptos"/>
              </a:rPr>
              <a:t>décisionnel</a:t>
            </a:r>
            <a:r>
              <a:rPr sz="1200" b="0" dirty="0">
                <a:solidFill>
                  <a:srgbClr val="DCE7F0"/>
                </a:solidFill>
                <a:latin typeface="Aptos"/>
                <a:ea typeface="Aptos"/>
                <a:cs typeface="Aptos"/>
              </a:rPr>
              <a:t> </a:t>
            </a:r>
            <a:r>
              <a:rPr sz="1200" b="0" dirty="0" err="1">
                <a:solidFill>
                  <a:srgbClr val="DCE7F0"/>
                </a:solidFill>
                <a:latin typeface="Aptos"/>
                <a:ea typeface="Aptos"/>
                <a:cs typeface="Aptos"/>
              </a:rPr>
              <a:t>complet</a:t>
            </a:r>
            <a:r>
              <a:rPr sz="1200" b="0" dirty="0">
                <a:solidFill>
                  <a:srgbClr val="DCE7F0"/>
                </a:solidFill>
                <a:latin typeface="Aptos"/>
                <a:ea typeface="Aptos"/>
                <a:cs typeface="Aptos"/>
              </a:rPr>
              <a:t>, </a:t>
            </a:r>
            <a:r>
              <a:rPr sz="1200" b="0" dirty="0" err="1">
                <a:solidFill>
                  <a:srgbClr val="DCE7F0"/>
                </a:solidFill>
                <a:latin typeface="Aptos"/>
                <a:ea typeface="Aptos"/>
                <a:cs typeface="Aptos"/>
              </a:rPr>
              <a:t>structuré</a:t>
            </a:r>
            <a:r>
              <a:rPr sz="1200" b="0" dirty="0">
                <a:solidFill>
                  <a:srgbClr val="DCE7F0"/>
                </a:solidFill>
                <a:latin typeface="Aptos"/>
                <a:ea typeface="Aptos"/>
                <a:cs typeface="Aptos"/>
              </a:rPr>
              <a:t>, </a:t>
            </a:r>
            <a:r>
              <a:rPr sz="1200" b="0" dirty="0" err="1">
                <a:solidFill>
                  <a:srgbClr val="DCE7F0"/>
                </a:solidFill>
                <a:latin typeface="Aptos"/>
                <a:ea typeface="Aptos"/>
                <a:cs typeface="Aptos"/>
              </a:rPr>
              <a:t>automatisé</a:t>
            </a:r>
            <a:r>
              <a:rPr sz="1200" b="0" dirty="0">
                <a:solidFill>
                  <a:srgbClr val="DCE7F0"/>
                </a:solidFill>
                <a:latin typeface="Aptos"/>
                <a:ea typeface="Aptos"/>
                <a:cs typeface="Aptos"/>
              </a:rPr>
              <a:t> et </a:t>
            </a:r>
            <a:r>
              <a:rPr sz="1200" b="0" dirty="0" err="1">
                <a:solidFill>
                  <a:srgbClr val="DCE7F0"/>
                </a:solidFill>
                <a:latin typeface="Aptos"/>
                <a:ea typeface="Aptos"/>
                <a:cs typeface="Aptos"/>
              </a:rPr>
              <a:t>orienté</a:t>
            </a:r>
            <a:r>
              <a:rPr sz="1200" b="0" dirty="0">
                <a:solidFill>
                  <a:srgbClr val="DCE7F0"/>
                </a:solidFill>
                <a:latin typeface="Aptos"/>
                <a:ea typeface="Aptos"/>
                <a:cs typeface="Aptos"/>
              </a:rPr>
              <a:t> pilotage.</a:t>
            </a:r>
          </a:p>
        </p:txBody>
      </p:sp>
      <p:sp>
        <p:nvSpPr>
          <p:cNvPr id="38" name="Rectangle 37">
            <a:extLst>
              <a:ext uri="{FF2B5EF4-FFF2-40B4-BE49-F238E27FC236}">
                <a16:creationId xmlns:a16="http://schemas.microsoft.com/office/drawing/2014/main" id="{B400F348-BE67-43AF-A75C-543486D955E7}"/>
              </a:ext>
            </a:extLst>
          </p:cNvPr>
          <p:cNvSpPr>
            <a:spLocks noGrp="1"/>
          </p:cNvSpPr>
          <p:nvPr/>
        </p:nvSpPr>
        <p:spPr>
          <a:xfrm>
            <a:off x="6400800" y="5372100"/>
            <a:ext cx="342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FFFFFF"/>
                </a:solidFill>
                <a:latin typeface="Aptos"/>
                <a:ea typeface="Aptos"/>
                <a:cs typeface="Aptos"/>
              </a:defRPr>
            </a:pPr>
            <a:r>
              <a:rPr sz="1200" b="1" dirty="0">
                <a:solidFill>
                  <a:srgbClr val="FFFFFF"/>
                </a:solidFill>
                <a:latin typeface="Aptos"/>
                <a:ea typeface="Aptos"/>
                <a:cs typeface="Aptos"/>
              </a:rPr>
              <a:t>Mot final : </a:t>
            </a:r>
            <a:r>
              <a:rPr sz="1200" b="1" dirty="0" err="1">
                <a:solidFill>
                  <a:srgbClr val="FFFFFF"/>
                </a:solidFill>
                <a:latin typeface="Aptos"/>
                <a:ea typeface="Aptos"/>
                <a:cs typeface="Aptos"/>
              </a:rPr>
              <a:t>une</a:t>
            </a:r>
            <a:r>
              <a:rPr sz="1200" b="1" dirty="0">
                <a:solidFill>
                  <a:srgbClr val="FFFFFF"/>
                </a:solidFill>
                <a:latin typeface="Aptos"/>
                <a:ea typeface="Aptos"/>
                <a:cs typeface="Aptos"/>
              </a:rPr>
              <a:t> </a:t>
            </a:r>
            <a:r>
              <a:rPr sz="1200" b="1" dirty="0" err="1">
                <a:solidFill>
                  <a:srgbClr val="FFFFFF"/>
                </a:solidFill>
                <a:latin typeface="Aptos"/>
                <a:ea typeface="Aptos"/>
                <a:cs typeface="Aptos"/>
              </a:rPr>
              <a:t>chaîne</a:t>
            </a:r>
            <a:r>
              <a:rPr sz="1200" b="1" dirty="0">
                <a:solidFill>
                  <a:srgbClr val="FFFFFF"/>
                </a:solidFill>
                <a:latin typeface="Aptos"/>
                <a:ea typeface="Aptos"/>
                <a:cs typeface="Aptos"/>
              </a:rPr>
              <a:t> BI </a:t>
            </a:r>
            <a:r>
              <a:rPr sz="1200" b="1" dirty="0" err="1">
                <a:solidFill>
                  <a:srgbClr val="FFFFFF"/>
                </a:solidFill>
                <a:latin typeface="Aptos"/>
                <a:ea typeface="Aptos"/>
                <a:cs typeface="Aptos"/>
              </a:rPr>
              <a:t>maîtrisée</a:t>
            </a:r>
            <a:r>
              <a:rPr sz="1200" b="1" dirty="0">
                <a:solidFill>
                  <a:srgbClr val="FFFFFF"/>
                </a:solidFill>
                <a:latin typeface="Aptos"/>
                <a:ea typeface="Aptos"/>
                <a:cs typeface="Aptos"/>
              </a:rPr>
              <a:t> de bout </a:t>
            </a:r>
            <a:r>
              <a:rPr sz="1200" b="1" dirty="0" err="1">
                <a:solidFill>
                  <a:srgbClr val="FFFFFF"/>
                </a:solidFill>
                <a:latin typeface="Aptos"/>
                <a:ea typeface="Aptos"/>
                <a:cs typeface="Aptos"/>
              </a:rPr>
              <a:t>en</a:t>
            </a:r>
            <a:r>
              <a:rPr sz="1200" b="1" dirty="0">
                <a:solidFill>
                  <a:srgbClr val="FFFFFF"/>
                </a:solidFill>
                <a:latin typeface="Aptos"/>
                <a:ea typeface="Aptos"/>
                <a:cs typeface="Aptos"/>
              </a:rPr>
              <a:t> bout.</a:t>
            </a:r>
          </a:p>
        </p:txBody>
      </p:sp>
      <p:sp>
        <p:nvSpPr>
          <p:cNvPr id="39" name="Rectangle 38">
            <a:extLst>
              <a:ext uri="{FF2B5EF4-FFF2-40B4-BE49-F238E27FC236}">
                <a16:creationId xmlns:a16="http://schemas.microsoft.com/office/drawing/2014/main" id="{CD8EE685-C7A9-4A76-9D71-CEB23EE400B2}"/>
              </a:ext>
            </a:extLst>
          </p:cNvPr>
          <p:cNvSpPr>
            <a:spLocks noGrp="1"/>
          </p:cNvSpPr>
          <p:nvPr/>
        </p:nvSpPr>
        <p:spPr>
          <a:xfrm>
            <a:off x="704850" y="6515100"/>
            <a:ext cx="5715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5A6F7E"/>
                </a:solidFill>
                <a:latin typeface="Aptos"/>
                <a:ea typeface="Aptos"/>
                <a:cs typeface="Aptos"/>
              </a:defRPr>
            </a:pPr>
            <a:r>
              <a:rPr sz="825" b="0">
                <a:solidFill>
                  <a:srgbClr val="5A6F7E"/>
                </a:solidFill>
                <a:latin typeface="Aptos"/>
                <a:ea typeface="Aptos"/>
                <a:cs typeface="Aptos"/>
              </a:rPr>
              <a:t>Soutenance · conclusion</a:t>
            </a:r>
          </a:p>
        </p:txBody>
      </p:sp>
      <p:sp>
        <p:nvSpPr>
          <p:cNvPr id="40" name="Rectangle 39">
            <a:extLst>
              <a:ext uri="{FF2B5EF4-FFF2-40B4-BE49-F238E27FC236}">
                <a16:creationId xmlns:a16="http://schemas.microsoft.com/office/drawing/2014/main" id="{1BFB9983-4FF0-47A5-AB29-D6DD8AD8472D}"/>
              </a:ext>
            </a:extLst>
          </p:cNvPr>
          <p:cNvSpPr>
            <a:spLocks noGrp="1"/>
          </p:cNvSpPr>
          <p:nvPr/>
        </p:nvSpPr>
        <p:spPr>
          <a:xfrm>
            <a:off x="9258300" y="6515100"/>
            <a:ext cx="2286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0">
                <a:solidFill>
                  <a:srgbClr val="5A6F7E"/>
                </a:solidFill>
                <a:latin typeface="Aptos"/>
                <a:ea typeface="Aptos"/>
                <a:cs typeface="Aptos"/>
              </a:defRPr>
            </a:pPr>
            <a:r>
              <a:rPr sz="825" b="0">
                <a:solidFill>
                  <a:srgbClr val="5A6F7E"/>
                </a:solidFill>
                <a:latin typeface="Aptos"/>
                <a:ea typeface="Aptos"/>
                <a:cs typeface="Aptos"/>
              </a:rPr>
              <a:t>Projet BI AdventureWorks</a:t>
            </a:r>
          </a:p>
        </p:txBody>
      </p:sp>
      <p:sp>
        <p:nvSpPr>
          <p:cNvPr id="42" name="Ellipse 41">
            <a:extLst>
              <a:ext uri="{FF2B5EF4-FFF2-40B4-BE49-F238E27FC236}">
                <a16:creationId xmlns:a16="http://schemas.microsoft.com/office/drawing/2014/main" id="{383BB7BB-973B-7382-A016-747ED1324FFE}"/>
              </a:ext>
            </a:extLst>
          </p:cNvPr>
          <p:cNvSpPr/>
          <p:nvPr/>
        </p:nvSpPr>
        <p:spPr>
          <a:xfrm>
            <a:off x="11845290" y="6512560"/>
            <a:ext cx="304800" cy="30988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FR" b="1" dirty="0">
                <a:ln w="22225">
                  <a:solidFill>
                    <a:schemeClr val="accent2"/>
                  </a:solidFill>
                  <a:prstDash val="solid"/>
                </a:ln>
                <a:solidFill>
                  <a:schemeClr val="accent2">
                    <a:lumMod val="40000"/>
                    <a:lumOff val="60000"/>
                  </a:schemeClr>
                </a:solidFill>
              </a:rPr>
              <a:t>8</a:t>
            </a:r>
            <a:endParaRPr lang="fr-TN" b="1" dirty="0">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16746673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1F35A-5D6D-FCA1-6012-0201AF646CCE}"/>
            </a:ext>
          </a:extLst>
        </p:cNvPr>
        <p:cNvGrpSpPr/>
        <p:nvPr/>
      </p:nvGrpSpPr>
      <p:grpSpPr>
        <a:xfrm>
          <a:off x="0" y="0"/>
          <a:ext cx="0" cy="0"/>
          <a:chOff x="0" y="0"/>
          <a:chExt cx="0" cy="0"/>
        </a:xfrm>
      </p:grpSpPr>
      <p:sp>
        <p:nvSpPr>
          <p:cNvPr id="41" name="Rectangle 40">
            <a:extLst>
              <a:ext uri="{FF2B5EF4-FFF2-40B4-BE49-F238E27FC236}">
                <a16:creationId xmlns:a16="http://schemas.microsoft.com/office/drawing/2014/main" id="{02C4AB8E-08A6-47BD-88BB-F2701D334415}"/>
              </a:ext>
            </a:extLst>
          </p:cNvPr>
          <p:cNvSpPr>
            <a:spLocks noGrp="1"/>
          </p:cNvSpPr>
          <p:nvPr/>
        </p:nvSpPr>
        <p:spPr>
          <a:xfrm>
            <a:off x="0" y="0"/>
            <a:ext cx="12192000" cy="6858000"/>
          </a:xfrm>
          <a:prstGeom prst="rect">
            <a:avLst/>
          </a:prstGeom>
          <a:solidFill>
            <a:srgbClr val="F6F0E7"/>
          </a:solidFill>
          <a:ln w="0">
            <a:solidFill>
              <a:srgbClr val="000000">
                <a:alpha val="0"/>
              </a:srgbClr>
            </a:solidFill>
            <a:prstDash val="solid"/>
          </a:ln>
        </p:spPr>
        <p:txBody>
          <a:bodyPr/>
          <a:lstStyle/>
          <a:p>
            <a:endParaRPr lang="fr-TN" sz="13800"/>
          </a:p>
        </p:txBody>
      </p:sp>
      <p:sp>
        <p:nvSpPr>
          <p:cNvPr id="2" name="Rectangle 1">
            <a:extLst>
              <a:ext uri="{FF2B5EF4-FFF2-40B4-BE49-F238E27FC236}">
                <a16:creationId xmlns:a16="http://schemas.microsoft.com/office/drawing/2014/main" id="{5563B3F0-908D-1141-FE9F-998D9BFF3861}"/>
              </a:ext>
            </a:extLst>
          </p:cNvPr>
          <p:cNvSpPr>
            <a:spLocks noGrp="1"/>
          </p:cNvSpPr>
          <p:nvPr/>
        </p:nvSpPr>
        <p:spPr>
          <a:xfrm>
            <a:off x="0" y="0"/>
            <a:ext cx="12192000" cy="247650"/>
          </a:xfrm>
          <a:prstGeom prst="rect">
            <a:avLst/>
          </a:prstGeom>
          <a:solidFill>
            <a:srgbClr val="0A1A2F"/>
          </a:solidFill>
          <a:ln w="0">
            <a:solidFill>
              <a:srgbClr val="000000">
                <a:alpha val="0"/>
              </a:srgbClr>
            </a:solidFill>
            <a:prstDash val="solid"/>
          </a:ln>
        </p:spPr>
        <p:txBody>
          <a:bodyPr/>
          <a:lstStyle/>
          <a:p>
            <a:endParaRPr lang="fr-TN" sz="13800"/>
          </a:p>
        </p:txBody>
      </p:sp>
      <p:sp>
        <p:nvSpPr>
          <p:cNvPr id="3" name="Rectangle 2">
            <a:extLst>
              <a:ext uri="{FF2B5EF4-FFF2-40B4-BE49-F238E27FC236}">
                <a16:creationId xmlns:a16="http://schemas.microsoft.com/office/drawing/2014/main" id="{3FB642F6-7A54-2E4C-0B5B-350F7C7015E6}"/>
              </a:ext>
            </a:extLst>
          </p:cNvPr>
          <p:cNvSpPr>
            <a:spLocks noGrp="1"/>
          </p:cNvSpPr>
          <p:nvPr/>
        </p:nvSpPr>
        <p:spPr>
          <a:xfrm>
            <a:off x="0" y="247650"/>
            <a:ext cx="2095500" cy="57150"/>
          </a:xfrm>
          <a:prstGeom prst="rect">
            <a:avLst/>
          </a:prstGeom>
          <a:solidFill>
            <a:srgbClr val="E07A5F"/>
          </a:solidFill>
          <a:ln w="0">
            <a:solidFill>
              <a:srgbClr val="000000">
                <a:alpha val="0"/>
              </a:srgbClr>
            </a:solidFill>
            <a:prstDash val="solid"/>
          </a:ln>
        </p:spPr>
        <p:txBody>
          <a:bodyPr/>
          <a:lstStyle/>
          <a:p>
            <a:endParaRPr lang="fr-TN" sz="13800"/>
          </a:p>
        </p:txBody>
      </p:sp>
      <p:sp>
        <p:nvSpPr>
          <p:cNvPr id="32" name="Rectangle 31">
            <a:extLst>
              <a:ext uri="{FF2B5EF4-FFF2-40B4-BE49-F238E27FC236}">
                <a16:creationId xmlns:a16="http://schemas.microsoft.com/office/drawing/2014/main" id="{59D570C4-C886-135D-A4AF-EB10753551C5}"/>
              </a:ext>
            </a:extLst>
          </p:cNvPr>
          <p:cNvSpPr>
            <a:spLocks noGrp="1"/>
          </p:cNvSpPr>
          <p:nvPr/>
        </p:nvSpPr>
        <p:spPr>
          <a:xfrm>
            <a:off x="1584960" y="2720975"/>
            <a:ext cx="9022080" cy="2105660"/>
          </a:xfrm>
          <a:prstGeom prst="rect">
            <a:avLst/>
          </a:prstGeom>
          <a:solidFill>
            <a:srgbClr val="FFFFFF"/>
          </a:solidFill>
          <a:ln w="9525">
            <a:solidFill>
              <a:srgbClr val="D4C7B6"/>
            </a:solidFill>
            <a:prstDash val="solid"/>
          </a:ln>
        </p:spPr>
        <p:txBody>
          <a:bodyPr/>
          <a:lstStyle/>
          <a:p>
            <a:endParaRPr lang="fr-TN" sz="13800"/>
          </a:p>
        </p:txBody>
      </p:sp>
      <p:sp>
        <p:nvSpPr>
          <p:cNvPr id="43" name="Rectangle 42">
            <a:extLst>
              <a:ext uri="{FF2B5EF4-FFF2-40B4-BE49-F238E27FC236}">
                <a16:creationId xmlns:a16="http://schemas.microsoft.com/office/drawing/2014/main" id="{67226051-456E-B30D-0752-97E661BB7FBF}"/>
              </a:ext>
            </a:extLst>
          </p:cNvPr>
          <p:cNvSpPr>
            <a:spLocks noGrp="1"/>
          </p:cNvSpPr>
          <p:nvPr/>
        </p:nvSpPr>
        <p:spPr>
          <a:xfrm>
            <a:off x="2196465" y="3429000"/>
            <a:ext cx="7799070" cy="68961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3000" b="1">
                <a:solidFill>
                  <a:srgbClr val="12304C"/>
                </a:solidFill>
                <a:latin typeface="Aptos Display"/>
                <a:ea typeface="Aptos Display"/>
                <a:cs typeface="Aptos Display"/>
              </a:defRPr>
            </a:pPr>
            <a:r>
              <a:rPr sz="4000" b="1" dirty="0">
                <a:solidFill>
                  <a:srgbClr val="12304C"/>
                </a:solidFill>
                <a:latin typeface="Aptos Display"/>
                <a:ea typeface="Aptos Display"/>
                <a:cs typeface="Aptos Display"/>
              </a:rPr>
              <a:t>Merci de </a:t>
            </a:r>
            <a:r>
              <a:rPr sz="4000" b="1" dirty="0" err="1">
                <a:solidFill>
                  <a:srgbClr val="12304C"/>
                </a:solidFill>
                <a:latin typeface="Aptos Display"/>
                <a:ea typeface="Aptos Display"/>
                <a:cs typeface="Aptos Display"/>
              </a:rPr>
              <a:t>votre</a:t>
            </a:r>
            <a:r>
              <a:rPr sz="4000" b="1" dirty="0">
                <a:solidFill>
                  <a:srgbClr val="12304C"/>
                </a:solidFill>
                <a:latin typeface="Aptos Display"/>
                <a:ea typeface="Aptos Display"/>
                <a:cs typeface="Aptos Display"/>
              </a:rPr>
              <a:t> attention</a:t>
            </a:r>
          </a:p>
        </p:txBody>
      </p:sp>
      <p:sp>
        <p:nvSpPr>
          <p:cNvPr id="44" name="Rectangle 43">
            <a:extLst>
              <a:ext uri="{FF2B5EF4-FFF2-40B4-BE49-F238E27FC236}">
                <a16:creationId xmlns:a16="http://schemas.microsoft.com/office/drawing/2014/main" id="{07CECE8C-6BC1-4EC3-AD0D-64A2E0484DB5}"/>
              </a:ext>
            </a:extLst>
          </p:cNvPr>
          <p:cNvSpPr>
            <a:spLocks noGrp="1"/>
          </p:cNvSpPr>
          <p:nvPr/>
        </p:nvSpPr>
        <p:spPr>
          <a:xfrm>
            <a:off x="3543300" y="4442460"/>
            <a:ext cx="51054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E07A5F"/>
                </a:solidFill>
                <a:latin typeface="Aptos"/>
                <a:ea typeface="Aptos"/>
                <a:cs typeface="Aptos"/>
              </a:defRPr>
            </a:pPr>
            <a:r>
              <a:rPr sz="1350" b="1" dirty="0" err="1">
                <a:solidFill>
                  <a:srgbClr val="E07A5F"/>
                </a:solidFill>
                <a:latin typeface="Aptos"/>
                <a:ea typeface="Aptos"/>
                <a:cs typeface="Aptos"/>
              </a:rPr>
              <a:t>Projet</a:t>
            </a:r>
            <a:r>
              <a:rPr sz="1350" b="1" dirty="0">
                <a:solidFill>
                  <a:srgbClr val="E07A5F"/>
                </a:solidFill>
                <a:latin typeface="Aptos"/>
                <a:ea typeface="Aptos"/>
                <a:cs typeface="Aptos"/>
              </a:rPr>
              <a:t> BI AdventureWorks2019</a:t>
            </a:r>
          </a:p>
        </p:txBody>
      </p:sp>
      <p:sp>
        <p:nvSpPr>
          <p:cNvPr id="45" name="Rectangle 44">
            <a:extLst>
              <a:ext uri="{FF2B5EF4-FFF2-40B4-BE49-F238E27FC236}">
                <a16:creationId xmlns:a16="http://schemas.microsoft.com/office/drawing/2014/main" id="{374A69C2-70C6-4CDF-B507-E1963B5E1071}"/>
              </a:ext>
            </a:extLst>
          </p:cNvPr>
          <p:cNvSpPr>
            <a:spLocks noGrp="1"/>
          </p:cNvSpPr>
          <p:nvPr/>
        </p:nvSpPr>
        <p:spPr>
          <a:xfrm>
            <a:off x="9258300" y="6515100"/>
            <a:ext cx="2286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0">
                <a:solidFill>
                  <a:srgbClr val="5A6F7E"/>
                </a:solidFill>
                <a:latin typeface="Aptos"/>
                <a:ea typeface="Aptos"/>
                <a:cs typeface="Aptos"/>
              </a:defRPr>
            </a:pPr>
            <a:r>
              <a:rPr sz="825" b="0" dirty="0" err="1">
                <a:solidFill>
                  <a:srgbClr val="5A6F7E"/>
                </a:solidFill>
                <a:latin typeface="Aptos"/>
                <a:ea typeface="Aptos"/>
                <a:cs typeface="Aptos"/>
              </a:rPr>
              <a:t>Projet</a:t>
            </a:r>
            <a:r>
              <a:rPr sz="825" b="0" dirty="0">
                <a:solidFill>
                  <a:srgbClr val="5A6F7E"/>
                </a:solidFill>
                <a:latin typeface="Aptos"/>
                <a:ea typeface="Aptos"/>
                <a:cs typeface="Aptos"/>
              </a:rPr>
              <a:t> BI </a:t>
            </a:r>
            <a:r>
              <a:rPr sz="825" b="0" dirty="0" err="1">
                <a:solidFill>
                  <a:srgbClr val="5A6F7E"/>
                </a:solidFill>
                <a:latin typeface="Aptos"/>
                <a:ea typeface="Aptos"/>
                <a:cs typeface="Aptos"/>
              </a:rPr>
              <a:t>AdventureWorks</a:t>
            </a:r>
            <a:endParaRPr sz="825" b="0" dirty="0">
              <a:solidFill>
                <a:srgbClr val="5A6F7E"/>
              </a:solidFill>
              <a:latin typeface="Aptos"/>
              <a:ea typeface="Aptos"/>
              <a:cs typeface="Aptos"/>
            </a:endParaRPr>
          </a:p>
        </p:txBody>
      </p:sp>
    </p:spTree>
    <p:extLst>
      <p:ext uri="{BB962C8B-B14F-4D97-AF65-F5344CB8AC3E}">
        <p14:creationId xmlns:p14="http://schemas.microsoft.com/office/powerpoint/2010/main" val="10079371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1243</Words>
  <Application>Microsoft Office PowerPoint</Application>
  <DocSecurity>0</DocSecurity>
  <PresentationFormat>Grand écran</PresentationFormat>
  <Paragraphs>216</Paragraphs>
  <Slides>10</Slides>
  <Notes>10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10</vt:i4>
      </vt:variant>
    </vt:vector>
  </HeadingPairs>
  <TitlesOfParts>
    <vt:vector size="14" baseType="lpstr">
      <vt:lpstr>Aptos</vt:lpstr>
      <vt:lpstr>Aptos Display</vt:lpstr>
      <vt:lpstr>Calibri</vt:lpstr>
      <vt:lpstr>ChatGPT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Mohamed Aziz Essid</cp:lastModifiedBy>
  <cp:revision>18</cp:revision>
  <dcterms:created xsi:type="dcterms:W3CDTF">2026-05-03T12:26:52Z</dcterms:created>
  <dcterms:modified xsi:type="dcterms:W3CDTF">2026-05-05T08:15:13Z</dcterms:modified>
</cp:coreProperties>
</file>